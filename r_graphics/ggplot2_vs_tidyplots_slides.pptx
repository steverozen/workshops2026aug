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.ethz.ch/R-manual/R-devel/library/grid/html/00Index.html" TargetMode="External"/><Relationship Id="rId3" Type="http://schemas.openxmlformats.org/officeDocument/2006/relationships/hyperlink" Target="https://www.stat.auckland.ac.nz/~paul/RG3e/" TargetMode="External"/><Relationship Id="rId4" Type="http://schemas.openxmlformats.org/officeDocument/2006/relationships/hyperlink" Target="https://www.stat.auckland.ac.nz/~paul/RGraphics/chapter5.pdf" TargetMode="External"/><Relationship Id="rId5" Type="http://schemas.openxmlformats.org/officeDocument/2006/relationships/hyperlink" Target="https://CRAN.R-project.org/package=gridExtra" TargetMode="External"/><Relationship Id="rId6" Type="http://schemas.openxmlformats.org/officeDocument/2006/relationships/hyperlink" Target="https://CRAN.R-project.org/package=gridBase" TargetMode="External"/><Relationship Id="rId7" Type="http://schemas.openxmlformats.org/officeDocument/2006/relationships/hyperlink" Target="https://cran.r-project.org/doc/Rnews/Rnews_2003-2.pdf" TargetMode="External"/><Relationship Id="rId1" Type="http://schemas.openxmlformats.org/officeDocument/2006/relationships/image" Target="../media/image-9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4754880" cy="4754880"/>
          </a:xfrm>
          <a:prstGeom prst="ellipse">
            <a:avLst/>
          </a:prstGeom>
          <a:solidFill>
            <a:srgbClr val="3B4A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4206240" cy="4206240"/>
          </a:xfrm>
          <a:prstGeom prst="ellipse">
            <a:avLst/>
          </a:prstGeom>
          <a:solidFill>
            <a:srgbClr val="0E8C7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77240"/>
            <a:ext cx="868680" cy="8686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9784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SIDE-BY-SIDE TEACHING DECK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grammars, one figure set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</a:t>
            </a:r>
            <a:pPr indent="0" marL="0">
              <a:buNone/>
            </a:pPr>
            <a:r>
              <a:rPr lang="en-US" sz="2200" dirty="0">
                <a:solidFill>
                  <a:srgbClr val="83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indent="0" marL="0">
              <a:buNone/>
            </a:pPr>
            <a:r>
              <a:rPr lang="en-US" sz="2200" b="1" dirty="0">
                <a:solidFill>
                  <a:srgbClr val="5F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tidyplots</a:t>
            </a:r>
            <a:pPr indent="0" marL="0">
              <a:buNone/>
            </a:pPr>
            <a:r>
              <a:rPr lang="en-US" sz="2200" dirty="0">
                <a:solidFill>
                  <a:srgbClr val="C7C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for scRNA-seq visualization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3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grammar of graphics — opposite ergonomics. Four figures, built both ways.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&amp; Research Computing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B4A8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grammar of graphics, opposite ergonomics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EDEF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591056"/>
            <a:ext cx="928116" cy="402336"/>
          </a:xfrm>
          <a:prstGeom prst="roundRect">
            <a:avLst>
              <a:gd name="adj" fmla="val 50000"/>
            </a:avLst>
          </a:prstGeom>
          <a:solidFill>
            <a:srgbClr val="3B4A8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591056"/>
            <a:ext cx="92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212848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data to aesthetics in aes(), then stack geoms, stats, scales and themes.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control; more typing.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&amp; significance need helpers (stat_summary, ggsignif, ggpubr).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Faceting via facet_wrap() / facet_grid().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72200" y="137160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E7F4F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1591056"/>
            <a:ext cx="1120140" cy="402336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1591056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tidyplots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83096" y="2212848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a data frame into tidyplot(), then add_&lt;statistic&gt;_&lt;representation&gt;().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Publication-styled defaults out of the box.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Means, error bars and tests are built-in verbs.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Faceting via split_plot(by = ...).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138928"/>
            <a:ext cx="384048" cy="3840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86384" y="5056632"/>
            <a:ext cx="548640" cy="548640"/>
          </a:xfrm>
          <a:prstGeom prst="ellipse">
            <a:avLst/>
          </a:prstGeom>
          <a:solidFill>
            <a:srgbClr val="D9694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17550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9926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escape hatch keeps them compatible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554480" y="5413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tidyplots is a stats-first on-ramp that never traps you: </a:t>
            </a:r>
            <a:pPr indent="0" marL="0">
              <a:buNone/>
            </a:pPr>
            <a:r>
              <a:rPr lang="en-US" sz="1400" b="1" dirty="0">
                <a:solidFill>
                  <a:srgbClr val="3B4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add(ggplot2::geom_*())</a:t>
            </a:r>
            <a:pPr indent="0" marL="0">
              <a:buNone/>
            </a:pPr>
            <a:r>
              <a:rPr lang="en-US" sz="140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drops any tidyplot back into raw ggplot2.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E8C7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synthetic scRNA-seq dataset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852160" cy="4754880"/>
          </a:xfrm>
          <a:prstGeom prst="roundRect">
            <a:avLst>
              <a:gd name="adj" fmla="val 173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simulate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96112" y="2194560"/>
            <a:ext cx="5440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marker genes — CD3D, MS4A1, LYZ, IL2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cell types — T cell, B cell, Monocyte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conditions — Control, Stimulated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cells per group → 960 rows, tidy long format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Log-normalized expression with realistic noise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48920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E7F4F1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50292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wired-in effect:  </a:t>
            </a:r>
            <a:pPr indent="0" marL="0">
              <a:buNone/>
            </a:pPr>
            <a:r>
              <a:rPr lang="en-US" sz="1350" dirty="0">
                <a:solidFill>
                  <a:srgbClr val="24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IL2 is induced by stimulation in T cells — a real signal for the significance test.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629400" y="1417320"/>
            <a:ext cx="498348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903720" y="1664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3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long format (one row per cell × gene)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103120"/>
          <a:ext cx="44348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80160"/>
                <a:gridCol w="86868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cell_type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7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cell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Stimulated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cell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Stimulated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CD3D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cell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MS4A1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Monocyte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cell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Monocyte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Stimulated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CD3D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2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903720" y="5212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plot filters or summarises this one frame.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B4A8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+ mean ± SEM + significance test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EDEF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591056"/>
            <a:ext cx="928116" cy="384048"/>
          </a:xfrm>
          <a:prstGeom prst="roundRect">
            <a:avLst>
              <a:gd name="adj" fmla="val 50000"/>
            </a:avLst>
          </a:prstGeom>
          <a:solidFill>
            <a:srgbClr val="3B4A8C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591056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139696"/>
            <a:ext cx="4910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ggplot(il2, aes(condition,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expression)) +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stat_summary(aes(fill=condition),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fun=mean, geom="col", alpha=.4) +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stat_summary(fun.data=mean_se,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geom="errorbar", width=.2) +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ggbeeswarm::geom_quasirandom(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aes(color=condition)) +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ggsignif::geom_signif(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map_signif_level=TRUE,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comparisons=list(c("Control",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"Stimulated")))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37160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E7F4F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1591056"/>
            <a:ext cx="1120140" cy="384048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/>
        </p:spPr>
      </p:sp>
      <p:sp>
        <p:nvSpPr>
          <p:cNvPr id="12" name="Text 9"/>
          <p:cNvSpPr/>
          <p:nvPr/>
        </p:nvSpPr>
        <p:spPr>
          <a:xfrm>
            <a:off x="6428232" y="1591056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tidyplots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46520" y="2139696"/>
            <a:ext cx="4910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il2 |&gt;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tidyplot(x=condition,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y=expression,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color=condition) |&gt;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add_mean_bar(alpha=.4) |&gt;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add_sem_errorbar() |&gt;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add_data_points_beeswarm() |&gt;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add_test_asterisks()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5303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BF1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1248" y="54498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1248" y="57058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 and visual are named together. Significance is one verb in tidyplots vs. an extra package (ggsignif) plus stat_summary in ggplot2.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E8C7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Marker-gene violins across cell types (faceting)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EDEF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591056"/>
            <a:ext cx="928116" cy="384048"/>
          </a:xfrm>
          <a:prstGeom prst="roundRect">
            <a:avLst>
              <a:gd name="adj" fmla="val 50000"/>
            </a:avLst>
          </a:prstGeom>
          <a:solidFill>
            <a:srgbClr val="3B4A8C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591056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139696"/>
            <a:ext cx="4910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ggplot(markers,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aes(cell_type, expression,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fill=cell_type)) +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geom_violin(scale="width") +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geom_boxplot(width=.12) +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facet_wrap(~gene,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scales="free_y")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37160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E7F4F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1591056"/>
            <a:ext cx="1120140" cy="384048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/>
        </p:spPr>
      </p:sp>
      <p:sp>
        <p:nvSpPr>
          <p:cNvPr id="12" name="Text 9"/>
          <p:cNvSpPr/>
          <p:nvPr/>
        </p:nvSpPr>
        <p:spPr>
          <a:xfrm>
            <a:off x="6428232" y="1591056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tidyplots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46520" y="2139696"/>
            <a:ext cx="4910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markers |&gt;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tidyplot(x=cell_type,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y=expression,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color=cell_type) |&gt;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add_violin() |&gt;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add_boxplot(width=.15) |&gt;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split_plot(by=gene)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5303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BF1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1248" y="54498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1248" y="57058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facet_wrap() keeps one ggplot object; split_plot() returns independent panels you can tune separately. This is the closest the two packages ever feel.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B4A8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Mean-expression heatmap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EDEF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591056"/>
            <a:ext cx="928116" cy="384048"/>
          </a:xfrm>
          <a:prstGeom prst="roundRect">
            <a:avLst>
              <a:gd name="adj" fmla="val 50000"/>
            </a:avLst>
          </a:prstGeom>
          <a:solidFill>
            <a:srgbClr val="3B4A8C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591056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139696"/>
            <a:ext cx="4910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group_by |&gt; summarise()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ggplot(heat,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aes(cell_type, gene,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fill=mean_expr)) +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geom_tile() +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scale_fill_viridis_c()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37160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E7F4F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1591056"/>
            <a:ext cx="1120140" cy="384048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/>
        </p:spPr>
      </p:sp>
      <p:sp>
        <p:nvSpPr>
          <p:cNvPr id="12" name="Text 9"/>
          <p:cNvSpPr/>
          <p:nvPr/>
        </p:nvSpPr>
        <p:spPr>
          <a:xfrm>
            <a:off x="6428232" y="1591056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tidyplots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46520" y="2139696"/>
            <a:ext cx="4910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group_by |&gt; summarise()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 |&gt;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tidyplot(x=cell_type, y=gene,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color=mean_expr) |&gt;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add_heatmap()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5303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BF1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1248" y="54498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1248" y="57058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summarise() first. tidyplots brings a sensible continuous scale for free; ggplot2 leaves the palette choice explicitly to you.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D9694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dot plot: where both grammars hit their ceiling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29844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BF1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081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precompute — two statistics + a per-gene z-score (neither package computes these for you):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17556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 &lt;- sc |&gt; group_by(gene, cell_type) |&gt; </a:t>
            </a:r>
            <a:pPr indent="0" marL="0"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summarise(pct=mean(expr&gt;0)*100, avg=mean(expr))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|&gt; group_by(gene) |&gt; </a:t>
            </a:r>
            <a:pPr indent="0" marL="0"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mutate(avg_z = scale(avg))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542032"/>
            <a:ext cx="5440680" cy="2651760"/>
          </a:xfrm>
          <a:prstGeom prst="roundRect">
            <a:avLst>
              <a:gd name="adj" fmla="val 3103"/>
            </a:avLst>
          </a:prstGeom>
          <a:solidFill>
            <a:srgbClr val="EDEF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2761488"/>
            <a:ext cx="928116" cy="384048"/>
          </a:xfrm>
          <a:prstGeom prst="roundRect">
            <a:avLst>
              <a:gd name="adj" fmla="val 50000"/>
            </a:avLst>
          </a:prstGeom>
          <a:solidFill>
            <a:srgbClr val="3B4A8C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2761488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310128"/>
            <a:ext cx="4910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ggplot(dot, aes(cell_type, gene)) +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geom_point(aes(size=pct,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color=avg_z)) +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scale_size_area(max_size=9) +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scale_color_gradient2(midpoint=0)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natural, but two scales by hand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2542032"/>
            <a:ext cx="5440680" cy="2651760"/>
          </a:xfrm>
          <a:prstGeom prst="roundRect">
            <a:avLst>
              <a:gd name="adj" fmla="val 3103"/>
            </a:avLst>
          </a:prstGeom>
          <a:solidFill>
            <a:srgbClr val="E7F4F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28232" y="2761488"/>
            <a:ext cx="1120140" cy="384048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/>
        </p:spPr>
      </p:sp>
      <p:sp>
        <p:nvSpPr>
          <p:cNvPr id="15" name="Text 12"/>
          <p:cNvSpPr/>
          <p:nvPr/>
        </p:nvSpPr>
        <p:spPr>
          <a:xfrm>
            <a:off x="6428232" y="2761488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tidyplots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46520" y="3310128"/>
            <a:ext cx="4910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 |&gt;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tidyplot(x=cell_type, y=gene,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color=avg_z) |&gt;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add(ggplot2::geom_point(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6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ggplot2::aes(size=pct)))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add_* fits → fall back to ggplot2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3218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BF1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41248" y="5468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41248" y="57241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statistics on one mark → no native add_*. You precompute and drop to ggplot2 via add(). The escape hatch stops being a curiosity and becomes the only way through.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E8C7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40080"/>
            <a:ext cx="777240" cy="777240"/>
          </a:xfrm>
          <a:prstGeom prst="ellipse">
            <a:avLst/>
          </a:prstGeom>
          <a:solidFill>
            <a:srgbClr val="D9694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813816"/>
            <a:ext cx="429768" cy="429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reach for which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77240" y="178308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0E8C7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8308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tidyplots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794760" y="178308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Teaching, exploration, and standard scientific figures. Statistics-first verbs and publication defaults get students to a clean, correct plot fast.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310896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8C96D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10896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794760" y="310896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and anything non-standard. The grammar has no ceiling — every scale, layer and theme is yours to bend.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443484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D9694C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43484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together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794760" y="443484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share an engine. Start tidy, then add(ggplot2::geom_*()) the moment a figure outgrows the add_* model.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77240" y="580644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1F2540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580644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6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that writes itself:  </a:t>
            </a:r>
            <a:pPr indent="0" marL="0">
              <a:buNone/>
            </a:pPr>
            <a:r>
              <a:rPr lang="en-US" sz="1350" i="1" dirty="0">
                <a:solidFill>
                  <a:srgbClr val="C7C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grammars are wonderful until a figure encodes multiple derived quantities — and the dot plot is the canonical scRNA-seq case where that happens.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B4A8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for low-level plotting functions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EDEF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572768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3B4A8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57276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91640" y="1572768"/>
            <a:ext cx="9646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Base-R low-level graphics system (Paul Murrell) underlying ggplot2, lattice, gridExtra and gridBase.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59536" y="2029968"/>
            <a:ext cx="10442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Function index: stat.ethz.ch/R-manual/R-devel/library/grid/html/00Index.html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Paul Murrell, R Graphics (3rd ed., 2018), CRC Press: stat.auckland.ac.nz/~paul/RG3e/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 to grid (PDF): stat.auckland.ac.nz/~paul/RGraphics/chapter5.pdf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E7F4F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447288"/>
            <a:ext cx="1120140" cy="384048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447288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gridExtra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171700" y="3447288"/>
            <a:ext cx="9166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multiple grid / ggplot plots on a page and draw tables (Baptiste Auguie, v2.3).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59536" y="3904488"/>
            <a:ext cx="10442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CRAN: CRAN.R-project.org/package=gridExtra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EDEF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" y="4681728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3B4A8C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68172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gridBase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075688" y="4681728"/>
            <a:ext cx="9262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2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base and grid graphics on one page (Paul Murrell, v0.4-7).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59536" y="5138928"/>
            <a:ext cx="10442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CRAN: CRAN.R-project.org/package=gridBase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Paul Murrell, "The gridBase Package", R News 3(2), 2003 (PDF): cran.r-project.org/doc/Rnews/Rnews_2003-2.pdf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ggplot2 vs tidyplots</dc:title>
  <dc:subject>PptxGenJS Presentation</dc:subject>
  <dc:creator>Bioinformatics &amp; Research Computing</dc:creator>
  <cp:lastModifiedBy>Bioinformatics &amp; Research Computing</cp:lastModifiedBy>
  <cp:revision>1</cp:revision>
  <dcterms:created xsi:type="dcterms:W3CDTF">2026-06-24T21:10:47Z</dcterms:created>
  <dcterms:modified xsi:type="dcterms:W3CDTF">2026-06-24T21:10:47Z</dcterms:modified>
</cp:coreProperties>
</file>