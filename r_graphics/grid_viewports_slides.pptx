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75C381-387E-47CE-B751-A828367773B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343080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34308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644BD4-3D7F-47AE-B6E1-4760128878D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D4AA09-1522-462E-B6EC-F2F5B28DA5C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1CF137-DC50-401D-B26C-ACBE83C08B8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6346EF-CB79-4F36-B2A0-AFD9D034D7D5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6DFA59-B8A7-4237-AD4D-65549514A23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E68F83-2E80-4247-85CA-E4FAFD4A54A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53004C-F1DA-4DB3-81CF-CB740D647B2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7CCA2C-4472-4A68-B17B-B4820AC5CDF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8781F9-97DE-4E9C-8458-2520FDDA90D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D792AE-7D61-4E28-984F-98751B30BE8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grid: viewports, grobs, and gtables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br>
              <a:rPr sz="2400"/>
            </a:br>
            <a:br>
              <a:rPr sz="2400"/>
            </a:b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Mental model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3" name="Content Placeholder 5"/>
          <p:cNvGraphicFramePr/>
          <p:nvPr/>
        </p:nvGraphicFramePr>
        <p:xfrm>
          <a:off x="457200" y="1193760"/>
          <a:ext cx="8229240" cy="1486800"/>
        </p:xfrm>
        <a:graphic>
          <a:graphicData uri="http://schemas.openxmlformats.org/drawingml/2006/table">
            <a:tbl>
              <a:tblPr/>
              <a:tblGrid>
                <a:gridCol w="1930320"/>
                <a:gridCol w="62989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Concept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device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the physical page (file/window)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viewport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coordinate region on the page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grob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drawable thing (rect, text, points, gtable)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gtable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grob that </a:t>
                      </a:r>
                      <a:r>
                        <a:rPr lang="en-US" sz="135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arranges other grobs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by pushing viewports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chain: gtable defines a layout, pushes viewports, draws grobs into them, onto the device.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25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Code and its output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1" descr="grid_viewports_slides_files/figure-pptx/unnamed-chunk-1-1.png"/>
          <p:cNvPicPr/>
          <p:nvPr/>
        </p:nvPicPr>
        <p:blipFill>
          <a:blip r:embed="rId1"/>
          <a:srcRect l="14920" t="0" r="17912" b="0"/>
          <a:stretch/>
        </p:blipFill>
        <p:spPr>
          <a:xfrm>
            <a:off x="5715000" y="698760"/>
            <a:ext cx="3428640" cy="3187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596880"/>
            <a:ext cx="5486400" cy="42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library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(grid)</a:t>
            </a:r>
            <a:br>
              <a:rPr sz="1050"/>
            </a:b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grid.newpage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()</a:t>
            </a:r>
            <a:br>
              <a:rPr sz="1050"/>
            </a:br>
            <a:br>
              <a:rPr sz="1050"/>
            </a:br>
            <a:r>
              <a:rPr lang="en-US" sz="1050" b="0" u="none" strike="noStrike">
                <a:solidFill>
                  <a:srgbClr val="5E5E5E"/>
                </a:solidFill>
                <a:effectLst/>
                <a:uFillTx/>
                <a:latin typeface="Courier New"/>
              </a:rPr>
              <a:t># a viewport is a coordinate region; name it so we can re-enter it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pushViewport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viewport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x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0.5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y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0.5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width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0.6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height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0.6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</a:t>
            </a:r>
            <a:br>
              <a:rPr sz="1050"/>
            </a:b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                    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name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20794D"/>
                </a:solidFill>
                <a:effectLst/>
                <a:uFillTx/>
                <a:latin typeface="Courier New"/>
              </a:rPr>
              <a:t>"inner"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))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# width and height are in npc (normalized parent units)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# This is generated from quarto with fig-width/height 8/5 so our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# rectangle is has the same aspect ratio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grid.rect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gp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gpar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lty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20794D"/>
                </a:solidFill>
                <a:effectLst/>
                <a:uFillTx/>
                <a:latin typeface="Courier New"/>
              </a:rPr>
              <a:t>"dashed"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)) </a:t>
            </a:r>
            <a:r>
              <a:rPr lang="en-US" sz="1050" b="0" u="none" strike="noStrike">
                <a:solidFill>
                  <a:srgbClr val="5E5E5E"/>
                </a:solidFill>
                <a:effectLst/>
                <a:uFillTx/>
                <a:latin typeface="Courier New"/>
              </a:rPr>
              <a:t># outlines THIS viewport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grid.text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20794D"/>
                </a:solidFill>
                <a:effectLst/>
                <a:uFillTx/>
                <a:latin typeface="Courier New"/>
              </a:rPr>
              <a:t>"inner viewport: x, y run 0..1 here"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y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0.92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grid.points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runif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20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), </a:t>
            </a: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runif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20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pch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19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           </a:t>
            </a:r>
            <a:r>
              <a:rPr lang="en-US" sz="1050" b="0" u="none" strike="noStrike">
                <a:solidFill>
                  <a:srgbClr val="5E5E5E"/>
                </a:solidFill>
                <a:effectLst/>
                <a:uFillTx/>
                <a:latin typeface="Courier New"/>
              </a:rPr>
              <a:t># placed in viewport coords</a:t>
            </a:r>
            <a:br>
              <a:rPr sz="1050"/>
            </a:b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          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gp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gpar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col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20794D"/>
                </a:solidFill>
                <a:effectLst/>
                <a:uFillTx/>
                <a:latin typeface="Courier New"/>
              </a:rPr>
              <a:t>"steelblue"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))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upViewport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()                                 </a:t>
            </a:r>
            <a:r>
              <a:rPr lang="en-US" sz="1050" b="0" u="none" strike="noStrike">
                <a:solidFill>
                  <a:srgbClr val="5E5E5E"/>
                </a:solidFill>
                <a:effectLst/>
                <a:uFillTx/>
                <a:latin typeface="Courier New"/>
              </a:rPr>
              <a:t># back to the root viewport</a:t>
            </a:r>
            <a:br>
              <a:rPr sz="1050"/>
            </a:br>
            <a:br>
              <a:rPr sz="1050"/>
            </a:br>
            <a:r>
              <a:rPr lang="en-US" sz="1050" b="0" u="none" strike="noStrike">
                <a:solidFill>
                  <a:srgbClr val="5E5E5E"/>
                </a:solidFill>
                <a:effectLst/>
                <a:uFillTx/>
                <a:latin typeface="Courier New"/>
              </a:rPr>
              <a:t># re-enter the named viewport later and add a big red X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rgbClr val="5E5E5E"/>
                </a:solidFill>
                <a:effectLst/>
                <a:uFillTx/>
                <a:latin typeface="Courier New"/>
              </a:rPr>
              <a:t># in the middle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downViewport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20794D"/>
                </a:solidFill>
                <a:effectLst/>
                <a:uFillTx/>
                <a:latin typeface="Courier New"/>
              </a:rPr>
              <a:t>"inner"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grid.points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0.5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0.5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pch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4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</a:t>
            </a:r>
            <a:br>
              <a:rPr sz="1050"/>
            </a:b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          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gp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gpar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col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20794D"/>
                </a:solidFill>
                <a:effectLst/>
                <a:uFillTx/>
                <a:latin typeface="Courier New"/>
              </a:rPr>
              <a:t>"red"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cex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3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, </a:t>
            </a:r>
            <a:r>
              <a:rPr lang="en-US" sz="1050" b="0" u="none" strike="noStrike">
                <a:solidFill>
                  <a:srgbClr val="657422"/>
                </a:solidFill>
                <a:effectLst/>
                <a:uFillTx/>
                <a:latin typeface="Courier New"/>
              </a:rPr>
              <a:t>lwd =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D0000"/>
                </a:solidFill>
                <a:effectLst/>
                <a:uFillTx/>
                <a:latin typeface="Courier New"/>
              </a:rPr>
              <a:t>3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))</a:t>
            </a:r>
            <a:br>
              <a:rPr sz="1050"/>
            </a:br>
            <a:r>
              <a:rPr lang="en-US" sz="1050" b="0" u="none" strike="noStrike">
                <a:solidFill>
                  <a:srgbClr val="4758AB"/>
                </a:solidFill>
                <a:effectLst/>
                <a:uFillTx/>
                <a:latin typeface="Courier New"/>
              </a:rPr>
              <a:t>upViewport</a:t>
            </a:r>
            <a:r>
              <a:rPr lang="en-US" sz="1050" b="0" u="none" strike="noStrike">
                <a:solidFill>
                  <a:srgbClr val="003B4F"/>
                </a:solidFill>
                <a:effectLst/>
                <a:uFillTx/>
                <a:latin typeface="Courier New"/>
              </a:rPr>
              <a:t>()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2026-06-25T15:03:20Z</dcterms:created>
  <dc:creator/>
  <dc:description/>
  <dc:language>en-US</dc:language>
  <cp:lastModifiedBy/>
  <dcterms:modified xsi:type="dcterms:W3CDTF">2026-06-25T11:14:34Z</dcterms:modified>
  <cp:revision>2</cp:revision>
  <dc:subject/>
  <dc:title>grid: viewports, grobs, and gtables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