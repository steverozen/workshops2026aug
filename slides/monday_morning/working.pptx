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02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/>
          <p:nvPr/>
        </p:nvSpPr>
        <p:spPr>
          <a:xfrm>
            <a:off x="502920" y="25596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OnDemand starts an RStudio session on the HPC cluster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ounded Rectangle 2"/>
          <p:cNvSpPr/>
          <p:nvPr/>
        </p:nvSpPr>
        <p:spPr>
          <a:xfrm>
            <a:off x="365760" y="1005840"/>
            <a:ext cx="3519720" cy="5074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ounded Rectangle 3"/>
          <p:cNvSpPr/>
          <p:nvPr/>
        </p:nvSpPr>
        <p:spPr>
          <a:xfrm>
            <a:off x="640080" y="1572840"/>
            <a:ext cx="2971080" cy="1325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Browser tab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ondemand.cluster.edu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Interactive Apps → RStudio Server: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choose hours, cores, memory, Launch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640080" y="4160520"/>
            <a:ext cx="2971080" cy="16909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Browser tab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RStudio Server interface: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console, editor, plots, files.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Looks like desktop RStudio, but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every keystroke runs on the node.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Rounded Rectangle 5"/>
          <p:cNvSpPr/>
          <p:nvPr/>
        </p:nvSpPr>
        <p:spPr>
          <a:xfrm>
            <a:off x="4526280" y="1005840"/>
            <a:ext cx="7268760" cy="5074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SLURM HPC CLUSTER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ounded Rectangle 6"/>
          <p:cNvSpPr/>
          <p:nvPr/>
        </p:nvSpPr>
        <p:spPr>
          <a:xfrm>
            <a:off x="4800600" y="1572840"/>
            <a:ext cx="3062520" cy="1325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node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 OnDemand web server.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Turns your form into a SLURM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job and proxies traffic later.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ounded Rectangle 7"/>
          <p:cNvSpPr/>
          <p:nvPr/>
        </p:nvSpPr>
        <p:spPr>
          <a:xfrm>
            <a:off x="8412480" y="1572840"/>
            <a:ext cx="3108240" cy="132516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Queues the job, waits for 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node with free cores and RAM,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then dispatches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ounded Rectangle 8"/>
          <p:cNvSpPr/>
          <p:nvPr/>
        </p:nvSpPr>
        <p:spPr>
          <a:xfrm>
            <a:off x="4800600" y="3703320"/>
            <a:ext cx="6720120" cy="2148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 (e.g. node07)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ounded Rectangle 9"/>
          <p:cNvSpPr/>
          <p:nvPr/>
        </p:nvSpPr>
        <p:spPr>
          <a:xfrm>
            <a:off x="5074920" y="4224600"/>
            <a:ext cx="6171480" cy="1462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Container (Apptainer / Singularity)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rserver process + R + your packages, running as </a:t>
            </a: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you,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with your home directory and project files mounted.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Listens on a private port on this node only.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" name="Connector 10"/>
          <p:cNvCxnSpPr/>
          <p:nvPr/>
        </p:nvCxnSpPr>
        <p:spPr>
          <a:xfrm>
            <a:off x="3639240" y="1993320"/>
            <a:ext cx="113436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16" name="Oval 11"/>
          <p:cNvSpPr/>
          <p:nvPr/>
        </p:nvSpPr>
        <p:spPr>
          <a:xfrm>
            <a:off x="3913560" y="1645920"/>
            <a:ext cx="291960" cy="29196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Box 12"/>
          <p:cNvSpPr/>
          <p:nvPr/>
        </p:nvSpPr>
        <p:spPr>
          <a:xfrm>
            <a:off x="3291840" y="128016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request session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Connector 13"/>
          <p:cNvCxnSpPr/>
          <p:nvPr/>
        </p:nvCxnSpPr>
        <p:spPr>
          <a:xfrm>
            <a:off x="7881840" y="2230920"/>
            <a:ext cx="50364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19" name="Oval 14"/>
          <p:cNvSpPr/>
          <p:nvPr/>
        </p:nvSpPr>
        <p:spPr>
          <a:xfrm>
            <a:off x="7973640" y="2395800"/>
            <a:ext cx="291960" cy="29196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Connector 15"/>
          <p:cNvCxnSpPr/>
          <p:nvPr/>
        </p:nvCxnSpPr>
        <p:spPr>
          <a:xfrm>
            <a:off x="9966960" y="2926080"/>
            <a:ext cx="720" cy="750240"/>
          </a:xfrm>
          <a:prstGeom prst="straightConnector1">
            <a:avLst/>
          </a:prstGeom>
          <a:ln w="3175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21" name="Oval 16"/>
          <p:cNvSpPr/>
          <p:nvPr/>
        </p:nvSpPr>
        <p:spPr>
          <a:xfrm>
            <a:off x="10058400" y="3154680"/>
            <a:ext cx="291960" cy="29196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17"/>
          <p:cNvSpPr/>
          <p:nvPr/>
        </p:nvSpPr>
        <p:spPr>
          <a:xfrm>
            <a:off x="6949440" y="312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start container on a node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Connector 18"/>
          <p:cNvCxnSpPr/>
          <p:nvPr/>
        </p:nvCxnSpPr>
        <p:spPr>
          <a:xfrm flipH="1">
            <a:off x="3639240" y="2651760"/>
            <a:ext cx="1134360" cy="72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24" name="Oval 19"/>
          <p:cNvSpPr/>
          <p:nvPr/>
        </p:nvSpPr>
        <p:spPr>
          <a:xfrm>
            <a:off x="3913560" y="2788920"/>
            <a:ext cx="291960" cy="29196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20"/>
          <p:cNvSpPr/>
          <p:nvPr/>
        </p:nvSpPr>
        <p:spPr>
          <a:xfrm>
            <a:off x="3063240" y="30906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session ready + URL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" name="Connector 21"/>
          <p:cNvCxnSpPr/>
          <p:nvPr/>
        </p:nvCxnSpPr>
        <p:spPr>
          <a:xfrm>
            <a:off x="2121120" y="2926080"/>
            <a:ext cx="720" cy="1207440"/>
          </a:xfrm>
          <a:prstGeom prst="straightConnector1">
            <a:avLst/>
          </a:prstGeom>
          <a:ln w="3175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27" name="TextBox 22"/>
          <p:cNvSpPr/>
          <p:nvPr/>
        </p:nvSpPr>
        <p:spPr>
          <a:xfrm>
            <a:off x="2240280" y="3246120"/>
            <a:ext cx="1599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You click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“Connect 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RStudio Server”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Connector 23"/>
          <p:cNvCxnSpPr/>
          <p:nvPr/>
        </p:nvCxnSpPr>
        <p:spPr>
          <a:xfrm>
            <a:off x="3639240" y="4983480"/>
            <a:ext cx="1390680" cy="720"/>
          </a:xfrm>
          <a:prstGeom prst="straightConnector1">
            <a:avLst/>
          </a:prstGeom>
          <a:ln w="31750">
            <a:solidFill>
              <a:srgbClr val="2E7D32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9" name="Oval 24"/>
          <p:cNvSpPr/>
          <p:nvPr/>
        </p:nvSpPr>
        <p:spPr>
          <a:xfrm>
            <a:off x="4206240" y="5074920"/>
            <a:ext cx="291960" cy="291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25"/>
          <p:cNvSpPr/>
          <p:nvPr/>
        </p:nvSpPr>
        <p:spPr>
          <a:xfrm>
            <a:off x="3611880" y="452628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proxied via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6"/>
          <p:cNvSpPr/>
          <p:nvPr/>
        </p:nvSpPr>
        <p:spPr>
          <a:xfrm>
            <a:off x="3611880" y="473652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login node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27"/>
          <p:cNvSpPr/>
          <p:nvPr/>
        </p:nvSpPr>
        <p:spPr>
          <a:xfrm>
            <a:off x="365760" y="6217920"/>
            <a:ext cx="11337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Nothing is installed on your laptop. The browser is just a window onto R running on a cluster 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node.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"/>
          <p:cNvSpPr/>
          <p:nvPr/>
        </p:nvSpPr>
        <p:spPr>
          <a:xfrm>
            <a:off x="502920" y="20124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cluster: a login node, many compute nodes, and SLURM in between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Rounded Rectangle 2"/>
          <p:cNvSpPr/>
          <p:nvPr/>
        </p:nvSpPr>
        <p:spPr>
          <a:xfrm>
            <a:off x="274320" y="2499840"/>
            <a:ext cx="1924920" cy="159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ssh, or the OnDemand web page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" name="Connector 3"/>
          <p:cNvCxnSpPr/>
          <p:nvPr/>
        </p:nvCxnSpPr>
        <p:spPr>
          <a:xfrm>
            <a:off x="2199960" y="3299760"/>
            <a:ext cx="400680" cy="72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36" name="Rounded Rectangle 4"/>
          <p:cNvSpPr/>
          <p:nvPr/>
        </p:nvSpPr>
        <p:spPr>
          <a:xfrm>
            <a:off x="2350080" y="1100160"/>
            <a:ext cx="9567000" cy="4199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HPC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5"/>
          <p:cNvSpPr/>
          <p:nvPr/>
        </p:nvSpPr>
        <p:spPr>
          <a:xfrm>
            <a:off x="2599920" y="1599840"/>
            <a:ext cx="3299400" cy="2999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Where you land when you </a:t>
            </a: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 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Edit scripts, move files, </a:t>
            </a: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submit jobs, run tiny tests.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Shared by everyone logged </a:t>
            </a: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in, so do not run a real </a:t>
            </a: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analysis here.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ounded Rectangle 6"/>
          <p:cNvSpPr/>
          <p:nvPr/>
        </p:nvSpPr>
        <p:spPr>
          <a:xfrm>
            <a:off x="6149880" y="1599840"/>
            <a:ext cx="2949120" cy="299916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Holds the queue of waiting jobs.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Each job says how many cores, how much memory, and how long it needs.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finds a node with room, starts the job there, enforces those limits, and frees the node when it ends.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7"/>
          <p:cNvSpPr/>
          <p:nvPr/>
        </p:nvSpPr>
        <p:spPr>
          <a:xfrm>
            <a:off x="9249840" y="1239840"/>
            <a:ext cx="2549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ounded Rectangle 8"/>
          <p:cNvSpPr/>
          <p:nvPr/>
        </p:nvSpPr>
        <p:spPr>
          <a:xfrm>
            <a:off x="9249840" y="159984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9"/>
          <p:cNvSpPr/>
          <p:nvPr/>
        </p:nvSpPr>
        <p:spPr>
          <a:xfrm>
            <a:off x="9249840" y="240012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ounded Rectangle 10"/>
          <p:cNvSpPr/>
          <p:nvPr/>
        </p:nvSpPr>
        <p:spPr>
          <a:xfrm>
            <a:off x="9249840" y="320004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ounded Rectangle 11"/>
          <p:cNvSpPr/>
          <p:nvPr/>
        </p:nvSpPr>
        <p:spPr>
          <a:xfrm>
            <a:off x="9249840" y="3999960"/>
            <a:ext cx="2549160" cy="69912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nector 12"/>
          <p:cNvCxnSpPr/>
          <p:nvPr/>
        </p:nvCxnSpPr>
        <p:spPr>
          <a:xfrm>
            <a:off x="5899680" y="3299760"/>
            <a:ext cx="250920" cy="720"/>
          </a:xfrm>
          <a:prstGeom prst="straightConnector1">
            <a:avLst/>
          </a:prstGeom>
          <a:ln w="2540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45" name="TextBox 13"/>
          <p:cNvSpPr/>
          <p:nvPr/>
        </p:nvSpPr>
        <p:spPr>
          <a:xfrm>
            <a:off x="3899880" y="5450040"/>
            <a:ext cx="339912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you submit a job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Connector 14"/>
          <p:cNvCxnSpPr/>
          <p:nvPr/>
        </p:nvCxnSpPr>
        <p:spPr>
          <a:xfrm>
            <a:off x="9099720" y="3299760"/>
            <a:ext cx="150840" cy="720"/>
          </a:xfrm>
          <a:prstGeom prst="straightConnector1">
            <a:avLst/>
          </a:prstGeom>
          <a:ln w="2540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47" name="TextBox 15"/>
          <p:cNvSpPr/>
          <p:nvPr/>
        </p:nvSpPr>
        <p:spPr>
          <a:xfrm>
            <a:off x="7300080" y="5450040"/>
            <a:ext cx="379944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SLURM places it on a free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/>
          <p:cNvSpPr/>
          <p:nvPr/>
        </p:nvSpPr>
        <p:spPr>
          <a:xfrm>
            <a:off x="502920" y="20124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Everyday SLURM commands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7"/>
          <p:cNvSpPr/>
          <p:nvPr/>
        </p:nvSpPr>
        <p:spPr>
          <a:xfrm>
            <a:off x="502920" y="124992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sbatch job.sh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submit a batch script to the queue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8"/>
          <p:cNvSpPr/>
          <p:nvPr/>
        </p:nvSpPr>
        <p:spPr>
          <a:xfrm>
            <a:off x="502920" y="186984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squeue -u $USER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list your pending and running jobs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19"/>
          <p:cNvSpPr/>
          <p:nvPr/>
        </p:nvSpPr>
        <p:spPr>
          <a:xfrm>
            <a:off x="502920" y="249012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scancel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kill a job, by its job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0"/>
          <p:cNvSpPr/>
          <p:nvPr/>
        </p:nvSpPr>
        <p:spPr>
          <a:xfrm>
            <a:off x="502920" y="311004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srun --pty bash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grab an interactive shell on a compute node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1"/>
          <p:cNvSpPr/>
          <p:nvPr/>
        </p:nvSpPr>
        <p:spPr>
          <a:xfrm>
            <a:off x="502920" y="372996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sinfo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which partitions and nodes exist, and which are idle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22"/>
          <p:cNvSpPr/>
          <p:nvPr/>
        </p:nvSpPr>
        <p:spPr>
          <a:xfrm>
            <a:off x="502920" y="4349880"/>
            <a:ext cx="112464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sacct -j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after the fact: did it finish, what did it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23"/>
          <p:cNvSpPr/>
          <p:nvPr/>
        </p:nvSpPr>
        <p:spPr>
          <a:xfrm>
            <a:off x="502920" y="5150160"/>
            <a:ext cx="1124640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 job is a request, not a command: cores, memory, and wall-clock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Ask for more than you need and you wait longer in the queue. Ask for less and SLURM kills the job when it runs over. Your RStudio jobs here get 4 cores and 16 GB.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502920" y="20124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LLM-agnostic open source coding agents: terminal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502920" y="105156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Aider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AI pair programming, any model via LiteLLM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https://github.com/Aider-AI/aider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502920" y="185616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Goose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extensible agent that installs, runs, edits, and tests with any 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https://github.com/block/goose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502920" y="266076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Crush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Go terminal UI agent from Charm, multi-provider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https://github.com/charmbracelet/crush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7"/>
          <p:cNvSpPr/>
          <p:nvPr/>
        </p:nvSpPr>
        <p:spPr>
          <a:xfrm>
            <a:off x="502920" y="34657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coding agent from SST, provider agnostic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https://github.com/sst/opencode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502920" y="42703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Plandex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aimed at large projects and long multi-file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https://github.com/plandex-ai/plandex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9"/>
          <p:cNvSpPr/>
          <p:nvPr/>
        </p:nvSpPr>
        <p:spPr>
          <a:xfrm>
            <a:off x="502920" y="50749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Codex CLI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OpenAI's, but accepts any OpenAI-compatible provider in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https://github.com/openai/codex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502920" y="5943600"/>
            <a:ext cx="1124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All six are open source and swap the model behind the same agent loop.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02920" y="20124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LLM-agnostic open source coding agents: editors and autonomous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502920" y="10058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Editor extensions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502920" y="14173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Cline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autonomous coding agent as SDK, IDE extension, or CLI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https://github.com/cline/cline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502920" y="217620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Roo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Cline fork, adds multiple agent modes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https://github.com/RooCodeInc/Roo-Code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502920" y="293508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Kilo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further fork, merges Cline and Roo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https://github.com/Kilo-Org/kilocode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502920" y="36943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Continue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 source coding agent with pluggable model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https://github.com/continuedev/continue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502920" y="457200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Autonomous and research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02920" y="498348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OpenHands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full sandboxed dev agent platform, formerly OpenDevin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https://github.com/All-Hands-AI/OpenHands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502920" y="574236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SWE-agent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takes a GitHub issue and tries to fix it, NeurIPS 2024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https://github.com/SWE-agent/SWE-agent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02920" y="20124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Git: your local clone and the remote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4"/>
          <p:cNvSpPr/>
          <p:nvPr/>
        </p:nvSpPr>
        <p:spPr>
          <a:xfrm>
            <a:off x="365760" y="914400"/>
            <a:ext cx="7863480" cy="2925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COMPUTER, the local clone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64008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Working directory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files you actually edit.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git status shows what has changed.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340632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Staging area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Also called the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What you have marked to go into the next commit.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7"/>
          <p:cNvSpPr/>
          <p:nvPr/>
        </p:nvSpPr>
        <p:spPr>
          <a:xfrm>
            <a:off x="6172200" y="1600200"/>
            <a:ext cx="1782720" cy="21027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Local repository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.git directory.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Full commit history, on your machine, works offline.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8"/>
          <p:cNvSpPr/>
          <p:nvPr/>
        </p:nvSpPr>
        <p:spPr>
          <a:xfrm>
            <a:off x="9052560" y="1600200"/>
            <a:ext cx="2788560" cy="210276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Remote, e.g. 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shared copy.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Where collaborators, and your other machines, get the code.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Connector 9"/>
          <p:cNvCxnSpPr/>
          <p:nvPr/>
        </p:nvCxnSpPr>
        <p:spPr>
          <a:xfrm>
            <a:off x="2423160" y="3063240"/>
            <a:ext cx="98316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83" name="TextBox 10"/>
          <p:cNvSpPr/>
          <p:nvPr/>
        </p:nvSpPr>
        <p:spPr>
          <a:xfrm>
            <a:off x="2274480" y="2660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add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Connector 11"/>
          <p:cNvCxnSpPr/>
          <p:nvPr/>
        </p:nvCxnSpPr>
        <p:spPr>
          <a:xfrm>
            <a:off x="5189040" y="3063240"/>
            <a:ext cx="98352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85" name="TextBox 12"/>
          <p:cNvSpPr/>
          <p:nvPr/>
        </p:nvSpPr>
        <p:spPr>
          <a:xfrm>
            <a:off x="5040720" y="2660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commit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13"/>
          <p:cNvCxnSpPr/>
          <p:nvPr/>
        </p:nvCxnSpPr>
        <p:spPr>
          <a:xfrm>
            <a:off x="7954920" y="3063240"/>
            <a:ext cx="1098000" cy="3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87" name="TextBox 14"/>
          <p:cNvSpPr/>
          <p:nvPr/>
        </p:nvSpPr>
        <p:spPr>
          <a:xfrm>
            <a:off x="7863840" y="2660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publish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nector 15"/>
          <p:cNvCxnSpPr/>
          <p:nvPr/>
        </p:nvCxnSpPr>
        <p:spPr>
          <a:xfrm>
            <a:off x="10424160" y="3703320"/>
            <a:ext cx="360" cy="823320"/>
          </a:xfrm>
          <a:prstGeom prst="straightConnector1">
            <a:avLst/>
          </a:prstGeom>
          <a:ln w="25400">
            <a:solidFill>
              <a:srgbClr val="595959"/>
            </a:solidFill>
          </a:ln>
        </p:spPr>
      </p:cxnSp>
      <p:cxnSp>
        <p:nvCxnSpPr>
          <p:cNvPr id="89" name="Connector 16"/>
          <p:cNvCxnSpPr/>
          <p:nvPr/>
        </p:nvCxnSpPr>
        <p:spPr>
          <a:xfrm flipH="1">
            <a:off x="1536120" y="4526280"/>
            <a:ext cx="8888400" cy="360"/>
          </a:xfrm>
          <a:prstGeom prst="straightConnector1">
            <a:avLst/>
          </a:prstGeom>
          <a:ln w="25400">
            <a:solidFill>
              <a:srgbClr val="595959"/>
            </a:solidFill>
          </a:ln>
        </p:spPr>
      </p:cxnSp>
      <p:cxnSp>
        <p:nvCxnSpPr>
          <p:cNvPr id="90" name="Connector 17"/>
          <p:cNvCxnSpPr/>
          <p:nvPr/>
        </p:nvCxnSpPr>
        <p:spPr>
          <a:xfrm flipV="1">
            <a:off x="1536120" y="3840480"/>
            <a:ext cx="360" cy="686160"/>
          </a:xfrm>
          <a:prstGeom prst="straightConnector1">
            <a:avLst/>
          </a:prstGeom>
          <a:ln w="25400">
            <a:solidFill>
              <a:srgbClr val="595959"/>
            </a:solidFill>
            <a:tailEnd len="med" type="triangle" w="med"/>
          </a:ln>
        </p:spPr>
      </p:cxnSp>
      <p:sp>
        <p:nvSpPr>
          <p:cNvPr id="91" name="TextBox 18"/>
          <p:cNvSpPr/>
          <p:nvPr/>
        </p:nvSpPr>
        <p:spPr>
          <a:xfrm>
            <a:off x="3566160" y="414216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pull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bring new commits from the remote into your clone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19"/>
          <p:cNvCxnSpPr/>
          <p:nvPr/>
        </p:nvCxnSpPr>
        <p:spPr>
          <a:xfrm>
            <a:off x="11155680" y="3703320"/>
            <a:ext cx="360" cy="173772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</a:ln>
        </p:spPr>
      </p:cxnSp>
      <p:cxnSp>
        <p:nvCxnSpPr>
          <p:cNvPr id="93" name="Connector 20"/>
          <p:cNvCxnSpPr/>
          <p:nvPr/>
        </p:nvCxnSpPr>
        <p:spPr>
          <a:xfrm flipH="1">
            <a:off x="2743200" y="5440680"/>
            <a:ext cx="8412840" cy="36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</a:ln>
        </p:spPr>
      </p:cxnSp>
      <p:cxnSp>
        <p:nvCxnSpPr>
          <p:cNvPr id="94" name="Connector 21"/>
          <p:cNvCxnSpPr/>
          <p:nvPr/>
        </p:nvCxnSpPr>
        <p:spPr>
          <a:xfrm flipV="1">
            <a:off x="2743200" y="3840480"/>
            <a:ext cx="360" cy="160056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  <a:tailEnd len="med" type="triangle" w="med"/>
          </a:ln>
        </p:spPr>
      </p:cxnSp>
      <p:sp>
        <p:nvSpPr>
          <p:cNvPr id="95" name="TextBox 22"/>
          <p:cNvSpPr/>
          <p:nvPr/>
        </p:nvSpPr>
        <p:spPr>
          <a:xfrm>
            <a:off x="4937760" y="505656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clone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once, at the start: copy the whole 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12200" y="5791320"/>
            <a:ext cx="112467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Commits are local until you push. Pull before you start work, so your clone is current because other people are pushing commits to the Remote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3287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2026-06-19T18:59:37Z</dcterms:created>
  <dc:creator>Steven Rozen</dc:creator>
  <dc:description/>
  <dc:language>en-US</dc:language>
  <cp:lastModifiedBy/>
  <dcterms:modified xsi:type="dcterms:W3CDTF">2026-08-02T17:25:10Z</dcterms:modified>
  <cp:revision>37</cp:revision>
  <dc:subject>PptxGenJS Presentation</dc:subject>
  <dc:title>R vs Python Data Types —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