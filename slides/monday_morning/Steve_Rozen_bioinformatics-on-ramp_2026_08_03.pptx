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AD5169-065A-464E-A698-A5A4CCDEAB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F40875-8F38-4583-9D26-B75BFCBE79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95CA93-5F07-44D2-A73A-98A04A5E1C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41D216-4869-435A-A36A-08038B93A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1ADB2C-F6FC-40B5-93E4-0AA50A86BC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A5348A-3C1A-4307-A026-EADF936FF0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620753-DA97-45FE-B474-E740E52FD5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3;p27"/>
          <p:cNvSpPr/>
          <p:nvPr/>
        </p:nvSpPr>
        <p:spPr>
          <a:xfrm>
            <a:off x="914400" y="460080"/>
            <a:ext cx="8505360" cy="11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gentle bioinformatics on-ramp: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R, python, bash, IDEs, AI coding agents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34;p27"/>
          <p:cNvSpPr/>
          <p:nvPr/>
        </p:nvSpPr>
        <p:spPr>
          <a:xfrm>
            <a:off x="987120" y="1600200"/>
            <a:ext cx="312444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3, 2026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steverozen [at] pm.me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duke.edu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265280" y="328968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fld id="{065813AD-24F7-4633-B41B-9E53FA5F5FFA}" type="slidenum"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685800" y="914400"/>
            <a:ext cx="10972080" cy="60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Workshop objectives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 hands-on orientation on computational infrastructure needed for bioinformatics today: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RStudio and 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(the Linux command shell)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Directories and files and file 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an HPC (high performance computing)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Moving large files around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agentic coding agents effectively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914400" y="685800"/>
            <a:ext cx="105145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and RStudio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Starting RStudio in “OnDemand”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914400" y="457200"/>
            <a:ext cx="776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RStudio from OnDemand or from 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256320" y="276840"/>
            <a:ext cx="11754720" cy="632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243000" y="276840"/>
            <a:ext cx="11754720" cy="632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720" cy="664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720" cy="664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720" cy="62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1"/>
          <p:cNvSpPr/>
          <p:nvPr/>
        </p:nvSpPr>
        <p:spPr>
          <a:xfrm>
            <a:off x="502920" y="255960"/>
            <a:ext cx="111549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OnDemand starts an RStudio session on the HPC cluster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ounded Rectangle 2"/>
          <p:cNvSpPr/>
          <p:nvPr/>
        </p:nvSpPr>
        <p:spPr>
          <a:xfrm>
            <a:off x="365760" y="1005840"/>
            <a:ext cx="3519720" cy="5074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ounded Rectangle 3"/>
          <p:cNvSpPr/>
          <p:nvPr/>
        </p:nvSpPr>
        <p:spPr>
          <a:xfrm>
            <a:off x="640080" y="1572840"/>
            <a:ext cx="2971080" cy="1325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Browser tab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cgbs.cgu.edu.tw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Interactive Apps → </a:t>
            </a:r>
            <a:r>
              <a:rPr lang="en-US" sz="13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RStudio</a:t>
            </a: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 Server: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choose hours, cores, memory, Launch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ounded Rectangle 4"/>
          <p:cNvSpPr/>
          <p:nvPr/>
        </p:nvSpPr>
        <p:spPr>
          <a:xfrm>
            <a:off x="640080" y="4160520"/>
            <a:ext cx="2971080" cy="16909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Browser tab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RStudio Server interface: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console, editor, plots, files.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Looks like desktop RStudio, but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every keystroke runs on the node.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526280" y="1005840"/>
            <a:ext cx="7268760" cy="5074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HPC CLUSTER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ounded Rectangle 6"/>
          <p:cNvSpPr/>
          <p:nvPr/>
        </p:nvSpPr>
        <p:spPr>
          <a:xfrm>
            <a:off x="4800600" y="1572840"/>
            <a:ext cx="3062520" cy="1325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or designated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 OnDemand web server.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Turns your form into a SLURM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job and proxies traffic later.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ounded Rectangle 7"/>
          <p:cNvSpPr/>
          <p:nvPr/>
        </p:nvSpPr>
        <p:spPr>
          <a:xfrm>
            <a:off x="8412480" y="1572840"/>
            <a:ext cx="3108240" cy="132516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Queues the job, waits for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node with free cores and RAM,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then dispatches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ounded Rectangle 8"/>
          <p:cNvSpPr/>
          <p:nvPr/>
        </p:nvSpPr>
        <p:spPr>
          <a:xfrm>
            <a:off x="4800600" y="3703320"/>
            <a:ext cx="6720120" cy="2148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 (e.g. node07)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ounded Rectangle 9"/>
          <p:cNvSpPr/>
          <p:nvPr/>
        </p:nvSpPr>
        <p:spPr>
          <a:xfrm>
            <a:off x="5074920" y="4224600"/>
            <a:ext cx="6171480" cy="1462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Container (Apptainer / Singularity)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rserver process + R + your packages, running as you,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with your home directory and project files mounted.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Listens on a private port on this node only.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Connector 7"/>
          <p:cNvCxnSpPr/>
          <p:nvPr/>
        </p:nvCxnSpPr>
        <p:spPr>
          <a:xfrm>
            <a:off x="3639240" y="1993320"/>
            <a:ext cx="113436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33" name="Oval 6"/>
          <p:cNvSpPr/>
          <p:nvPr/>
        </p:nvSpPr>
        <p:spPr>
          <a:xfrm>
            <a:off x="3913560" y="1645920"/>
            <a:ext cx="291960" cy="29196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9"/>
          <p:cNvSpPr/>
          <p:nvPr/>
        </p:nvSpPr>
        <p:spPr>
          <a:xfrm>
            <a:off x="3291840" y="1280160"/>
            <a:ext cx="19195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request session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" name="Connector 8"/>
          <p:cNvCxnSpPr/>
          <p:nvPr/>
        </p:nvCxnSpPr>
        <p:spPr>
          <a:xfrm>
            <a:off x="7881840" y="2230920"/>
            <a:ext cx="50364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36" name="Oval 7"/>
          <p:cNvSpPr/>
          <p:nvPr/>
        </p:nvSpPr>
        <p:spPr>
          <a:xfrm>
            <a:off x="7973640" y="2395800"/>
            <a:ext cx="291960" cy="29196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Connector 9"/>
          <p:cNvCxnSpPr/>
          <p:nvPr/>
        </p:nvCxnSpPr>
        <p:spPr>
          <a:xfrm>
            <a:off x="9966960" y="2926080"/>
            <a:ext cx="720" cy="750240"/>
          </a:xfrm>
          <a:prstGeom prst="straightConnector1">
            <a:avLst/>
          </a:prstGeom>
          <a:ln w="3175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38" name="Oval 8"/>
          <p:cNvSpPr/>
          <p:nvPr/>
        </p:nvSpPr>
        <p:spPr>
          <a:xfrm>
            <a:off x="10058400" y="3154680"/>
            <a:ext cx="291960" cy="29196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0"/>
          <p:cNvSpPr/>
          <p:nvPr/>
        </p:nvSpPr>
        <p:spPr>
          <a:xfrm>
            <a:off x="6949440" y="3127320"/>
            <a:ext cx="3016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start container on a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Connector 10"/>
          <p:cNvCxnSpPr/>
          <p:nvPr/>
        </p:nvCxnSpPr>
        <p:spPr>
          <a:xfrm flipH="1">
            <a:off x="3639240" y="2651760"/>
            <a:ext cx="113436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41" name="Oval 9"/>
          <p:cNvSpPr/>
          <p:nvPr/>
        </p:nvSpPr>
        <p:spPr>
          <a:xfrm>
            <a:off x="3913560" y="2788920"/>
            <a:ext cx="291960" cy="29196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11"/>
          <p:cNvSpPr/>
          <p:nvPr/>
        </p:nvSpPr>
        <p:spPr>
          <a:xfrm>
            <a:off x="3063240" y="3090600"/>
            <a:ext cx="23767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session ready + URL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Connector 11"/>
          <p:cNvCxnSpPr/>
          <p:nvPr/>
        </p:nvCxnSpPr>
        <p:spPr>
          <a:xfrm>
            <a:off x="2121120" y="2926080"/>
            <a:ext cx="720" cy="1207440"/>
          </a:xfrm>
          <a:prstGeom prst="straightConnector1">
            <a:avLst/>
          </a:prstGeom>
          <a:ln w="3175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44" name="TextBox 12"/>
          <p:cNvSpPr/>
          <p:nvPr/>
        </p:nvSpPr>
        <p:spPr>
          <a:xfrm>
            <a:off x="2240280" y="2994120"/>
            <a:ext cx="159948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You click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“Connect 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RStudio Server”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Connector 12"/>
          <p:cNvCxnSpPr/>
          <p:nvPr/>
        </p:nvCxnSpPr>
        <p:spPr>
          <a:xfrm>
            <a:off x="3639240" y="4983480"/>
            <a:ext cx="1390680" cy="720"/>
          </a:xfrm>
          <a:prstGeom prst="straightConnector1">
            <a:avLst/>
          </a:prstGeom>
          <a:ln w="31750">
            <a:solidFill>
              <a:srgbClr val="2E7D32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6" name="Oval 10"/>
          <p:cNvSpPr/>
          <p:nvPr/>
        </p:nvSpPr>
        <p:spPr>
          <a:xfrm>
            <a:off x="4206240" y="5074920"/>
            <a:ext cx="291960" cy="291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13"/>
          <p:cNvSpPr/>
          <p:nvPr/>
        </p:nvSpPr>
        <p:spPr>
          <a:xfrm>
            <a:off x="3611880" y="4382280"/>
            <a:ext cx="1462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proxied via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4"/>
          <p:cNvSpPr/>
          <p:nvPr/>
        </p:nvSpPr>
        <p:spPr>
          <a:xfrm>
            <a:off x="3611880" y="4664520"/>
            <a:ext cx="14623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login 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5"/>
          <p:cNvSpPr/>
          <p:nvPr/>
        </p:nvSpPr>
        <p:spPr>
          <a:xfrm>
            <a:off x="365760" y="6217920"/>
            <a:ext cx="1133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Nothing is installed on your laptop. The browser is just a window onto R running on a cluster node.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"/>
          <p:cNvSpPr/>
          <p:nvPr/>
        </p:nvSpPr>
        <p:spPr>
          <a:xfrm>
            <a:off x="502920" y="201240"/>
            <a:ext cx="11154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cluster: a login node, many compute nodes, and SLURM in between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10"/>
          <p:cNvSpPr/>
          <p:nvPr/>
        </p:nvSpPr>
        <p:spPr>
          <a:xfrm>
            <a:off x="274320" y="2499840"/>
            <a:ext cx="1924920" cy="159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ssh, or the OnDemand web page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Connector 3"/>
          <p:cNvCxnSpPr/>
          <p:nvPr/>
        </p:nvCxnSpPr>
        <p:spPr>
          <a:xfrm>
            <a:off x="2199960" y="3299760"/>
            <a:ext cx="400680" cy="72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53" name="Rounded Rectangle 11"/>
          <p:cNvSpPr/>
          <p:nvPr/>
        </p:nvSpPr>
        <p:spPr>
          <a:xfrm>
            <a:off x="2350080" y="1100160"/>
            <a:ext cx="9567000" cy="4199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HPC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17"/>
          <p:cNvSpPr/>
          <p:nvPr/>
        </p:nvSpPr>
        <p:spPr>
          <a:xfrm>
            <a:off x="2599920" y="1599840"/>
            <a:ext cx="3299400" cy="2999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Where you land when you log 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Edit scripts, move files, submit jobs, run tiny tests.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Shared by everyone logged in, so do not run a real analysis here.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ounded Rectangle 18"/>
          <p:cNvSpPr/>
          <p:nvPr/>
        </p:nvSpPr>
        <p:spPr>
          <a:xfrm>
            <a:off x="6149880" y="1599840"/>
            <a:ext cx="2949120" cy="299916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Holds the queue of waiting jobs.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Each job says how many cores, how much memory, and how long it needs.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finds a node with room, starts the job there, enforces those limits, and frees the node when it ends.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9249840" y="1239840"/>
            <a:ext cx="2549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ounded Rectangle 19"/>
          <p:cNvSpPr/>
          <p:nvPr/>
        </p:nvSpPr>
        <p:spPr>
          <a:xfrm>
            <a:off x="9249840" y="159984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ounded Rectangle 20"/>
          <p:cNvSpPr/>
          <p:nvPr/>
        </p:nvSpPr>
        <p:spPr>
          <a:xfrm>
            <a:off x="9249840" y="240012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</a:t>
            </a: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21"/>
          <p:cNvSpPr/>
          <p:nvPr/>
        </p:nvSpPr>
        <p:spPr>
          <a:xfrm>
            <a:off x="9249840" y="320004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22"/>
          <p:cNvSpPr/>
          <p:nvPr/>
        </p:nvSpPr>
        <p:spPr>
          <a:xfrm>
            <a:off x="9249840" y="399996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Connector 5"/>
          <p:cNvCxnSpPr/>
          <p:nvPr/>
        </p:nvCxnSpPr>
        <p:spPr>
          <a:xfrm>
            <a:off x="5899680" y="3299760"/>
            <a:ext cx="250920" cy="720"/>
          </a:xfrm>
          <a:prstGeom prst="straightConnector1">
            <a:avLst/>
          </a:prstGeom>
          <a:ln w="2540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62" name="TextBox 7"/>
          <p:cNvSpPr/>
          <p:nvPr/>
        </p:nvSpPr>
        <p:spPr>
          <a:xfrm>
            <a:off x="3899880" y="5450040"/>
            <a:ext cx="3399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you submit a job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Connector 6"/>
          <p:cNvCxnSpPr/>
          <p:nvPr/>
        </p:nvCxnSpPr>
        <p:spPr>
          <a:xfrm>
            <a:off x="9099720" y="3299760"/>
            <a:ext cx="150840" cy="720"/>
          </a:xfrm>
          <a:prstGeom prst="straightConnector1">
            <a:avLst/>
          </a:prstGeom>
          <a:ln w="2540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64" name="TextBox 8"/>
          <p:cNvSpPr/>
          <p:nvPr/>
        </p:nvSpPr>
        <p:spPr>
          <a:xfrm>
            <a:off x="7300080" y="5450040"/>
            <a:ext cx="37994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SLURM places it on a free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22"/>
          <p:cNvSpPr/>
          <p:nvPr/>
        </p:nvSpPr>
        <p:spPr>
          <a:xfrm>
            <a:off x="502920" y="201240"/>
            <a:ext cx="11154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Everyday SLURM commands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3"/>
          <p:cNvSpPr/>
          <p:nvPr/>
        </p:nvSpPr>
        <p:spPr>
          <a:xfrm>
            <a:off x="502920" y="124992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sbatch job.sh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submit a batch script to the queue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4"/>
          <p:cNvSpPr/>
          <p:nvPr/>
        </p:nvSpPr>
        <p:spPr>
          <a:xfrm>
            <a:off x="502920" y="186984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squeue -u $USER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list your pending and running jobs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5"/>
          <p:cNvSpPr/>
          <p:nvPr/>
        </p:nvSpPr>
        <p:spPr>
          <a:xfrm>
            <a:off x="502920" y="249012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scancel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kill a job, by its job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6"/>
          <p:cNvSpPr/>
          <p:nvPr/>
        </p:nvSpPr>
        <p:spPr>
          <a:xfrm>
            <a:off x="502920" y="311004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srun --pty bash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grab an interactive shell on a compute node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7"/>
          <p:cNvSpPr/>
          <p:nvPr/>
        </p:nvSpPr>
        <p:spPr>
          <a:xfrm>
            <a:off x="502920" y="372996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sinfo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which partitions and nodes exist, and which are idle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8"/>
          <p:cNvSpPr/>
          <p:nvPr/>
        </p:nvSpPr>
        <p:spPr>
          <a:xfrm>
            <a:off x="502920" y="4349880"/>
            <a:ext cx="11246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sacct -j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after the fact: did it finish, what did it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9"/>
          <p:cNvSpPr/>
          <p:nvPr/>
        </p:nvSpPr>
        <p:spPr>
          <a:xfrm>
            <a:off x="502920" y="5150160"/>
            <a:ext cx="1124640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 job is a request, not a command: cores, memory, and wall-clock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Ask for more than you need and you wait longer in the queue. Ask for less and SLURM kills the job when it runs over. Your RStudio jobs here get 4 cores and 16 GB.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720" cy="62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241560" y="4862160"/>
            <a:ext cx="5701680" cy="1309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the “console”, running an R programming language interpreter in a “read-eval-print loop”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720" cy="62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230400" y="1600200"/>
            <a:ext cx="5255640" cy="699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the context of a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720" cy="62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/>
          <p:nvPr/>
        </p:nvSpPr>
        <p:spPr>
          <a:xfrm>
            <a:off x="6631200" y="4114800"/>
            <a:ext cx="5255640" cy="100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a file browser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including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opening files etc; 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1371600" y="1143000"/>
            <a:ext cx="9143640" cy="50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some R statements in the read-eval-print loop: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Numeric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Vectors are 1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class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Libraries/packages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find packages (CRAN, BioCondutor, github etc)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Working the console (completion, arrow up)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to cheat sheet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https://rstudio.github.io/cheatsheets/base-r.pdf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1371600" y="1371600"/>
            <a:ext cx="6400440" cy="31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an R file and source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 a function that adds 2 numbers; show error adding two strings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Next: tutorial on navigating between consol, terminal, and file 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105120" y="525240"/>
            <a:ext cx="10147680" cy="57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/>
          <p:nvPr/>
        </p:nvSpPr>
        <p:spPr>
          <a:xfrm>
            <a:off x="105120" y="5029200"/>
            <a:ext cx="2055240" cy="91224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286000" y="5373000"/>
            <a:ext cx="41126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R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6240" cy="55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105480" y="5029200"/>
            <a:ext cx="2055240" cy="91224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286000" y="4800600"/>
            <a:ext cx="41126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working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directory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getwd –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get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working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315200" y="4034160"/>
            <a:ext cx="4112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6240" cy="55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05480" y="5029200"/>
            <a:ext cx="2055240" cy="91224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286000" y="4800600"/>
            <a:ext cx="41126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working directory 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315200" y="4034160"/>
            <a:ext cx="4112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14400" y="804960"/>
            <a:ext cx="912240" cy="3358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6240" cy="55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5943600" y="2971800"/>
            <a:ext cx="912240" cy="3358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400800" y="4034160"/>
            <a:ext cx="41126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Show how to create new folder / navigate in the files tab, and then  make that the working directory in the R console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720" cy="66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828800" y="2743200"/>
            <a:ext cx="4112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continue with orientation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286000" y="1574280"/>
            <a:ext cx="4112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 (pwd – print working directory) bash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28600" y="1143000"/>
            <a:ext cx="2055240" cy="91224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371600" y="1371600"/>
            <a:ext cx="64004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a file (e.g. write.csv(mtcars)) and find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setwd(“~workshop/workshop_data”), move file browser there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back to “~”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data.table, data.frame, tibble, selecting rows,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Tidyr select rows, select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685800" y="286560"/>
            <a:ext cx="10742400" cy="45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examples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Directories, ls, cd, pwd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Cheat sheet at https://github.com/RehanSaeed/Bash-Cheat-Sheet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Environment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Scripts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 bits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coding agents use bash a lot and can help with oddities of common unix commands and bash syntax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Demo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1143000" y="931680"/>
            <a:ext cx="9600840" cy="29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vocabulary and grammar, similar underlying concepts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/usr/bin/python3.12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 add(a, b):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print(a + 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 txBox="1"/>
          <p:nvPr/>
        </p:nvSpPr>
        <p:spPr>
          <a:xfrm>
            <a:off x="914400" y="914400"/>
            <a:ext cx="10287000" cy="495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Agentic coding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command “what python interpreters are available to me”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command “Summarize CPU load, RAM usage, and number of users on each node in the cluster”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and pyton example: write the R mtcars table to disk as a tsv file, then write and test  1 python script read the data from disk and create a png showing mpg vs hp; test and run the 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curl -fsSL https://opencode.ai/install | bash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“Nemotron 3 Ultra Free Opencode Zen” (pretty limited free tier)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02920" y="201240"/>
            <a:ext cx="11155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Slide: LLM-agnostic open source coding agents: terminal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502920" y="105156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Aider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AI pair 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programming, any model 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via LiteLLM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https://github.com/Aider-</a:t>
            </a: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AI/aider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1"/>
          <p:cNvSpPr/>
          <p:nvPr/>
        </p:nvSpPr>
        <p:spPr>
          <a:xfrm>
            <a:off x="502920" y="185616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Goose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extensible agent that installs, runs, edits, and tests with any 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https://github.com/block/goose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2"/>
          <p:cNvSpPr/>
          <p:nvPr/>
        </p:nvSpPr>
        <p:spPr>
          <a:xfrm>
            <a:off x="502920" y="266076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Crush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Go terminal UI agent from Charm, multi-provider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https://github.com/charmbracelet/crush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3"/>
          <p:cNvSpPr/>
          <p:nvPr/>
        </p:nvSpPr>
        <p:spPr>
          <a:xfrm>
            <a:off x="502920" y="346572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coding agent from SST, provider agnostic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https://github.com/sst/opencode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4"/>
          <p:cNvSpPr/>
          <p:nvPr/>
        </p:nvSpPr>
        <p:spPr>
          <a:xfrm>
            <a:off x="502920" y="427032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Plandex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aimed at large projects and long multi-file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https://github.com/plandex-ai/plandex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5"/>
          <p:cNvSpPr/>
          <p:nvPr/>
        </p:nvSpPr>
        <p:spPr>
          <a:xfrm>
            <a:off x="502920" y="507492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Codex CLI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OpenAI's, but accepts any OpenAI-compatible provider in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https://github.com/openai/codex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6"/>
          <p:cNvSpPr/>
          <p:nvPr/>
        </p:nvSpPr>
        <p:spPr>
          <a:xfrm>
            <a:off x="502920" y="5943600"/>
            <a:ext cx="112467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All six are open source and swap the model behind the same agent loop.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502920" y="201240"/>
            <a:ext cx="111553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LLM-agnostic open source coding agents: editors and autonomous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7"/>
          <p:cNvSpPr/>
          <p:nvPr/>
        </p:nvSpPr>
        <p:spPr>
          <a:xfrm>
            <a:off x="502920" y="1149840"/>
            <a:ext cx="1124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Editor extensions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8"/>
          <p:cNvSpPr/>
          <p:nvPr/>
        </p:nvSpPr>
        <p:spPr>
          <a:xfrm>
            <a:off x="502920" y="141732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Cline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autonomous coding agent as SDK, IDE extension, or CLI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https://github.com/cline/cline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9"/>
          <p:cNvSpPr/>
          <p:nvPr/>
        </p:nvSpPr>
        <p:spPr>
          <a:xfrm>
            <a:off x="502920" y="217620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Roo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Cline fork, adds multiple agent modes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https://github.com/RooCodeInc/Roo-Code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0"/>
          <p:cNvSpPr/>
          <p:nvPr/>
        </p:nvSpPr>
        <p:spPr>
          <a:xfrm>
            <a:off x="502920" y="293508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Kilo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further fork, merges Cline and Roo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https://github.com/Kilo-Org/kilocode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1"/>
          <p:cNvSpPr/>
          <p:nvPr/>
        </p:nvSpPr>
        <p:spPr>
          <a:xfrm>
            <a:off x="502920" y="369432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Continue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 source coding agent with pluggable model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https://github.com/continuedev/continue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2"/>
          <p:cNvSpPr/>
          <p:nvPr/>
        </p:nvSpPr>
        <p:spPr>
          <a:xfrm>
            <a:off x="502920" y="4572000"/>
            <a:ext cx="1124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Autonomous and research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3"/>
          <p:cNvSpPr/>
          <p:nvPr/>
        </p:nvSpPr>
        <p:spPr>
          <a:xfrm>
            <a:off x="502920" y="498348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OpenHands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full sandboxed dev agent platform, formerly OpenDevin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https://github.com/All-Hands-AI/OpenHands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4"/>
          <p:cNvSpPr/>
          <p:nvPr/>
        </p:nvSpPr>
        <p:spPr>
          <a:xfrm>
            <a:off x="502920" y="5742360"/>
            <a:ext cx="112467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SWE-agent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takes a GitHub issue and tries to fix it, NeurIPS 2024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https://github.com/SWE-agent/SWE-agent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 txBox="1"/>
          <p:nvPr/>
        </p:nvSpPr>
        <p:spPr>
          <a:xfrm>
            <a:off x="1828800" y="914400"/>
            <a:ext cx="8001000" cy="29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common IDE (interactive development environments)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457200" y="1371600"/>
            <a:ext cx="10603080" cy="530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"/>
          <p:cNvSpPr txBox="1"/>
          <p:nvPr/>
        </p:nvSpPr>
        <p:spPr>
          <a:xfrm>
            <a:off x="685800" y="228600"/>
            <a:ext cx="10744200" cy="940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VS Code super extensible, very popular, open source so often cloned and modified by other vendors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457200" y="1090440"/>
            <a:ext cx="11119320" cy="55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 txBox="1"/>
          <p:nvPr/>
        </p:nvSpPr>
        <p:spPr>
          <a:xfrm>
            <a:off x="686160" y="228960"/>
            <a:ext cx="10744200" cy="855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Postiron,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VS code derivative from the makers of RStudio; better native support for R than VS Code, better Python support than RStudio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502920" y="201240"/>
            <a:ext cx="11155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Git: your local clone and the remote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2"/>
          <p:cNvSpPr/>
          <p:nvPr/>
        </p:nvSpPr>
        <p:spPr>
          <a:xfrm>
            <a:off x="365760" y="914400"/>
            <a:ext cx="7863480" cy="2925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COMPUTER, the local clone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3"/>
          <p:cNvSpPr/>
          <p:nvPr/>
        </p:nvSpPr>
        <p:spPr>
          <a:xfrm>
            <a:off x="64008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Working directory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files you actually edit.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git status shows what has changed.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4"/>
          <p:cNvSpPr/>
          <p:nvPr/>
        </p:nvSpPr>
        <p:spPr>
          <a:xfrm>
            <a:off x="340632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Staging area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Also called the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What you have marked to go into the next commit.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617220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Local repository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.git directory.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Full commit history, on your machine, works offline.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6"/>
          <p:cNvSpPr/>
          <p:nvPr/>
        </p:nvSpPr>
        <p:spPr>
          <a:xfrm>
            <a:off x="9052560" y="1600200"/>
            <a:ext cx="2788560" cy="210276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Remote, e.g. 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shared copy.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Where collaborators, and your other machines, get the code.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Connector 13"/>
          <p:cNvCxnSpPr/>
          <p:nvPr/>
        </p:nvCxnSpPr>
        <p:spPr>
          <a:xfrm>
            <a:off x="2423160" y="3063240"/>
            <a:ext cx="98316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136" name="TextBox 16"/>
          <p:cNvSpPr/>
          <p:nvPr/>
        </p:nvSpPr>
        <p:spPr>
          <a:xfrm>
            <a:off x="2274480" y="2660760"/>
            <a:ext cx="1279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add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Connector 14"/>
          <p:cNvCxnSpPr/>
          <p:nvPr/>
        </p:nvCxnSpPr>
        <p:spPr>
          <a:xfrm>
            <a:off x="5189040" y="3063240"/>
            <a:ext cx="98352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138" name="TextBox 17"/>
          <p:cNvSpPr/>
          <p:nvPr/>
        </p:nvSpPr>
        <p:spPr>
          <a:xfrm>
            <a:off x="5040720" y="2660760"/>
            <a:ext cx="1279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commit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nector 15"/>
          <p:cNvCxnSpPr/>
          <p:nvPr/>
        </p:nvCxnSpPr>
        <p:spPr>
          <a:xfrm>
            <a:off x="7954920" y="3063240"/>
            <a:ext cx="109800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140" name="TextBox 18"/>
          <p:cNvSpPr/>
          <p:nvPr/>
        </p:nvSpPr>
        <p:spPr>
          <a:xfrm>
            <a:off x="7863840" y="2660760"/>
            <a:ext cx="1279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publish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16"/>
          <p:cNvCxnSpPr/>
          <p:nvPr/>
        </p:nvCxnSpPr>
        <p:spPr>
          <a:xfrm>
            <a:off x="10424160" y="3703320"/>
            <a:ext cx="360" cy="823320"/>
          </a:xfrm>
          <a:prstGeom prst="straightConnector1">
            <a:avLst/>
          </a:prstGeom>
          <a:ln w="25400">
            <a:solidFill>
              <a:srgbClr val="595959"/>
            </a:solidFill>
          </a:ln>
        </p:spPr>
      </p:cxnSp>
      <p:cxnSp>
        <p:nvCxnSpPr>
          <p:cNvPr id="142" name="Connector 17"/>
          <p:cNvCxnSpPr/>
          <p:nvPr/>
        </p:nvCxnSpPr>
        <p:spPr>
          <a:xfrm flipH="1">
            <a:off x="1536120" y="4526280"/>
            <a:ext cx="8888400" cy="360"/>
          </a:xfrm>
          <a:prstGeom prst="straightConnector1">
            <a:avLst/>
          </a:prstGeom>
          <a:ln w="25400">
            <a:solidFill>
              <a:srgbClr val="595959"/>
            </a:solidFill>
          </a:ln>
        </p:spPr>
      </p:cxnSp>
      <p:cxnSp>
        <p:nvCxnSpPr>
          <p:cNvPr id="143" name="Connector 18"/>
          <p:cNvCxnSpPr/>
          <p:nvPr/>
        </p:nvCxnSpPr>
        <p:spPr>
          <a:xfrm flipV="1">
            <a:off x="1536120" y="3840480"/>
            <a:ext cx="360" cy="6861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144" name="TextBox 19"/>
          <p:cNvSpPr/>
          <p:nvPr/>
        </p:nvSpPr>
        <p:spPr>
          <a:xfrm>
            <a:off x="3566160" y="4142160"/>
            <a:ext cx="51202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pull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bring new commits from the remote into your clone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" name="Connector 19"/>
          <p:cNvCxnSpPr/>
          <p:nvPr/>
        </p:nvCxnSpPr>
        <p:spPr>
          <a:xfrm>
            <a:off x="11155680" y="3703320"/>
            <a:ext cx="360" cy="173772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</a:ln>
        </p:spPr>
      </p:cxnSp>
      <p:cxnSp>
        <p:nvCxnSpPr>
          <p:cNvPr id="146" name="Connector 20"/>
          <p:cNvCxnSpPr/>
          <p:nvPr/>
        </p:nvCxnSpPr>
        <p:spPr>
          <a:xfrm flipH="1">
            <a:off x="2743200" y="5440680"/>
            <a:ext cx="8412840" cy="36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</a:ln>
        </p:spPr>
      </p:cxnSp>
      <p:cxnSp>
        <p:nvCxnSpPr>
          <p:cNvPr id="147" name="Connector 21"/>
          <p:cNvCxnSpPr/>
          <p:nvPr/>
        </p:nvCxnSpPr>
        <p:spPr>
          <a:xfrm flipV="1">
            <a:off x="2743200" y="3840480"/>
            <a:ext cx="360" cy="160056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  <a:tailEnd len="med" type="triangle" w="med"/>
          </a:ln>
        </p:spPr>
      </p:cxnSp>
      <p:sp>
        <p:nvSpPr>
          <p:cNvPr id="148" name="TextBox 20"/>
          <p:cNvSpPr/>
          <p:nvPr/>
        </p:nvSpPr>
        <p:spPr>
          <a:xfrm>
            <a:off x="4937760" y="5056560"/>
            <a:ext cx="51202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clone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once, at the start: copy the whole 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1"/>
          <p:cNvSpPr/>
          <p:nvPr/>
        </p:nvSpPr>
        <p:spPr>
          <a:xfrm>
            <a:off x="411840" y="5790960"/>
            <a:ext cx="112467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Commits are local until you push. Pull before you start work, so your clone is current because other people are pushing commits to the Remote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 txBox="1"/>
          <p:nvPr/>
        </p:nvSpPr>
        <p:spPr>
          <a:xfrm>
            <a:off x="2514600" y="1600200"/>
            <a:ext cx="7086600" cy="228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1373400" y="2286000"/>
            <a:ext cx="10056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slides: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compared to Python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1 · Single Values &amp; Vectors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building blocks: one value, or many values that are all the same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hape 4"/>
          <p:cNvSpPr/>
          <p:nvPr/>
        </p:nvSpPr>
        <p:spPr>
          <a:xfrm>
            <a:off x="457200" y="1207080"/>
            <a:ext cx="5455440" cy="223668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676800" y="1334880"/>
            <a:ext cx="5016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Single value (a “scalar”)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694800" y="177408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7"/>
          <p:cNvSpPr/>
          <p:nvPr/>
        </p:nvSpPr>
        <p:spPr>
          <a:xfrm>
            <a:off x="1207080" y="177408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x &lt;- 3.14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694800" y="22492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9"/>
          <p:cNvSpPr/>
          <p:nvPr/>
        </p:nvSpPr>
        <p:spPr>
          <a:xfrm>
            <a:off x="1207080" y="224928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x =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713160" y="2779920"/>
            <a:ext cx="49431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No separate scalar type in R — it’s a vector of length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6245280" y="1207080"/>
            <a:ext cx="5455440" cy="223668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6464880" y="1334880"/>
            <a:ext cx="5016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Vector — many values, one 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6483240" y="177408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4" descr="preencoded.png"/>
          <p:cNvPicPr/>
          <p:nvPr/>
        </p:nvPicPr>
        <p:blipFill>
          <a:blip r:embed="rId5"/>
          <a:stretch/>
        </p:blipFill>
        <p:spPr>
          <a:xfrm>
            <a:off x="6555600" y="18464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4"/>
          <p:cNvSpPr/>
          <p:nvPr/>
        </p:nvSpPr>
        <p:spPr>
          <a:xfrm>
            <a:off x="6995160" y="177408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c(10, 20, 30)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6483240" y="22492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5" descr="preencoded.png"/>
          <p:cNvPicPr/>
          <p:nvPr/>
        </p:nvPicPr>
        <p:blipFill>
          <a:blip r:embed="rId6"/>
          <a:stretch/>
        </p:blipFill>
        <p:spPr>
          <a:xfrm>
            <a:off x="6555600" y="2322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16"/>
          <p:cNvSpPr/>
          <p:nvPr/>
        </p:nvSpPr>
        <p:spPr>
          <a:xfrm>
            <a:off x="6995160" y="224928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np.array([10, 20, 30])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6501240" y="2779920"/>
            <a:ext cx="49431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R’s core structure. Every element must be the same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457200" y="3566160"/>
            <a:ext cx="5455440" cy="223668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676800" y="3694320"/>
            <a:ext cx="5016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vector (an R favorite)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694800" y="413316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6" descr="preencoded.png"/>
          <p:cNvPicPr/>
          <p:nvPr/>
        </p:nvPicPr>
        <p:blipFill>
          <a:blip r:embed="rId7"/>
          <a:stretch/>
        </p:blipFill>
        <p:spPr>
          <a:xfrm>
            <a:off x="767520" y="42055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21"/>
          <p:cNvSpPr/>
          <p:nvPr/>
        </p:nvSpPr>
        <p:spPr>
          <a:xfrm>
            <a:off x="1207080" y="413316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c(a = 10, b = 20)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2"/>
          <p:cNvSpPr/>
          <p:nvPr/>
        </p:nvSpPr>
        <p:spPr>
          <a:xfrm>
            <a:off x="694800" y="460872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7" descr="preencoded.png"/>
          <p:cNvPicPr/>
          <p:nvPr/>
        </p:nvPicPr>
        <p:blipFill>
          <a:blip r:embed="rId8"/>
          <a:stretch/>
        </p:blipFill>
        <p:spPr>
          <a:xfrm>
            <a:off x="767520" y="468108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23"/>
          <p:cNvSpPr/>
          <p:nvPr/>
        </p:nvSpPr>
        <p:spPr>
          <a:xfrm>
            <a:off x="1207080" y="460872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{"a": 10, "b": 20}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a dict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713160" y="5139000"/>
            <a:ext cx="49431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Each value has a label; grab it by name. Python uses a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5"/>
          <p:cNvSpPr/>
          <p:nvPr/>
        </p:nvSpPr>
        <p:spPr>
          <a:xfrm>
            <a:off x="6245280" y="3566160"/>
            <a:ext cx="5455440" cy="223668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6464880" y="3694320"/>
            <a:ext cx="5016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Factor — a vector for categories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7"/>
          <p:cNvSpPr/>
          <p:nvPr/>
        </p:nvSpPr>
        <p:spPr>
          <a:xfrm>
            <a:off x="6483240" y="413316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8" descr="preencoded.png"/>
          <p:cNvPicPr/>
          <p:nvPr/>
        </p:nvPicPr>
        <p:blipFill>
          <a:blip r:embed="rId9"/>
          <a:stretch/>
        </p:blipFill>
        <p:spPr>
          <a:xfrm>
            <a:off x="6555600" y="42055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28"/>
          <p:cNvSpPr/>
          <p:nvPr/>
        </p:nvSpPr>
        <p:spPr>
          <a:xfrm>
            <a:off x="6995160" y="413316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factor(c("low","high"))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6483240" y="460872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9" descr="preencoded.png"/>
          <p:cNvPicPr/>
          <p:nvPr/>
        </p:nvPicPr>
        <p:blipFill>
          <a:blip r:embed="rId10"/>
          <a:stretch/>
        </p:blipFill>
        <p:spPr>
          <a:xfrm>
            <a:off x="6555600" y="468108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30"/>
          <p:cNvSpPr/>
          <p:nvPr/>
        </p:nvSpPr>
        <p:spPr>
          <a:xfrm>
            <a:off x="6995160" y="4608720"/>
            <a:ext cx="448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pd.Categorical(["low"])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1"/>
          <p:cNvSpPr/>
          <p:nvPr/>
        </p:nvSpPr>
        <p:spPr>
          <a:xfrm>
            <a:off x="6501240" y="5139000"/>
            <a:ext cx="49431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vector for fixed categories — e.g. treatment vs control.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2"/>
          <p:cNvSpPr/>
          <p:nvPr/>
        </p:nvSpPr>
        <p:spPr>
          <a:xfrm>
            <a:off x="457200" y="5943600"/>
            <a:ext cx="11243520" cy="47196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9525">
            <a:solidFill>
              <a:srgbClr val="E1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3"/>
          <p:cNvSpPr/>
          <p:nvPr/>
        </p:nvSpPr>
        <p:spPr>
          <a:xfrm>
            <a:off x="658440" y="5943600"/>
            <a:ext cx="108777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Basic types    </a:t>
            </a:r>
            <a:r>
              <a:rPr lang="en-US" sz="13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R: </a:t>
            </a:r>
            <a:r>
              <a:rPr lang="en-US" sz="125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numeric · integer · character · logical</a:t>
            </a:r>
            <a:r>
              <a:rPr lang="en-US" sz="13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      Python: </a:t>
            </a:r>
            <a:r>
              <a:rPr lang="en-US" sz="125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float · int · str · bool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4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2 · Lists, Dictionaries &amp; Arrays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Mixing types, labelling items, and working with grids of numbers.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hape 4"/>
          <p:cNvSpPr/>
          <p:nvPr/>
        </p:nvSpPr>
        <p:spPr>
          <a:xfrm>
            <a:off x="457200" y="1207080"/>
            <a:ext cx="5299920" cy="232812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676800" y="1334880"/>
            <a:ext cx="4861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List — a mixed </a:t>
            </a: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bag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694800" y="177408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7"/>
          <p:cNvSpPr/>
          <p:nvPr/>
        </p:nvSpPr>
        <p:spPr>
          <a:xfrm>
            <a:off x="1207080" y="1774080"/>
            <a:ext cx="433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list(1, "two", TRUE)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694800" y="22492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9"/>
          <p:cNvSpPr/>
          <p:nvPr/>
        </p:nvSpPr>
        <p:spPr>
          <a:xfrm>
            <a:off x="1207080" y="2249280"/>
            <a:ext cx="433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[1, "two", True]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713160" y="2779920"/>
            <a:ext cx="47880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list can mix types — and even hold other lists inside.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457200" y="3657600"/>
            <a:ext cx="5299920" cy="232812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676800" y="3785760"/>
            <a:ext cx="4861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list  /  Dictionary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694800" y="422460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4" descr="preencoded.png"/>
          <p:cNvPicPr/>
          <p:nvPr/>
        </p:nvPicPr>
        <p:blipFill>
          <a:blip r:embed="rId5"/>
          <a:stretch/>
        </p:blipFill>
        <p:spPr>
          <a:xfrm>
            <a:off x="767520" y="429696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4"/>
          <p:cNvSpPr/>
          <p:nvPr/>
        </p:nvSpPr>
        <p:spPr>
          <a:xfrm>
            <a:off x="1207080" y="4224600"/>
            <a:ext cx="433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list(name="Ada")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x$name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694800" y="470016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5" descr="preencoded.png"/>
          <p:cNvPicPr/>
          <p:nvPr/>
        </p:nvPicPr>
        <p:blipFill>
          <a:blip r:embed="rId6"/>
          <a:stretch/>
        </p:blipFill>
        <p:spPr>
          <a:xfrm>
            <a:off x="767520" y="47725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16"/>
          <p:cNvSpPr/>
          <p:nvPr/>
        </p:nvSpPr>
        <p:spPr>
          <a:xfrm>
            <a:off x="1207080" y="4700160"/>
            <a:ext cx="433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{"name":"Ada"}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x["name"]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713160" y="5230440"/>
            <a:ext cx="47880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Label each item. An R named list ≈ a Python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5897880" y="1207080"/>
            <a:ext cx="5802840" cy="1989720"/>
          </a:xfrm>
          <a:prstGeom prst="roundRect">
            <a:avLst>
              <a:gd name="adj" fmla="val 2752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6117480" y="1334880"/>
            <a:ext cx="53640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Matrix / Array — a grid of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6135480" y="177408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6" descr="preencoded.png"/>
          <p:cNvPicPr/>
          <p:nvPr/>
        </p:nvPicPr>
        <p:blipFill>
          <a:blip r:embed="rId7"/>
          <a:stretch/>
        </p:blipFill>
        <p:spPr>
          <a:xfrm>
            <a:off x="6208200" y="18464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21"/>
          <p:cNvSpPr/>
          <p:nvPr/>
        </p:nvSpPr>
        <p:spPr>
          <a:xfrm>
            <a:off x="6647760" y="1774080"/>
            <a:ext cx="4833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matrix(1:6, nrow=2)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2"/>
          <p:cNvSpPr/>
          <p:nvPr/>
        </p:nvSpPr>
        <p:spPr>
          <a:xfrm>
            <a:off x="6135480" y="22492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7" descr="preencoded.png"/>
          <p:cNvPicPr/>
          <p:nvPr/>
        </p:nvPicPr>
        <p:blipFill>
          <a:blip r:embed="rId8"/>
          <a:stretch/>
        </p:blipFill>
        <p:spPr>
          <a:xfrm>
            <a:off x="6208200" y="2322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3"/>
          <p:cNvSpPr/>
          <p:nvPr/>
        </p:nvSpPr>
        <p:spPr>
          <a:xfrm>
            <a:off x="6647760" y="2249280"/>
            <a:ext cx="4833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np.array([[1,2,3],[4,5,6]])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6153840" y="2779920"/>
            <a:ext cx="5290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type, in rows × columns.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5897880" y="3319200"/>
            <a:ext cx="5802840" cy="2666520"/>
          </a:xfrm>
          <a:prstGeom prst="roundRect">
            <a:avLst>
              <a:gd name="adj" fmla="val 2055"/>
            </a:avLst>
          </a:prstGeom>
          <a:solidFill>
            <a:srgbClr val="EFF6FB"/>
          </a:solidFill>
          <a:ln w="9525">
            <a:solidFill>
              <a:srgbClr val="CFE0EE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6117480" y="3429000"/>
            <a:ext cx="536400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NumPy broadcasting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6117480" y="3822120"/>
            <a:ext cx="536400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When arrays have different shapes, NumPy stretches the smaller one to fit — without copying any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611748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611748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662940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1"/>
          <p:cNvSpPr/>
          <p:nvPr/>
        </p:nvSpPr>
        <p:spPr>
          <a:xfrm>
            <a:off x="662940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2"/>
          <p:cNvSpPr/>
          <p:nvPr/>
        </p:nvSpPr>
        <p:spPr>
          <a:xfrm>
            <a:off x="714132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714132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4"/>
          <p:cNvSpPr/>
          <p:nvPr/>
        </p:nvSpPr>
        <p:spPr>
          <a:xfrm>
            <a:off x="7653600" y="4599360"/>
            <a:ext cx="3254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5"/>
          <p:cNvSpPr/>
          <p:nvPr/>
        </p:nvSpPr>
        <p:spPr>
          <a:xfrm>
            <a:off x="801936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FBE9CF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6"/>
          <p:cNvSpPr/>
          <p:nvPr/>
        </p:nvSpPr>
        <p:spPr>
          <a:xfrm>
            <a:off x="801936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7"/>
          <p:cNvSpPr/>
          <p:nvPr/>
        </p:nvSpPr>
        <p:spPr>
          <a:xfrm>
            <a:off x="853128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8"/>
          <p:cNvSpPr/>
          <p:nvPr/>
        </p:nvSpPr>
        <p:spPr>
          <a:xfrm>
            <a:off x="853128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9"/>
          <p:cNvSpPr/>
          <p:nvPr/>
        </p:nvSpPr>
        <p:spPr>
          <a:xfrm>
            <a:off x="904356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0"/>
          <p:cNvSpPr/>
          <p:nvPr/>
        </p:nvSpPr>
        <p:spPr>
          <a:xfrm>
            <a:off x="904356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9555480" y="4599360"/>
            <a:ext cx="3254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2"/>
          <p:cNvSpPr/>
          <p:nvPr/>
        </p:nvSpPr>
        <p:spPr>
          <a:xfrm>
            <a:off x="992124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43"/>
          <p:cNvSpPr/>
          <p:nvPr/>
        </p:nvSpPr>
        <p:spPr>
          <a:xfrm>
            <a:off x="992124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4"/>
          <p:cNvSpPr/>
          <p:nvPr/>
        </p:nvSpPr>
        <p:spPr>
          <a:xfrm>
            <a:off x="1043316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5"/>
          <p:cNvSpPr/>
          <p:nvPr/>
        </p:nvSpPr>
        <p:spPr>
          <a:xfrm>
            <a:off x="1043316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6"/>
          <p:cNvSpPr/>
          <p:nvPr/>
        </p:nvSpPr>
        <p:spPr>
          <a:xfrm>
            <a:off x="10945440" y="4617720"/>
            <a:ext cx="453600" cy="45360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7"/>
          <p:cNvSpPr/>
          <p:nvPr/>
        </p:nvSpPr>
        <p:spPr>
          <a:xfrm>
            <a:off x="10945440" y="461772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8"/>
          <p:cNvSpPr/>
          <p:nvPr/>
        </p:nvSpPr>
        <p:spPr>
          <a:xfrm>
            <a:off x="6117480" y="5257800"/>
            <a:ext cx="536400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np.array([1,2,3]) + 10</a:t>
            </a:r>
            <a:r>
              <a:rPr lang="en-US" sz="135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 → the 10 is added to every element.  </a:t>
            </a:r>
            <a:r>
              <a:rPr lang="en-US" sz="135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 calls this “recycling.”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9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3 · Tables: data.frame, tibble &amp; DataFrame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Rows and columns — the format you’ll use most for real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4"/>
          <p:cNvSpPr/>
          <p:nvPr/>
        </p:nvSpPr>
        <p:spPr>
          <a:xfrm>
            <a:off x="457200" y="1097280"/>
            <a:ext cx="112435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Every object below stores data as rows × columns, like this: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2" name="Table 0"/>
          <p:cNvGraphicFramePr/>
          <p:nvPr/>
        </p:nvGraphicFramePr>
        <p:xfrm>
          <a:off x="3840480" y="1371600"/>
          <a:ext cx="4480200" cy="131616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46304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TP53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EGFR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8.1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MYC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6.7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3" name="Shape 5"/>
          <p:cNvSpPr/>
          <p:nvPr/>
        </p:nvSpPr>
        <p:spPr>
          <a:xfrm>
            <a:off x="457200" y="2853000"/>
            <a:ext cx="5482800" cy="435240"/>
          </a:xfrm>
          <a:prstGeom prst="roundRect">
            <a:avLst>
              <a:gd name="adj" fmla="val 12500"/>
            </a:avLst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585360" y="2917080"/>
            <a:ext cx="307440" cy="30744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Image 2" descr="preencoded.png"/>
          <p:cNvPicPr/>
          <p:nvPr/>
        </p:nvPicPr>
        <p:blipFill>
          <a:blip r:embed="rId3"/>
          <a:stretch/>
        </p:blipFill>
        <p:spPr>
          <a:xfrm>
            <a:off x="641160" y="2972880"/>
            <a:ext cx="195480" cy="19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 7"/>
          <p:cNvSpPr/>
          <p:nvPr/>
        </p:nvSpPr>
        <p:spPr>
          <a:xfrm>
            <a:off x="987480" y="2853000"/>
            <a:ext cx="484272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457200" y="340164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640080" y="3493080"/>
            <a:ext cx="5117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data.frame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640080" y="3904560"/>
            <a:ext cx="511704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Base R’s classic table; columns may differ in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457200" y="447156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640080" y="4563000"/>
            <a:ext cx="5117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tibble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640080" y="4974480"/>
            <a:ext cx="511704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Tidyverse table — cleaner, stricter, keeps text as 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457200" y="554112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640080" y="5632560"/>
            <a:ext cx="5117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data.table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640080" y="6044040"/>
            <a:ext cx="511704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Built for speed on big data: DT[i, j, by].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7"/>
          <p:cNvSpPr/>
          <p:nvPr/>
        </p:nvSpPr>
        <p:spPr>
          <a:xfrm>
            <a:off x="6217920" y="2853000"/>
            <a:ext cx="5482800" cy="435240"/>
          </a:xfrm>
          <a:prstGeom prst="roundRect">
            <a:avLst>
              <a:gd name="adj" fmla="val 12500"/>
            </a:avLst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8"/>
          <p:cNvSpPr/>
          <p:nvPr/>
        </p:nvSpPr>
        <p:spPr>
          <a:xfrm>
            <a:off x="6346080" y="2917080"/>
            <a:ext cx="307440" cy="30744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3" descr="preencoded.png"/>
          <p:cNvPicPr/>
          <p:nvPr/>
        </p:nvPicPr>
        <p:blipFill>
          <a:blip r:embed="rId4"/>
          <a:stretch/>
        </p:blipFill>
        <p:spPr>
          <a:xfrm>
            <a:off x="6401880" y="2972880"/>
            <a:ext cx="195480" cy="19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9"/>
          <p:cNvSpPr/>
          <p:nvPr/>
        </p:nvSpPr>
        <p:spPr>
          <a:xfrm>
            <a:off x="6748200" y="2853000"/>
            <a:ext cx="484272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6217920" y="340164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6400800" y="3493080"/>
            <a:ext cx="5117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pandas.DataFrame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6400800" y="3904560"/>
            <a:ext cx="511704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everyday Python table — matches all three at left.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>
            <a:off x="6217920" y="447156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4"/>
          <p:cNvSpPr/>
          <p:nvPr/>
        </p:nvSpPr>
        <p:spPr>
          <a:xfrm>
            <a:off x="6400800" y="4563000"/>
            <a:ext cx="5117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polars.DataFrame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pl.DataFrame(…)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6400800" y="4974480"/>
            <a:ext cx="511704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Fast, modern — Python’s answer to R’s data.table.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6"/>
          <p:cNvSpPr/>
          <p:nvPr/>
        </p:nvSpPr>
        <p:spPr>
          <a:xfrm>
            <a:off x="6217920" y="5541120"/>
            <a:ext cx="5482800" cy="956520"/>
          </a:xfrm>
          <a:prstGeom prst="roundRect">
            <a:avLst>
              <a:gd name="adj" fmla="val 5714"/>
            </a:avLst>
          </a:prstGeom>
          <a:solidFill>
            <a:srgbClr val="FEF6E7"/>
          </a:solidFill>
          <a:ln w="9525">
            <a:solidFill>
              <a:srgbClr val="F0DDB6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6400800" y="5541120"/>
            <a:ext cx="5117040" cy="9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97E1A"/>
                </a:solidFill>
                <a:effectLst/>
                <a:uFillTx/>
                <a:latin typeface="Calibri"/>
                <a:ea typeface="Calibri"/>
              </a:rPr>
              <a:t>Rule of thumb: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/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pandas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,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polars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4 · Selecting Columns &amp;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two most common moves — pick the columns you want, keep the rows you want.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Shape 4"/>
          <p:cNvSpPr/>
          <p:nvPr/>
        </p:nvSpPr>
        <p:spPr>
          <a:xfrm>
            <a:off x="457200" y="1280160"/>
            <a:ext cx="11243520" cy="239220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731520" y="1463040"/>
            <a:ext cx="453600" cy="4536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8040" cy="2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6"/>
          <p:cNvSpPr/>
          <p:nvPr/>
        </p:nvSpPr>
        <p:spPr>
          <a:xfrm>
            <a:off x="1353240" y="1463040"/>
            <a:ext cx="101462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768240" y="204840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8"/>
          <p:cNvSpPr/>
          <p:nvPr/>
        </p:nvSpPr>
        <p:spPr>
          <a:xfrm>
            <a:off x="1280160" y="204840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2240280" y="204840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select(gene, expr)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768240" y="25786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1"/>
          <p:cNvSpPr/>
          <p:nvPr/>
        </p:nvSpPr>
        <p:spPr>
          <a:xfrm>
            <a:off x="1280160" y="257868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240280" y="257868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df[["gene", "expr"]]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786240" y="3090600"/>
            <a:ext cx="106034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columns you name.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786240" y="3383280"/>
            <a:ext cx="10603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df.select("gene", "expr")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457200" y="3822120"/>
            <a:ext cx="11243520" cy="239220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731520" y="4005000"/>
            <a:ext cx="453600" cy="453600"/>
          </a:xfrm>
          <a:prstGeom prst="ellipse">
            <a:avLst/>
          </a:prstGeom>
          <a:solidFill>
            <a:srgbClr val="1F7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8040" cy="2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17"/>
          <p:cNvSpPr/>
          <p:nvPr/>
        </p:nvSpPr>
        <p:spPr>
          <a:xfrm>
            <a:off x="1353240" y="4005000"/>
            <a:ext cx="101462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768240" y="459036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19"/>
          <p:cNvSpPr/>
          <p:nvPr/>
        </p:nvSpPr>
        <p:spPr>
          <a:xfrm>
            <a:off x="1280160" y="459036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0"/>
          <p:cNvSpPr/>
          <p:nvPr/>
        </p:nvSpPr>
        <p:spPr>
          <a:xfrm>
            <a:off x="2240280" y="459036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filter(expr &gt; </a:t>
            </a: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6)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1"/>
          <p:cNvSpPr/>
          <p:nvPr/>
        </p:nvSpPr>
        <p:spPr>
          <a:xfrm>
            <a:off x="768240" y="512064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22"/>
          <p:cNvSpPr/>
          <p:nvPr/>
        </p:nvSpPr>
        <p:spPr>
          <a:xfrm>
            <a:off x="1280160" y="512064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3"/>
          <p:cNvSpPr/>
          <p:nvPr/>
        </p:nvSpPr>
        <p:spPr>
          <a:xfrm>
            <a:off x="2240280" y="512064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df[df["expr"] &gt; 6]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786240" y="5632560"/>
            <a:ext cx="106034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rows that meet a condition.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786240" y="5925240"/>
            <a:ext cx="10603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df.filter(pl.col("expr") &gt; 6)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4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5 · Adding &amp; Updating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observation, or change a value in an existing row.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Shape 4"/>
          <p:cNvSpPr/>
          <p:nvPr/>
        </p:nvSpPr>
        <p:spPr>
          <a:xfrm>
            <a:off x="457200" y="1280160"/>
            <a:ext cx="11243520" cy="239220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"/>
          <p:cNvSpPr/>
          <p:nvPr/>
        </p:nvSpPr>
        <p:spPr>
          <a:xfrm>
            <a:off x="731520" y="1463040"/>
            <a:ext cx="453600" cy="4536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8040" cy="2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6"/>
          <p:cNvSpPr/>
          <p:nvPr/>
        </p:nvSpPr>
        <p:spPr>
          <a:xfrm>
            <a:off x="1353240" y="1463040"/>
            <a:ext cx="101462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7"/>
          <p:cNvSpPr/>
          <p:nvPr/>
        </p:nvSpPr>
        <p:spPr>
          <a:xfrm>
            <a:off x="768240" y="204840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8"/>
          <p:cNvSpPr/>
          <p:nvPr/>
        </p:nvSpPr>
        <p:spPr>
          <a:xfrm>
            <a:off x="1280160" y="204840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9"/>
          <p:cNvSpPr/>
          <p:nvPr/>
        </p:nvSpPr>
        <p:spPr>
          <a:xfrm>
            <a:off x="2240280" y="204840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add_row(sample="S4", gene="KRAS", expr=7.3)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0"/>
          <p:cNvSpPr/>
          <p:nvPr/>
        </p:nvSpPr>
        <p:spPr>
          <a:xfrm>
            <a:off x="768240" y="257868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11"/>
          <p:cNvSpPr/>
          <p:nvPr/>
        </p:nvSpPr>
        <p:spPr>
          <a:xfrm>
            <a:off x="1280160" y="257868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2240280" y="257868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df.loc[len(df)] = ["S4", "KRAS", 7.3]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786240" y="3090600"/>
            <a:ext cx="106034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 (sample S4) to the bottom.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786240" y="3383280"/>
            <a:ext cx="10603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pl.concat([df, df_new])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457200" y="3822120"/>
            <a:ext cx="11243520" cy="239220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731520" y="4005000"/>
            <a:ext cx="453600" cy="453600"/>
          </a:xfrm>
          <a:prstGeom prst="ellipse">
            <a:avLst/>
          </a:prstGeom>
          <a:solidFill>
            <a:srgbClr val="B565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6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8040" cy="2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17"/>
          <p:cNvSpPr/>
          <p:nvPr/>
        </p:nvSpPr>
        <p:spPr>
          <a:xfrm>
            <a:off x="1353240" y="4005000"/>
            <a:ext cx="101462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 in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8"/>
          <p:cNvSpPr/>
          <p:nvPr/>
        </p:nvSpPr>
        <p:spPr>
          <a:xfrm>
            <a:off x="768240" y="4590360"/>
            <a:ext cx="398880" cy="39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19"/>
          <p:cNvSpPr/>
          <p:nvPr/>
        </p:nvSpPr>
        <p:spPr>
          <a:xfrm>
            <a:off x="1280160" y="459036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0"/>
          <p:cNvSpPr/>
          <p:nvPr/>
        </p:nvSpPr>
        <p:spPr>
          <a:xfrm>
            <a:off x="2240280" y="459036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mutate(expr = if_else(sample=="S2", 9.0, expr))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1"/>
          <p:cNvSpPr/>
          <p:nvPr/>
        </p:nvSpPr>
        <p:spPr>
          <a:xfrm>
            <a:off x="768240" y="5120640"/>
            <a:ext cx="398880" cy="39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22"/>
          <p:cNvSpPr/>
          <p:nvPr/>
        </p:nvSpPr>
        <p:spPr>
          <a:xfrm>
            <a:off x="1280160" y="5120640"/>
            <a:ext cx="91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2240280" y="5120640"/>
            <a:ext cx="9231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df.loc[df["sample"] == "S2", "expr"] = 9.0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4"/>
          <p:cNvSpPr/>
          <p:nvPr/>
        </p:nvSpPr>
        <p:spPr>
          <a:xfrm>
            <a:off x="786240" y="5632560"/>
            <a:ext cx="106034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Change a cell where a condition holds (set S2’s expr to 9.0).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786240" y="5925240"/>
            <a:ext cx="10603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25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df.with_columns(pl.when(pl.col("sample")=="S2").then(9.0).otherwise(pl.col("expr")).alias("expr"))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5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457200" y="274320"/>
            <a:ext cx="10329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Backup Slides: The Older Base R Way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457200" y="822960"/>
            <a:ext cx="10420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operations without the tidyverse — worth recognizing in older code.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"/>
          <p:cNvSpPr/>
          <p:nvPr/>
        </p:nvSpPr>
        <p:spPr>
          <a:xfrm>
            <a:off x="11036880" y="311040"/>
            <a:ext cx="380520" cy="3805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Shape 3"/>
          <p:cNvSpPr/>
          <p:nvPr/>
        </p:nvSpPr>
        <p:spPr>
          <a:xfrm>
            <a:off x="11494080" y="311040"/>
            <a:ext cx="380520" cy="3805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2280" cy="2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Shape 4"/>
          <p:cNvSpPr/>
          <p:nvPr/>
        </p:nvSpPr>
        <p:spPr>
          <a:xfrm>
            <a:off x="10104120" y="841320"/>
            <a:ext cx="910800" cy="307440"/>
          </a:xfrm>
          <a:prstGeom prst="roundRect">
            <a:avLst>
              <a:gd name="adj" fmla="val 14706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10104120" y="841320"/>
            <a:ext cx="910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457200" y="1298520"/>
            <a:ext cx="11243520" cy="121716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731520" y="1698480"/>
            <a:ext cx="416880" cy="416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2" descr="preencoded.png"/>
          <p:cNvPicPr/>
          <p:nvPr/>
        </p:nvPicPr>
        <p:blipFill>
          <a:blip r:embed="rId3"/>
          <a:stretch/>
        </p:blipFill>
        <p:spPr>
          <a:xfrm>
            <a:off x="807120" y="177408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8"/>
          <p:cNvSpPr/>
          <p:nvPr/>
        </p:nvSpPr>
        <p:spPr>
          <a:xfrm>
            <a:off x="1325880" y="1417320"/>
            <a:ext cx="1014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1325880" y="1755720"/>
            <a:ext cx="1014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df[, c("gene", "expr")]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1325880" y="2167200"/>
            <a:ext cx="101462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Add drop=FALSE to guarantee it stays a data.frame.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1"/>
          <p:cNvSpPr/>
          <p:nvPr/>
        </p:nvSpPr>
        <p:spPr>
          <a:xfrm>
            <a:off x="457200" y="2629080"/>
            <a:ext cx="11243520" cy="121716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2"/>
          <p:cNvSpPr/>
          <p:nvPr/>
        </p:nvSpPr>
        <p:spPr>
          <a:xfrm>
            <a:off x="731520" y="3029040"/>
            <a:ext cx="416880" cy="416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3" descr="preencoded.png"/>
          <p:cNvPicPr/>
          <p:nvPr/>
        </p:nvPicPr>
        <p:blipFill>
          <a:blip r:embed="rId4"/>
          <a:stretch/>
        </p:blipFill>
        <p:spPr>
          <a:xfrm>
            <a:off x="807120" y="310464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13"/>
          <p:cNvSpPr/>
          <p:nvPr/>
        </p:nvSpPr>
        <p:spPr>
          <a:xfrm>
            <a:off x="1325880" y="2747880"/>
            <a:ext cx="1014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1325880" y="3086280"/>
            <a:ext cx="1014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df[df$expr &gt; 6,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1325880" y="3497760"/>
            <a:ext cx="101462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Mind the trailing comma — it means “all columns.”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457200" y="3959280"/>
            <a:ext cx="11243520" cy="121716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731520" y="4359240"/>
            <a:ext cx="416880" cy="416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4" descr="preencoded.png"/>
          <p:cNvPicPr/>
          <p:nvPr/>
        </p:nvPicPr>
        <p:blipFill>
          <a:blip r:embed="rId5"/>
          <a:stretch/>
        </p:blipFill>
        <p:spPr>
          <a:xfrm>
            <a:off x="807120" y="443520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18"/>
          <p:cNvSpPr/>
          <p:nvPr/>
        </p:nvSpPr>
        <p:spPr>
          <a:xfrm>
            <a:off x="1325880" y="4078080"/>
            <a:ext cx="1014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9"/>
          <p:cNvSpPr/>
          <p:nvPr/>
        </p:nvSpPr>
        <p:spPr>
          <a:xfrm>
            <a:off x="1325880" y="4416480"/>
            <a:ext cx="1014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rbind(df, data.frame(sample="S4", gene="KRAS", expr=7.3))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1325880" y="4827960"/>
            <a:ext cx="101462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Column names and types must line up.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1"/>
          <p:cNvSpPr/>
          <p:nvPr/>
        </p:nvSpPr>
        <p:spPr>
          <a:xfrm>
            <a:off x="457200" y="5289840"/>
            <a:ext cx="11243520" cy="121716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731520" y="5689800"/>
            <a:ext cx="416880" cy="416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5" descr="preencoded.png"/>
          <p:cNvPicPr/>
          <p:nvPr/>
        </p:nvPicPr>
        <p:blipFill>
          <a:blip r:embed="rId6"/>
          <a:stretch/>
        </p:blipFill>
        <p:spPr>
          <a:xfrm>
            <a:off x="807120" y="576540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3"/>
          <p:cNvSpPr/>
          <p:nvPr/>
        </p:nvSpPr>
        <p:spPr>
          <a:xfrm>
            <a:off x="1325880" y="5408640"/>
            <a:ext cx="1014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4"/>
          <p:cNvSpPr/>
          <p:nvPr/>
        </p:nvSpPr>
        <p:spPr>
          <a:xfrm>
            <a:off x="1325880" y="5747040"/>
            <a:ext cx="1014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df$expr[df$sample == "S2"] &lt;- 9.0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5"/>
          <p:cNvSpPr/>
          <p:nvPr/>
        </p:nvSpPr>
        <p:spPr>
          <a:xfrm>
            <a:off x="1325880" y="6158520"/>
            <a:ext cx="101462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Edits the data frame in place.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6"/>
          <p:cNvSpPr/>
          <p:nvPr/>
        </p:nvSpPr>
        <p:spPr>
          <a:xfrm>
            <a:off x="10881360" y="6537960"/>
            <a:ext cx="8193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6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4136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2026-06-19T18:59:37Z</dcterms:created>
  <dc:creator>Steven Rozen</dc:creator>
  <dc:description/>
  <dc:language>en-US</dc:language>
  <cp:lastModifiedBy/>
  <dcterms:modified xsi:type="dcterms:W3CDTF">2026-08-02T17:29:59Z</dcterms:modified>
  <cp:revision>76</cp:revision>
  <dc:subject>PptxGenJS Presentation</dc:subject>
  <dc:title>R vs Python Data Types —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