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094C41D-95E8-4F1C-A9BB-5214219A612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CA8E40-1AEB-4E23-8D08-903A2DC91A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707BAC-6374-4495-8182-F142BDCB7A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FCA5BE-6D94-4A2D-97D8-841E3E606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2F8E07-3EFD-45E4-9F88-7B6BAFC03D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EB79B6-F1A9-4DBF-B810-93ED58CC32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E79590-9BF3-4017-9EED-63A16C96E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7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33;p27"/>
          <p:cNvSpPr/>
          <p:nvPr/>
        </p:nvSpPr>
        <p:spPr>
          <a:xfrm>
            <a:off x="914400" y="460080"/>
            <a:ext cx="850644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gentle bioinformatics on-ramp: 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R, python, bash, IDEs, AI coding </a:t>
            </a:r>
            <a:r>
              <a:rPr lang="en" sz="2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agents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4;p27"/>
          <p:cNvSpPr/>
          <p:nvPr/>
        </p:nvSpPr>
        <p:spPr>
          <a:xfrm>
            <a:off x="987120" y="1600200"/>
            <a:ext cx="3125520" cy="11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3, 2026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steverozen [at] pm.me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duke.edu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914400" y="685800"/>
            <a:ext cx="10515600" cy="5486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R Studio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914400" y="457200"/>
            <a:ext cx="7770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RStudio from OnDemand or from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"/>
          <p:cNvPicPr/>
          <p:nvPr/>
        </p:nvPicPr>
        <p:blipFill>
          <a:blip r:embed="rId1"/>
          <a:stretch/>
        </p:blipFill>
        <p:spPr>
          <a:xfrm>
            <a:off x="256320" y="276840"/>
            <a:ext cx="11755800" cy="632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/>
          <p:cNvPicPr/>
          <p:nvPr/>
        </p:nvPicPr>
        <p:blipFill>
          <a:blip r:embed="rId1"/>
          <a:stretch/>
        </p:blipFill>
        <p:spPr>
          <a:xfrm>
            <a:off x="243000" y="276840"/>
            <a:ext cx="11755800" cy="632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800" cy="66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800" cy="66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800" cy="664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"/>
          <p:cNvSpPr/>
          <p:nvPr/>
        </p:nvSpPr>
        <p:spPr>
          <a:xfrm>
            <a:off x="685800" y="4572000"/>
            <a:ext cx="6399720" cy="16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“console”, running an R programming language interpreter in a “read-eval-print </a:t>
            </a: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loop”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examples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105120" y="525240"/>
            <a:ext cx="10148760" cy="578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"/>
          <p:cNvSpPr/>
          <p:nvPr/>
        </p:nvSpPr>
        <p:spPr>
          <a:xfrm>
            <a:off x="105120" y="5029200"/>
            <a:ext cx="2056320" cy="913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286000" y="5373000"/>
            <a:ext cx="41137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R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320" cy="557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105480" y="5029200"/>
            <a:ext cx="2056320" cy="913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2286000" y="4800600"/>
            <a:ext cx="41137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7315200" y="4034160"/>
            <a:ext cx="41137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320" cy="557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"/>
          <p:cNvSpPr/>
          <p:nvPr/>
        </p:nvSpPr>
        <p:spPr>
          <a:xfrm>
            <a:off x="105480" y="5029200"/>
            <a:ext cx="2056320" cy="913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2286000" y="4800600"/>
            <a:ext cx="41137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7315200" y="4034160"/>
            <a:ext cx="41137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914400" y="804960"/>
            <a:ext cx="913320" cy="336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7320" cy="557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"/>
          <p:cNvSpPr/>
          <p:nvPr/>
        </p:nvSpPr>
        <p:spPr>
          <a:xfrm>
            <a:off x="5943600" y="2971800"/>
            <a:ext cx="913320" cy="336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400800" y="4034160"/>
            <a:ext cx="41137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how to create new folder / navigate in the files tab, and then  make that the working directory in the R console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800" cy="664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1828800" y="2743200"/>
            <a:ext cx="41137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Terminal is running bash; continue with orientation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2286000" y="1574280"/>
            <a:ext cx="41137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 (pwd – print working directory) bash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28600" y="1143000"/>
            <a:ext cx="2056320" cy="9133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685800" y="286560"/>
            <a:ext cx="1074348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 up and running an AI coding assistant /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on bash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Environment variables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Scripts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Executable bits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AI coding agents use bash a lot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685800" y="286560"/>
            <a:ext cx="1074348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Variables and assignment and basic data types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“Built in” functions: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Reading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Writing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Working with data (data.frame, Tibble)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Basic statistics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User defined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Packages and how to find and use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CRAN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Bioconductor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Github / etc repos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Seurat / Bioconductor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Git/Github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Why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1143000" y="1143000"/>
            <a:ext cx="100576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compared to 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10971720" cy="114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Reference slides: R compared to Python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1 · Single Values &amp; Vectors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building blocks: one value, or many values that are all the same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Shape 4"/>
          <p:cNvSpPr/>
          <p:nvPr/>
        </p:nvSpPr>
        <p:spPr>
          <a:xfrm>
            <a:off x="457200" y="1207080"/>
            <a:ext cx="5456520" cy="22377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676800" y="1334880"/>
            <a:ext cx="5017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Single value (a “scalar”)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694800" y="177408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7"/>
          <p:cNvSpPr/>
          <p:nvPr/>
        </p:nvSpPr>
        <p:spPr>
          <a:xfrm>
            <a:off x="1207080" y="177408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x &lt;- 3.14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8"/>
          <p:cNvSpPr/>
          <p:nvPr/>
        </p:nvSpPr>
        <p:spPr>
          <a:xfrm>
            <a:off x="694800" y="22492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Text 9"/>
          <p:cNvSpPr/>
          <p:nvPr/>
        </p:nvSpPr>
        <p:spPr>
          <a:xfrm>
            <a:off x="1207080" y="224928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x =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0"/>
          <p:cNvSpPr/>
          <p:nvPr/>
        </p:nvSpPr>
        <p:spPr>
          <a:xfrm>
            <a:off x="713160" y="2779920"/>
            <a:ext cx="4944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No separate scalar type in R — it’s a vector of length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1"/>
          <p:cNvSpPr/>
          <p:nvPr/>
        </p:nvSpPr>
        <p:spPr>
          <a:xfrm>
            <a:off x="6245280" y="1207080"/>
            <a:ext cx="5456520" cy="22377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2"/>
          <p:cNvSpPr/>
          <p:nvPr/>
        </p:nvSpPr>
        <p:spPr>
          <a:xfrm>
            <a:off x="6464880" y="1334880"/>
            <a:ext cx="5017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Vector — many values, one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3"/>
          <p:cNvSpPr/>
          <p:nvPr/>
        </p:nvSpPr>
        <p:spPr>
          <a:xfrm>
            <a:off x="6483240" y="177408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4" descr="preencoded.png"/>
          <p:cNvPicPr/>
          <p:nvPr/>
        </p:nvPicPr>
        <p:blipFill>
          <a:blip r:embed="rId5"/>
          <a:stretch/>
        </p:blipFill>
        <p:spPr>
          <a:xfrm>
            <a:off x="6555600" y="18464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14"/>
          <p:cNvSpPr/>
          <p:nvPr/>
        </p:nvSpPr>
        <p:spPr>
          <a:xfrm>
            <a:off x="6995160" y="177408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c(10, 20, 30)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5"/>
          <p:cNvSpPr/>
          <p:nvPr/>
        </p:nvSpPr>
        <p:spPr>
          <a:xfrm>
            <a:off x="6483240" y="22492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5" descr="preencoded.png"/>
          <p:cNvPicPr/>
          <p:nvPr/>
        </p:nvPicPr>
        <p:blipFill>
          <a:blip r:embed="rId6"/>
          <a:stretch/>
        </p:blipFill>
        <p:spPr>
          <a:xfrm>
            <a:off x="6555600" y="2322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6"/>
          <p:cNvSpPr/>
          <p:nvPr/>
        </p:nvSpPr>
        <p:spPr>
          <a:xfrm>
            <a:off x="6995160" y="224928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np.array([10, 20, 30])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7"/>
          <p:cNvSpPr/>
          <p:nvPr/>
        </p:nvSpPr>
        <p:spPr>
          <a:xfrm>
            <a:off x="6501240" y="2779920"/>
            <a:ext cx="4944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R’s core structure. Every element must be the same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8"/>
          <p:cNvSpPr/>
          <p:nvPr/>
        </p:nvSpPr>
        <p:spPr>
          <a:xfrm>
            <a:off x="457200" y="3566160"/>
            <a:ext cx="5456520" cy="22377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9"/>
          <p:cNvSpPr/>
          <p:nvPr/>
        </p:nvSpPr>
        <p:spPr>
          <a:xfrm>
            <a:off x="676800" y="3694320"/>
            <a:ext cx="5017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vector (an R favorite)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0"/>
          <p:cNvSpPr/>
          <p:nvPr/>
        </p:nvSpPr>
        <p:spPr>
          <a:xfrm>
            <a:off x="694800" y="413316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6" descr="preencoded.png"/>
          <p:cNvPicPr/>
          <p:nvPr/>
        </p:nvPicPr>
        <p:blipFill>
          <a:blip r:embed="rId7"/>
          <a:stretch/>
        </p:blipFill>
        <p:spPr>
          <a:xfrm>
            <a:off x="767520" y="420552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21"/>
          <p:cNvSpPr/>
          <p:nvPr/>
        </p:nvSpPr>
        <p:spPr>
          <a:xfrm>
            <a:off x="1207080" y="413316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c(a = 10, b = 20)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2"/>
          <p:cNvSpPr/>
          <p:nvPr/>
        </p:nvSpPr>
        <p:spPr>
          <a:xfrm>
            <a:off x="694800" y="460872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7" descr="preencoded.png"/>
          <p:cNvPicPr/>
          <p:nvPr/>
        </p:nvPicPr>
        <p:blipFill>
          <a:blip r:embed="rId8"/>
          <a:stretch/>
        </p:blipFill>
        <p:spPr>
          <a:xfrm>
            <a:off x="767520" y="468108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23"/>
          <p:cNvSpPr/>
          <p:nvPr/>
        </p:nvSpPr>
        <p:spPr>
          <a:xfrm>
            <a:off x="1207080" y="460872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{"a": 10, "b": 20}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a dict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713160" y="5139000"/>
            <a:ext cx="4944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Each value has a label; grab it by name. Python uses a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5"/>
          <p:cNvSpPr/>
          <p:nvPr/>
        </p:nvSpPr>
        <p:spPr>
          <a:xfrm>
            <a:off x="6245280" y="3566160"/>
            <a:ext cx="5456520" cy="22377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6"/>
          <p:cNvSpPr/>
          <p:nvPr/>
        </p:nvSpPr>
        <p:spPr>
          <a:xfrm>
            <a:off x="6464880" y="3694320"/>
            <a:ext cx="5017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Factor — a vector for categories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7"/>
          <p:cNvSpPr/>
          <p:nvPr/>
        </p:nvSpPr>
        <p:spPr>
          <a:xfrm>
            <a:off x="6483240" y="413316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8" descr="preencoded.png"/>
          <p:cNvPicPr/>
          <p:nvPr/>
        </p:nvPicPr>
        <p:blipFill>
          <a:blip r:embed="rId9"/>
          <a:stretch/>
        </p:blipFill>
        <p:spPr>
          <a:xfrm>
            <a:off x="6555600" y="420552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28"/>
          <p:cNvSpPr/>
          <p:nvPr/>
        </p:nvSpPr>
        <p:spPr>
          <a:xfrm>
            <a:off x="6995160" y="413316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factor(c("low","high"))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6483240" y="460872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Image 9" descr="preencoded.png"/>
          <p:cNvPicPr/>
          <p:nvPr/>
        </p:nvPicPr>
        <p:blipFill>
          <a:blip r:embed="rId10"/>
          <a:stretch/>
        </p:blipFill>
        <p:spPr>
          <a:xfrm>
            <a:off x="6555600" y="468108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30"/>
          <p:cNvSpPr/>
          <p:nvPr/>
        </p:nvSpPr>
        <p:spPr>
          <a:xfrm>
            <a:off x="6995160" y="4608720"/>
            <a:ext cx="44870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pd.Categorical(["low"])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1"/>
          <p:cNvSpPr/>
          <p:nvPr/>
        </p:nvSpPr>
        <p:spPr>
          <a:xfrm>
            <a:off x="6501240" y="5139000"/>
            <a:ext cx="4944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vector for fixed categories — e.g. treatment vs control.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457200" y="5943600"/>
            <a:ext cx="11244600" cy="47304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9525">
            <a:solidFill>
              <a:srgbClr val="E1E7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3"/>
          <p:cNvSpPr/>
          <p:nvPr/>
        </p:nvSpPr>
        <p:spPr>
          <a:xfrm>
            <a:off x="658440" y="5943600"/>
            <a:ext cx="108788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Basic types    </a:t>
            </a:r>
            <a:r>
              <a:rPr lang="en-US" sz="13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R: </a:t>
            </a:r>
            <a:r>
              <a:rPr lang="en-US" sz="125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numeric · integer · character · logical</a:t>
            </a:r>
            <a:r>
              <a:rPr lang="en-US" sz="13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      Python: </a:t>
            </a:r>
            <a:r>
              <a:rPr lang="en-US" sz="125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float · int · str · bool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4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1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2 · Lists, Dictionaries &amp; Arrays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Mixing types, labelling items, and working with grids of numbers.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Shape 4"/>
          <p:cNvSpPr/>
          <p:nvPr/>
        </p:nvSpPr>
        <p:spPr>
          <a:xfrm>
            <a:off x="457200" y="1207080"/>
            <a:ext cx="5301000" cy="232920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676800" y="1334880"/>
            <a:ext cx="48621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List — a mixed bag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6"/>
          <p:cNvSpPr/>
          <p:nvPr/>
        </p:nvSpPr>
        <p:spPr>
          <a:xfrm>
            <a:off x="694800" y="177408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7"/>
          <p:cNvSpPr/>
          <p:nvPr/>
        </p:nvSpPr>
        <p:spPr>
          <a:xfrm>
            <a:off x="1207080" y="1774080"/>
            <a:ext cx="433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list(1, "two", TRUE)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8"/>
          <p:cNvSpPr/>
          <p:nvPr/>
        </p:nvSpPr>
        <p:spPr>
          <a:xfrm>
            <a:off x="694800" y="22492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ext 9"/>
          <p:cNvSpPr/>
          <p:nvPr/>
        </p:nvSpPr>
        <p:spPr>
          <a:xfrm>
            <a:off x="1207080" y="2249280"/>
            <a:ext cx="433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[1, "two", True]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0"/>
          <p:cNvSpPr/>
          <p:nvPr/>
        </p:nvSpPr>
        <p:spPr>
          <a:xfrm>
            <a:off x="713160" y="2779920"/>
            <a:ext cx="478908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list can mix types — and even hold other lists inside.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1"/>
          <p:cNvSpPr/>
          <p:nvPr/>
        </p:nvSpPr>
        <p:spPr>
          <a:xfrm>
            <a:off x="457200" y="3657600"/>
            <a:ext cx="5301000" cy="232920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2"/>
          <p:cNvSpPr/>
          <p:nvPr/>
        </p:nvSpPr>
        <p:spPr>
          <a:xfrm>
            <a:off x="676800" y="3785760"/>
            <a:ext cx="48621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list  /  Dictionary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3"/>
          <p:cNvSpPr/>
          <p:nvPr/>
        </p:nvSpPr>
        <p:spPr>
          <a:xfrm>
            <a:off x="694800" y="422460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4" descr="preencoded.png"/>
          <p:cNvPicPr/>
          <p:nvPr/>
        </p:nvPicPr>
        <p:blipFill>
          <a:blip r:embed="rId5"/>
          <a:stretch/>
        </p:blipFill>
        <p:spPr>
          <a:xfrm>
            <a:off x="767520" y="429696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14"/>
          <p:cNvSpPr/>
          <p:nvPr/>
        </p:nvSpPr>
        <p:spPr>
          <a:xfrm>
            <a:off x="1207080" y="4224600"/>
            <a:ext cx="433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list(name="Ada")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x$name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694800" y="470016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5" descr="preencoded.png"/>
          <p:cNvPicPr/>
          <p:nvPr/>
        </p:nvPicPr>
        <p:blipFill>
          <a:blip r:embed="rId6"/>
          <a:stretch/>
        </p:blipFill>
        <p:spPr>
          <a:xfrm>
            <a:off x="767520" y="477252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16"/>
          <p:cNvSpPr/>
          <p:nvPr/>
        </p:nvSpPr>
        <p:spPr>
          <a:xfrm>
            <a:off x="1207080" y="4700160"/>
            <a:ext cx="433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{"name":"Ada"}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x["name"]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7"/>
          <p:cNvSpPr/>
          <p:nvPr/>
        </p:nvSpPr>
        <p:spPr>
          <a:xfrm>
            <a:off x="713160" y="5230440"/>
            <a:ext cx="478908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Label each item. An R named list ≈ a Python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8"/>
          <p:cNvSpPr/>
          <p:nvPr/>
        </p:nvSpPr>
        <p:spPr>
          <a:xfrm>
            <a:off x="5897880" y="1207080"/>
            <a:ext cx="5803920" cy="1990800"/>
          </a:xfrm>
          <a:prstGeom prst="roundRect">
            <a:avLst>
              <a:gd name="adj" fmla="val 2752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9"/>
          <p:cNvSpPr/>
          <p:nvPr/>
        </p:nvSpPr>
        <p:spPr>
          <a:xfrm>
            <a:off x="6117480" y="1334880"/>
            <a:ext cx="536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Matrix / Array — a grid of numbers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0"/>
          <p:cNvSpPr/>
          <p:nvPr/>
        </p:nvSpPr>
        <p:spPr>
          <a:xfrm>
            <a:off x="6135480" y="177408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6" descr="preencoded.png"/>
          <p:cNvPicPr/>
          <p:nvPr/>
        </p:nvPicPr>
        <p:blipFill>
          <a:blip r:embed="rId7"/>
          <a:stretch/>
        </p:blipFill>
        <p:spPr>
          <a:xfrm>
            <a:off x="6208200" y="18464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21"/>
          <p:cNvSpPr/>
          <p:nvPr/>
        </p:nvSpPr>
        <p:spPr>
          <a:xfrm>
            <a:off x="6647760" y="1774080"/>
            <a:ext cx="48348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matrix(1:6, nrow=2)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2"/>
          <p:cNvSpPr/>
          <p:nvPr/>
        </p:nvSpPr>
        <p:spPr>
          <a:xfrm>
            <a:off x="6135480" y="22492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" name="Image 7" descr="preencoded.png"/>
          <p:cNvPicPr/>
          <p:nvPr/>
        </p:nvPicPr>
        <p:blipFill>
          <a:blip r:embed="rId8"/>
          <a:stretch/>
        </p:blipFill>
        <p:spPr>
          <a:xfrm>
            <a:off x="6208200" y="2322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23"/>
          <p:cNvSpPr/>
          <p:nvPr/>
        </p:nvSpPr>
        <p:spPr>
          <a:xfrm>
            <a:off x="6647760" y="2249280"/>
            <a:ext cx="48348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np.array([[1,2,3],[4,5,6]])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4"/>
          <p:cNvSpPr/>
          <p:nvPr/>
        </p:nvSpPr>
        <p:spPr>
          <a:xfrm>
            <a:off x="6153840" y="2779920"/>
            <a:ext cx="529200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type, in rows × columns.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5"/>
          <p:cNvSpPr/>
          <p:nvPr/>
        </p:nvSpPr>
        <p:spPr>
          <a:xfrm>
            <a:off x="5897880" y="3319200"/>
            <a:ext cx="5803920" cy="2667600"/>
          </a:xfrm>
          <a:prstGeom prst="roundRect">
            <a:avLst>
              <a:gd name="adj" fmla="val 2055"/>
            </a:avLst>
          </a:prstGeom>
          <a:solidFill>
            <a:srgbClr val="EFF6FB"/>
          </a:solidFill>
          <a:ln w="9525">
            <a:solidFill>
              <a:srgbClr val="CFE0EE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6"/>
          <p:cNvSpPr/>
          <p:nvPr/>
        </p:nvSpPr>
        <p:spPr>
          <a:xfrm>
            <a:off x="6117480" y="3429000"/>
            <a:ext cx="536508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NumPy broadcasting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7"/>
          <p:cNvSpPr/>
          <p:nvPr/>
        </p:nvSpPr>
        <p:spPr>
          <a:xfrm>
            <a:off x="6117480" y="3822120"/>
            <a:ext cx="53650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When arrays have different shapes, NumPy stretches the smaller one to fit — without copying any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8"/>
          <p:cNvSpPr/>
          <p:nvPr/>
        </p:nvSpPr>
        <p:spPr>
          <a:xfrm>
            <a:off x="611748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9"/>
          <p:cNvSpPr/>
          <p:nvPr/>
        </p:nvSpPr>
        <p:spPr>
          <a:xfrm>
            <a:off x="611748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0"/>
          <p:cNvSpPr/>
          <p:nvPr/>
        </p:nvSpPr>
        <p:spPr>
          <a:xfrm>
            <a:off x="662940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1"/>
          <p:cNvSpPr/>
          <p:nvPr/>
        </p:nvSpPr>
        <p:spPr>
          <a:xfrm>
            <a:off x="662940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2"/>
          <p:cNvSpPr/>
          <p:nvPr/>
        </p:nvSpPr>
        <p:spPr>
          <a:xfrm>
            <a:off x="714132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3"/>
          <p:cNvSpPr/>
          <p:nvPr/>
        </p:nvSpPr>
        <p:spPr>
          <a:xfrm>
            <a:off x="714132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4"/>
          <p:cNvSpPr/>
          <p:nvPr/>
        </p:nvSpPr>
        <p:spPr>
          <a:xfrm>
            <a:off x="7653600" y="4599360"/>
            <a:ext cx="32652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5"/>
          <p:cNvSpPr/>
          <p:nvPr/>
        </p:nvSpPr>
        <p:spPr>
          <a:xfrm>
            <a:off x="801936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6"/>
          <p:cNvSpPr/>
          <p:nvPr/>
        </p:nvSpPr>
        <p:spPr>
          <a:xfrm>
            <a:off x="801936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37"/>
          <p:cNvSpPr/>
          <p:nvPr/>
        </p:nvSpPr>
        <p:spPr>
          <a:xfrm>
            <a:off x="853128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8"/>
          <p:cNvSpPr/>
          <p:nvPr/>
        </p:nvSpPr>
        <p:spPr>
          <a:xfrm>
            <a:off x="853128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9"/>
          <p:cNvSpPr/>
          <p:nvPr/>
        </p:nvSpPr>
        <p:spPr>
          <a:xfrm>
            <a:off x="904356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0"/>
          <p:cNvSpPr/>
          <p:nvPr/>
        </p:nvSpPr>
        <p:spPr>
          <a:xfrm>
            <a:off x="904356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1"/>
          <p:cNvSpPr/>
          <p:nvPr/>
        </p:nvSpPr>
        <p:spPr>
          <a:xfrm>
            <a:off x="9555480" y="4599360"/>
            <a:ext cx="32652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2"/>
          <p:cNvSpPr/>
          <p:nvPr/>
        </p:nvSpPr>
        <p:spPr>
          <a:xfrm>
            <a:off x="992124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3"/>
          <p:cNvSpPr/>
          <p:nvPr/>
        </p:nvSpPr>
        <p:spPr>
          <a:xfrm>
            <a:off x="992124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4"/>
          <p:cNvSpPr/>
          <p:nvPr/>
        </p:nvSpPr>
        <p:spPr>
          <a:xfrm>
            <a:off x="1043316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5"/>
          <p:cNvSpPr/>
          <p:nvPr/>
        </p:nvSpPr>
        <p:spPr>
          <a:xfrm>
            <a:off x="1043316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6"/>
          <p:cNvSpPr/>
          <p:nvPr/>
        </p:nvSpPr>
        <p:spPr>
          <a:xfrm>
            <a:off x="10945440" y="4617720"/>
            <a:ext cx="454680" cy="4546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7"/>
          <p:cNvSpPr/>
          <p:nvPr/>
        </p:nvSpPr>
        <p:spPr>
          <a:xfrm>
            <a:off x="10945440" y="4617720"/>
            <a:ext cx="454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8"/>
          <p:cNvSpPr/>
          <p:nvPr/>
        </p:nvSpPr>
        <p:spPr>
          <a:xfrm>
            <a:off x="6117480" y="5257800"/>
            <a:ext cx="536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np.array([1,2,3]) + 10</a:t>
            </a:r>
            <a:r>
              <a:rPr lang="en-US" sz="135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 → the 10 is added to every element.  </a:t>
            </a:r>
            <a:r>
              <a:rPr lang="en-US" sz="135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 calls this “recycling.”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9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2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3 · Tables: data.frame, tibble &amp; DataFrame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Rows and columns — the format you’ll use most for real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1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 4"/>
          <p:cNvSpPr/>
          <p:nvPr/>
        </p:nvSpPr>
        <p:spPr>
          <a:xfrm>
            <a:off x="457200" y="1097280"/>
            <a:ext cx="112446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Every object below stores data as rows × columns, like this: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5" name="Table 0"/>
          <p:cNvGraphicFramePr/>
          <p:nvPr/>
        </p:nvGraphicFramePr>
        <p:xfrm>
          <a:off x="3840480" y="1371600"/>
          <a:ext cx="4480200" cy="131616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46304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TP53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5.2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EGFR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8.1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MYC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6.7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Shape 5"/>
          <p:cNvSpPr/>
          <p:nvPr/>
        </p:nvSpPr>
        <p:spPr>
          <a:xfrm>
            <a:off x="457200" y="2853000"/>
            <a:ext cx="5483880" cy="436320"/>
          </a:xfrm>
          <a:prstGeom prst="roundRect">
            <a:avLst>
              <a:gd name="adj" fmla="val 12500"/>
            </a:avLst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585360" y="2917080"/>
            <a:ext cx="308520" cy="3085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preencoded.png"/>
          <p:cNvPicPr/>
          <p:nvPr/>
        </p:nvPicPr>
        <p:blipFill>
          <a:blip r:embed="rId3"/>
          <a:stretch/>
        </p:blipFill>
        <p:spPr>
          <a:xfrm>
            <a:off x="641160" y="2972880"/>
            <a:ext cx="196560" cy="1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7"/>
          <p:cNvSpPr/>
          <p:nvPr/>
        </p:nvSpPr>
        <p:spPr>
          <a:xfrm>
            <a:off x="987480" y="2853000"/>
            <a:ext cx="484380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8"/>
          <p:cNvSpPr/>
          <p:nvPr/>
        </p:nvSpPr>
        <p:spPr>
          <a:xfrm>
            <a:off x="457200" y="340164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0080" y="3493080"/>
            <a:ext cx="51181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data.frame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640080" y="3904560"/>
            <a:ext cx="51181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Base R’s classic table; columns may differ in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1"/>
          <p:cNvSpPr/>
          <p:nvPr/>
        </p:nvSpPr>
        <p:spPr>
          <a:xfrm>
            <a:off x="457200" y="447156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2"/>
          <p:cNvSpPr/>
          <p:nvPr/>
        </p:nvSpPr>
        <p:spPr>
          <a:xfrm>
            <a:off x="640080" y="4563000"/>
            <a:ext cx="51181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tibble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640080" y="4974480"/>
            <a:ext cx="51181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Tidyverse table — cleaner, stricter, keeps text as 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4"/>
          <p:cNvSpPr/>
          <p:nvPr/>
        </p:nvSpPr>
        <p:spPr>
          <a:xfrm>
            <a:off x="457200" y="554112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5"/>
          <p:cNvSpPr/>
          <p:nvPr/>
        </p:nvSpPr>
        <p:spPr>
          <a:xfrm>
            <a:off x="640080" y="5632560"/>
            <a:ext cx="51181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data.table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6"/>
          <p:cNvSpPr/>
          <p:nvPr/>
        </p:nvSpPr>
        <p:spPr>
          <a:xfrm>
            <a:off x="640080" y="6044040"/>
            <a:ext cx="51181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Built for speed on big data: DT[i, j, by].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7"/>
          <p:cNvSpPr/>
          <p:nvPr/>
        </p:nvSpPr>
        <p:spPr>
          <a:xfrm>
            <a:off x="6217920" y="2853000"/>
            <a:ext cx="5483880" cy="436320"/>
          </a:xfrm>
          <a:prstGeom prst="roundRect">
            <a:avLst>
              <a:gd name="adj" fmla="val 12500"/>
            </a:avLst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8"/>
          <p:cNvSpPr/>
          <p:nvPr/>
        </p:nvSpPr>
        <p:spPr>
          <a:xfrm>
            <a:off x="6346080" y="2917080"/>
            <a:ext cx="308520" cy="3085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3" descr="preencoded.png"/>
          <p:cNvPicPr/>
          <p:nvPr/>
        </p:nvPicPr>
        <p:blipFill>
          <a:blip r:embed="rId4"/>
          <a:stretch/>
        </p:blipFill>
        <p:spPr>
          <a:xfrm>
            <a:off x="6401880" y="2972880"/>
            <a:ext cx="196560" cy="1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9"/>
          <p:cNvSpPr/>
          <p:nvPr/>
        </p:nvSpPr>
        <p:spPr>
          <a:xfrm>
            <a:off x="6748200" y="2853000"/>
            <a:ext cx="484380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6217920" y="340164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1"/>
          <p:cNvSpPr/>
          <p:nvPr/>
        </p:nvSpPr>
        <p:spPr>
          <a:xfrm>
            <a:off x="6400800" y="3493080"/>
            <a:ext cx="51181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pandas.DataFrame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2"/>
          <p:cNvSpPr/>
          <p:nvPr/>
        </p:nvSpPr>
        <p:spPr>
          <a:xfrm>
            <a:off x="6400800" y="3904560"/>
            <a:ext cx="51181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everyday Python table — matches all three at left.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3"/>
          <p:cNvSpPr/>
          <p:nvPr/>
        </p:nvSpPr>
        <p:spPr>
          <a:xfrm>
            <a:off x="6217920" y="447156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4"/>
          <p:cNvSpPr/>
          <p:nvPr/>
        </p:nvSpPr>
        <p:spPr>
          <a:xfrm>
            <a:off x="6400800" y="4563000"/>
            <a:ext cx="51181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polars.DataFrame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pl.DataFrame(…)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5"/>
          <p:cNvSpPr/>
          <p:nvPr/>
        </p:nvSpPr>
        <p:spPr>
          <a:xfrm>
            <a:off x="6400800" y="4974480"/>
            <a:ext cx="51181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Fast, modern — Python’s answer to R’s data.table.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6"/>
          <p:cNvSpPr/>
          <p:nvPr/>
        </p:nvSpPr>
        <p:spPr>
          <a:xfrm>
            <a:off x="6217920" y="5541120"/>
            <a:ext cx="5483880" cy="957600"/>
          </a:xfrm>
          <a:prstGeom prst="roundRect">
            <a:avLst>
              <a:gd name="adj" fmla="val 5714"/>
            </a:avLst>
          </a:prstGeom>
          <a:solidFill>
            <a:srgbClr val="FEF6E7"/>
          </a:solidFill>
          <a:ln w="9525">
            <a:solidFill>
              <a:srgbClr val="F0DDB6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7"/>
          <p:cNvSpPr/>
          <p:nvPr/>
        </p:nvSpPr>
        <p:spPr>
          <a:xfrm>
            <a:off x="6400800" y="5541120"/>
            <a:ext cx="5118120" cy="95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97E1A"/>
                </a:solidFill>
                <a:effectLst/>
                <a:uFillTx/>
                <a:latin typeface="Calibri"/>
                <a:ea typeface="Calibri"/>
              </a:rPr>
              <a:t>Rule of thumb: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/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pandas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,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polars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8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3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4 · Selecting Columns &amp;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two most common moves — pick the columns you want, keep the rows you want.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5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Shape 4"/>
          <p:cNvSpPr/>
          <p:nvPr/>
        </p:nvSpPr>
        <p:spPr>
          <a:xfrm>
            <a:off x="457200" y="1280160"/>
            <a:ext cx="11244600" cy="23932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731520" y="1463040"/>
            <a:ext cx="454680" cy="4546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912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 6"/>
          <p:cNvSpPr/>
          <p:nvPr/>
        </p:nvSpPr>
        <p:spPr>
          <a:xfrm>
            <a:off x="1353240" y="1463040"/>
            <a:ext cx="10147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7"/>
          <p:cNvSpPr/>
          <p:nvPr/>
        </p:nvSpPr>
        <p:spPr>
          <a:xfrm>
            <a:off x="768240" y="204840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8"/>
          <p:cNvSpPr/>
          <p:nvPr/>
        </p:nvSpPr>
        <p:spPr>
          <a:xfrm>
            <a:off x="1280160" y="204840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2240280" y="204840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select(gene, expr)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768240" y="25786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 11"/>
          <p:cNvSpPr/>
          <p:nvPr/>
        </p:nvSpPr>
        <p:spPr>
          <a:xfrm>
            <a:off x="1280160" y="257868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2"/>
          <p:cNvSpPr/>
          <p:nvPr/>
        </p:nvSpPr>
        <p:spPr>
          <a:xfrm>
            <a:off x="2240280" y="257868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df[["gene", "expr"]]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786240" y="3090600"/>
            <a:ext cx="10604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columns you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786240" y="3383280"/>
            <a:ext cx="10604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df.select("gene", "expr")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457200" y="3822120"/>
            <a:ext cx="11244600" cy="23932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731520" y="4005000"/>
            <a:ext cx="454680" cy="454680"/>
          </a:xfrm>
          <a:prstGeom prst="ellipse">
            <a:avLst/>
          </a:prstGeom>
          <a:solidFill>
            <a:srgbClr val="1F7A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4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912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Text 17"/>
          <p:cNvSpPr/>
          <p:nvPr/>
        </p:nvSpPr>
        <p:spPr>
          <a:xfrm>
            <a:off x="1353240" y="4005000"/>
            <a:ext cx="10147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8"/>
          <p:cNvSpPr/>
          <p:nvPr/>
        </p:nvSpPr>
        <p:spPr>
          <a:xfrm>
            <a:off x="768240" y="459036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19"/>
          <p:cNvSpPr/>
          <p:nvPr/>
        </p:nvSpPr>
        <p:spPr>
          <a:xfrm>
            <a:off x="1280160" y="459036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0"/>
          <p:cNvSpPr/>
          <p:nvPr/>
        </p:nvSpPr>
        <p:spPr>
          <a:xfrm>
            <a:off x="2240280" y="459036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filter(expr &gt; 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768240" y="512064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Text 22"/>
          <p:cNvSpPr/>
          <p:nvPr/>
        </p:nvSpPr>
        <p:spPr>
          <a:xfrm>
            <a:off x="1280160" y="512064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3"/>
          <p:cNvSpPr/>
          <p:nvPr/>
        </p:nvSpPr>
        <p:spPr>
          <a:xfrm>
            <a:off x="2240280" y="512064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df[df["expr"] &gt; 6]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4"/>
          <p:cNvSpPr/>
          <p:nvPr/>
        </p:nvSpPr>
        <p:spPr>
          <a:xfrm>
            <a:off x="786240" y="5632560"/>
            <a:ext cx="10604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rows that meet a condition.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5"/>
          <p:cNvSpPr/>
          <p:nvPr/>
        </p:nvSpPr>
        <p:spPr>
          <a:xfrm>
            <a:off x="786240" y="5925240"/>
            <a:ext cx="10604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df.filter(pl.col("expr") &gt;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6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4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5 · Adding &amp; Updating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observation, or change a value in an existing row.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Shape 4"/>
          <p:cNvSpPr/>
          <p:nvPr/>
        </p:nvSpPr>
        <p:spPr>
          <a:xfrm>
            <a:off x="457200" y="1280160"/>
            <a:ext cx="11244600" cy="23932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5"/>
          <p:cNvSpPr/>
          <p:nvPr/>
        </p:nvSpPr>
        <p:spPr>
          <a:xfrm>
            <a:off x="731520" y="1463040"/>
            <a:ext cx="454680" cy="4546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912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6"/>
          <p:cNvSpPr/>
          <p:nvPr/>
        </p:nvSpPr>
        <p:spPr>
          <a:xfrm>
            <a:off x="1353240" y="1463040"/>
            <a:ext cx="10147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7"/>
          <p:cNvSpPr/>
          <p:nvPr/>
        </p:nvSpPr>
        <p:spPr>
          <a:xfrm>
            <a:off x="768240" y="204840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8"/>
          <p:cNvSpPr/>
          <p:nvPr/>
        </p:nvSpPr>
        <p:spPr>
          <a:xfrm>
            <a:off x="1280160" y="204840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2240280" y="204840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add_row(sample="S4", gene="KRAS", expr=7.3)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768240" y="257868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1"/>
          <p:cNvSpPr/>
          <p:nvPr/>
        </p:nvSpPr>
        <p:spPr>
          <a:xfrm>
            <a:off x="1280160" y="257868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2"/>
          <p:cNvSpPr/>
          <p:nvPr/>
        </p:nvSpPr>
        <p:spPr>
          <a:xfrm>
            <a:off x="2240280" y="257868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df.loc[len(df)] = ["S4", "KRAS", 7.3]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786240" y="3090600"/>
            <a:ext cx="10604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 (sample S4) to the bottom.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4"/>
          <p:cNvSpPr/>
          <p:nvPr/>
        </p:nvSpPr>
        <p:spPr>
          <a:xfrm>
            <a:off x="786240" y="3383280"/>
            <a:ext cx="10604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pl.concat([df, df_new])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5"/>
          <p:cNvSpPr/>
          <p:nvPr/>
        </p:nvSpPr>
        <p:spPr>
          <a:xfrm>
            <a:off x="457200" y="3822120"/>
            <a:ext cx="11244600" cy="23932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731520" y="4005000"/>
            <a:ext cx="454680" cy="454680"/>
          </a:xfrm>
          <a:prstGeom prst="ellipse">
            <a:avLst/>
          </a:prstGeom>
          <a:solidFill>
            <a:srgbClr val="B565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9120" cy="2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17"/>
          <p:cNvSpPr/>
          <p:nvPr/>
        </p:nvSpPr>
        <p:spPr>
          <a:xfrm>
            <a:off x="1353240" y="4005000"/>
            <a:ext cx="10147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 in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8"/>
          <p:cNvSpPr/>
          <p:nvPr/>
        </p:nvSpPr>
        <p:spPr>
          <a:xfrm>
            <a:off x="768240" y="4590360"/>
            <a:ext cx="399960" cy="399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19"/>
          <p:cNvSpPr/>
          <p:nvPr/>
        </p:nvSpPr>
        <p:spPr>
          <a:xfrm>
            <a:off x="1280160" y="459036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0"/>
          <p:cNvSpPr/>
          <p:nvPr/>
        </p:nvSpPr>
        <p:spPr>
          <a:xfrm>
            <a:off x="2240280" y="459036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mutate(expr = if_else(sample=="S2", 9.0, expr))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1"/>
          <p:cNvSpPr/>
          <p:nvPr/>
        </p:nvSpPr>
        <p:spPr>
          <a:xfrm>
            <a:off x="768240" y="5120640"/>
            <a:ext cx="399960" cy="3999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4880" cy="25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22"/>
          <p:cNvSpPr/>
          <p:nvPr/>
        </p:nvSpPr>
        <p:spPr>
          <a:xfrm>
            <a:off x="1280160" y="5120640"/>
            <a:ext cx="9118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3"/>
          <p:cNvSpPr/>
          <p:nvPr/>
        </p:nvSpPr>
        <p:spPr>
          <a:xfrm>
            <a:off x="2240280" y="5120640"/>
            <a:ext cx="9232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df.loc[df["sample"] == "S2", "expr"] = 9.0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4"/>
          <p:cNvSpPr/>
          <p:nvPr/>
        </p:nvSpPr>
        <p:spPr>
          <a:xfrm>
            <a:off x="786240" y="5632560"/>
            <a:ext cx="1060452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Change a cell where a condition holds (set S2’s expr to 9.0).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5"/>
          <p:cNvSpPr/>
          <p:nvPr/>
        </p:nvSpPr>
        <p:spPr>
          <a:xfrm>
            <a:off x="786240" y="5925240"/>
            <a:ext cx="10604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25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df.with_columns(pl.when(pl.col("sample")=="S2").then(9.0).otherwise(pl.col("expr")).alias("expr"))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6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5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457200" y="274320"/>
            <a:ext cx="103302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Backup Slides: The Older Base R Way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822960"/>
            <a:ext cx="1042164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operations without the tidyverse — worth recognizing in older code.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11036880" y="311040"/>
            <a:ext cx="381600" cy="381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Shape 3"/>
          <p:cNvSpPr/>
          <p:nvPr/>
        </p:nvSpPr>
        <p:spPr>
          <a:xfrm>
            <a:off x="11494080" y="311040"/>
            <a:ext cx="381600" cy="381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360" cy="2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Shape 4"/>
          <p:cNvSpPr/>
          <p:nvPr/>
        </p:nvSpPr>
        <p:spPr>
          <a:xfrm>
            <a:off x="10104120" y="841320"/>
            <a:ext cx="911880" cy="308520"/>
          </a:xfrm>
          <a:prstGeom prst="roundRect">
            <a:avLst>
              <a:gd name="adj" fmla="val 14706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0104120" y="841320"/>
            <a:ext cx="91188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457200" y="1298520"/>
            <a:ext cx="11244600" cy="12182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7"/>
          <p:cNvSpPr/>
          <p:nvPr/>
        </p:nvSpPr>
        <p:spPr>
          <a:xfrm>
            <a:off x="731520" y="1698480"/>
            <a:ext cx="417960" cy="417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2" name="Image 2" descr="preencoded.png"/>
          <p:cNvPicPr/>
          <p:nvPr/>
        </p:nvPicPr>
        <p:blipFill>
          <a:blip r:embed="rId3"/>
          <a:stretch/>
        </p:blipFill>
        <p:spPr>
          <a:xfrm>
            <a:off x="807120" y="1774080"/>
            <a:ext cx="266760" cy="2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Text 8"/>
          <p:cNvSpPr/>
          <p:nvPr/>
        </p:nvSpPr>
        <p:spPr>
          <a:xfrm>
            <a:off x="1325880" y="1417320"/>
            <a:ext cx="101473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1325880" y="1755720"/>
            <a:ext cx="1014732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df[, c("gene", "expr")]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1325880" y="2167200"/>
            <a:ext cx="10147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Add drop=FALSE to guarantee it stays a data.frame.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457200" y="2629080"/>
            <a:ext cx="11244600" cy="12182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2"/>
          <p:cNvSpPr/>
          <p:nvPr/>
        </p:nvSpPr>
        <p:spPr>
          <a:xfrm>
            <a:off x="731520" y="3029040"/>
            <a:ext cx="417960" cy="417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3" descr="preencoded.png"/>
          <p:cNvPicPr/>
          <p:nvPr/>
        </p:nvPicPr>
        <p:blipFill>
          <a:blip r:embed="rId4"/>
          <a:stretch/>
        </p:blipFill>
        <p:spPr>
          <a:xfrm>
            <a:off x="807120" y="3104640"/>
            <a:ext cx="266760" cy="2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13"/>
          <p:cNvSpPr/>
          <p:nvPr/>
        </p:nvSpPr>
        <p:spPr>
          <a:xfrm>
            <a:off x="1325880" y="2747880"/>
            <a:ext cx="101473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1325880" y="3086280"/>
            <a:ext cx="1014732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df[df$expr &gt; 6, 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1325880" y="3497760"/>
            <a:ext cx="10147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Mind the trailing comma — it means “all columns.”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6"/>
          <p:cNvSpPr/>
          <p:nvPr/>
        </p:nvSpPr>
        <p:spPr>
          <a:xfrm>
            <a:off x="457200" y="3959280"/>
            <a:ext cx="11244600" cy="12182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731520" y="4359240"/>
            <a:ext cx="417960" cy="417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4" name="Image 4" descr="preencoded.png"/>
          <p:cNvPicPr/>
          <p:nvPr/>
        </p:nvPicPr>
        <p:blipFill>
          <a:blip r:embed="rId5"/>
          <a:stretch/>
        </p:blipFill>
        <p:spPr>
          <a:xfrm>
            <a:off x="807120" y="4435200"/>
            <a:ext cx="266760" cy="2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Text 18"/>
          <p:cNvSpPr/>
          <p:nvPr/>
        </p:nvSpPr>
        <p:spPr>
          <a:xfrm>
            <a:off x="1325880" y="4078080"/>
            <a:ext cx="101473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9"/>
          <p:cNvSpPr/>
          <p:nvPr/>
        </p:nvSpPr>
        <p:spPr>
          <a:xfrm>
            <a:off x="1325880" y="4416480"/>
            <a:ext cx="1014732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rbind(df, data.frame(sample="S4", gene="KRAS", expr=7.3))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0"/>
          <p:cNvSpPr/>
          <p:nvPr/>
        </p:nvSpPr>
        <p:spPr>
          <a:xfrm>
            <a:off x="1325880" y="4827960"/>
            <a:ext cx="10147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Column names and types must line up.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1"/>
          <p:cNvSpPr/>
          <p:nvPr/>
        </p:nvSpPr>
        <p:spPr>
          <a:xfrm>
            <a:off x="457200" y="5289840"/>
            <a:ext cx="11244600" cy="12182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2"/>
          <p:cNvSpPr/>
          <p:nvPr/>
        </p:nvSpPr>
        <p:spPr>
          <a:xfrm>
            <a:off x="731520" y="5689800"/>
            <a:ext cx="417960" cy="4179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5" descr="preencoded.png"/>
          <p:cNvPicPr/>
          <p:nvPr/>
        </p:nvPicPr>
        <p:blipFill>
          <a:blip r:embed="rId6"/>
          <a:stretch/>
        </p:blipFill>
        <p:spPr>
          <a:xfrm>
            <a:off x="807120" y="5765400"/>
            <a:ext cx="266760" cy="2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23"/>
          <p:cNvSpPr/>
          <p:nvPr/>
        </p:nvSpPr>
        <p:spPr>
          <a:xfrm>
            <a:off x="1325880" y="5408640"/>
            <a:ext cx="101473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4"/>
          <p:cNvSpPr/>
          <p:nvPr/>
        </p:nvSpPr>
        <p:spPr>
          <a:xfrm>
            <a:off x="1325880" y="5747040"/>
            <a:ext cx="1014732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df$expr[df$sample == "S2"] &lt;- 9.0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1325880" y="6158520"/>
            <a:ext cx="10147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Edits the data frame in place.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6"/>
          <p:cNvSpPr/>
          <p:nvPr/>
        </p:nvSpPr>
        <p:spPr>
          <a:xfrm>
            <a:off x="10881360" y="6537960"/>
            <a:ext cx="8204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6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3245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2026-06-19T18:59:37Z</dcterms:created>
  <dc:creator>Steven Rozen</dc:creator>
  <dc:description/>
  <dc:language>en-US</dc:language>
  <cp:lastModifiedBy/>
  <dcterms:modified xsi:type="dcterms:W3CDTF">2026-07-17T20:21:15Z</dcterms:modified>
  <cp:revision>22</cp:revision>
  <dc:subject>PptxGenJS Presentation</dc:subject>
  <dc:title>R vs Python Data Types — for beginners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