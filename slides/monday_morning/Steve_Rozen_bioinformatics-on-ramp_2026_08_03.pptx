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6D5C17B-AA44-4468-8CFD-6EE41EA4066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51CA7EB-FD97-4821-9A46-FA869708CD9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084404B-ECBD-443F-BC62-C5111C043CC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402487-F8B5-41C9-9953-1C410A1C25C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F8CDB14-8CFB-4BE8-A17F-9B7370145C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7175D6-EA5A-48BB-924E-3C558E39F6E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3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AD7107A-B448-4A24-9175-99315D4ED5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136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10.png"/><Relationship Id="rId5" Type="http://schemas.openxmlformats.org/officeDocument/2006/relationships/image" Target="../media/image10.png"/><Relationship Id="rId6" Type="http://schemas.openxmlformats.org/officeDocument/2006/relationships/image" Target="../media/image10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33;p27"/>
          <p:cNvSpPr/>
          <p:nvPr/>
        </p:nvSpPr>
        <p:spPr>
          <a:xfrm>
            <a:off x="914400" y="460080"/>
            <a:ext cx="8506080" cy="11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33840" rIns="67680" bIns="33840" anchor="t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 gentle bioinformatics on-ramp: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R, python, bash, IDEs, AI coding agents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Google Shape;134;p27"/>
          <p:cNvSpPr/>
          <p:nvPr/>
        </p:nvSpPr>
        <p:spPr>
          <a:xfrm>
            <a:off x="987120" y="1600200"/>
            <a:ext cx="3125160" cy="11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33840" rIns="67680" bIns="33840" anchor="t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" sz="2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August 3, 2026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r>
              <a:rPr lang="en" sz="2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Steve Rozen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r>
              <a:rPr lang="en" sz="2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steverozen [at] pm.me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r>
              <a:rPr lang="en" sz="2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sr110 [at] duke.edu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 txBox="1"/>
          <p:nvPr/>
        </p:nvSpPr>
        <p:spPr>
          <a:xfrm>
            <a:off x="685800" y="228600"/>
            <a:ext cx="10972800" cy="6172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Workshop objectives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Provide hands-on orientation on computational infrastructure needed for bioinformatics today: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 and RStudio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Python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Bash (the Linux command shell)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Using an HPC (high performance computing) cluster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Moving large files around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Using agentic coding agents effectively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"/>
          <p:cNvSpPr/>
          <p:nvPr/>
        </p:nvSpPr>
        <p:spPr>
          <a:xfrm>
            <a:off x="914400" y="685800"/>
            <a:ext cx="105152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 and R Studio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>
            <a:off x="914400" y="457200"/>
            <a:ext cx="7770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Using RStudio from OnDemand or from your laptop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"/>
          <p:cNvPicPr/>
          <p:nvPr/>
        </p:nvPicPr>
        <p:blipFill>
          <a:blip r:embed="rId1"/>
          <a:stretch/>
        </p:blipFill>
        <p:spPr>
          <a:xfrm>
            <a:off x="256320" y="276840"/>
            <a:ext cx="11755440" cy="6322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"/>
          <p:cNvPicPr/>
          <p:nvPr/>
        </p:nvPicPr>
        <p:blipFill>
          <a:blip r:embed="rId1"/>
          <a:stretch/>
        </p:blipFill>
        <p:spPr>
          <a:xfrm>
            <a:off x="243000" y="276840"/>
            <a:ext cx="11755440" cy="6322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"/>
          <p:cNvPicPr/>
          <p:nvPr/>
        </p:nvPicPr>
        <p:blipFill>
          <a:blip r:embed="rId1"/>
          <a:stretch/>
        </p:blipFill>
        <p:spPr>
          <a:xfrm>
            <a:off x="243000" y="117000"/>
            <a:ext cx="11755440" cy="6642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"/>
          <p:cNvPicPr/>
          <p:nvPr/>
        </p:nvPicPr>
        <p:blipFill>
          <a:blip r:embed="rId1"/>
          <a:stretch/>
        </p:blipFill>
        <p:spPr>
          <a:xfrm>
            <a:off x="243000" y="117000"/>
            <a:ext cx="11755440" cy="6642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"/>
          <p:cNvPicPr/>
          <p:nvPr/>
        </p:nvPicPr>
        <p:blipFill>
          <a:blip r:embed="rId1"/>
          <a:stretch/>
        </p:blipFill>
        <p:spPr>
          <a:xfrm>
            <a:off x="243000" y="117000"/>
            <a:ext cx="11755440" cy="664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"/>
          <p:cNvSpPr/>
          <p:nvPr/>
        </p:nvSpPr>
        <p:spPr>
          <a:xfrm>
            <a:off x="685800" y="4572000"/>
            <a:ext cx="6399360" cy="16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This is the “console”, running an R programming language interpreter in a “read-eval-print loop”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Show examples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"/>
          <p:cNvPicPr/>
          <p:nvPr/>
        </p:nvPicPr>
        <p:blipFill>
          <a:blip r:embed="rId1"/>
          <a:stretch/>
        </p:blipFill>
        <p:spPr>
          <a:xfrm>
            <a:off x="105120" y="525240"/>
            <a:ext cx="10148400" cy="578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"/>
          <p:cNvSpPr/>
          <p:nvPr/>
        </p:nvSpPr>
        <p:spPr>
          <a:xfrm>
            <a:off x="105120" y="5029200"/>
            <a:ext cx="2055960" cy="91296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2286000" y="5373000"/>
            <a:ext cx="411336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What folder am I in?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getwd – get working directory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R function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"/>
          <p:cNvPicPr/>
          <p:nvPr/>
        </p:nvPicPr>
        <p:blipFill>
          <a:blip r:embed="rId1"/>
          <a:stretch/>
        </p:blipFill>
        <p:spPr>
          <a:xfrm>
            <a:off x="25920" y="576360"/>
            <a:ext cx="10056960" cy="557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"/>
          <p:cNvSpPr/>
          <p:nvPr/>
        </p:nvSpPr>
        <p:spPr>
          <a:xfrm>
            <a:off x="105480" y="5029200"/>
            <a:ext cx="2055960" cy="91296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2286000" y="4800600"/>
            <a:ext cx="411336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setwd(“src”) =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Set working directory src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Then getwd – get working directory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7315200" y="4034160"/>
            <a:ext cx="41133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But no change here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"/>
          <p:cNvPicPr/>
          <p:nvPr/>
        </p:nvPicPr>
        <p:blipFill>
          <a:blip r:embed="rId1"/>
          <a:stretch/>
        </p:blipFill>
        <p:spPr>
          <a:xfrm>
            <a:off x="25920" y="576360"/>
            <a:ext cx="10056960" cy="557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"/>
          <p:cNvSpPr/>
          <p:nvPr/>
        </p:nvSpPr>
        <p:spPr>
          <a:xfrm>
            <a:off x="105480" y="5029200"/>
            <a:ext cx="2055960" cy="91296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2286000" y="4800600"/>
            <a:ext cx="411336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setwd(“src”) =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Set working directory src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Then getwd – get working directory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7315200" y="4034160"/>
            <a:ext cx="41133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But no change here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914400" y="804960"/>
            <a:ext cx="912960" cy="33660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"/>
          <p:cNvPicPr/>
          <p:nvPr/>
        </p:nvPicPr>
        <p:blipFill>
          <a:blip r:embed="rId1"/>
          <a:stretch/>
        </p:blipFill>
        <p:spPr>
          <a:xfrm>
            <a:off x="25920" y="576360"/>
            <a:ext cx="10056960" cy="557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"/>
          <p:cNvSpPr/>
          <p:nvPr/>
        </p:nvSpPr>
        <p:spPr>
          <a:xfrm>
            <a:off x="5943600" y="2971800"/>
            <a:ext cx="912960" cy="33660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6400800" y="4034160"/>
            <a:ext cx="411336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Show how to create new folder / navigate in the files tab, and then  make that the working directory in the R console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"/>
          <p:cNvPicPr/>
          <p:nvPr/>
        </p:nvPicPr>
        <p:blipFill>
          <a:blip r:embed="rId1"/>
          <a:stretch/>
        </p:blipFill>
        <p:spPr>
          <a:xfrm>
            <a:off x="243000" y="117000"/>
            <a:ext cx="11755440" cy="664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" name=""/>
          <p:cNvSpPr/>
          <p:nvPr/>
        </p:nvSpPr>
        <p:spPr>
          <a:xfrm>
            <a:off x="1828800" y="2743200"/>
            <a:ext cx="411336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Terminal is running bash; continue with orientation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2286000" y="1574280"/>
            <a:ext cx="411336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FF00FF"/>
                </a:solidFill>
                <a:effectLst/>
                <a:uFillTx/>
                <a:latin typeface="Arial"/>
              </a:rPr>
              <a:t>What folder am I in (pwd – print working directory) bash function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228600" y="1143000"/>
            <a:ext cx="2055960" cy="912960"/>
          </a:xfrm>
          <a:prstGeom prst="rect">
            <a:avLst/>
          </a:prstGeom>
          <a:noFill/>
          <a:ln w="54720">
            <a:solidFill>
              <a:srgbClr val="FF0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>
            <a:off x="685800" y="286560"/>
            <a:ext cx="1074312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Outline for the rest: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Setting up and running an AI coding assistant / examples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More on bash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Environment variables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PATH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Scripts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Executable bits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AI coding agents use bash a lot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>
            <a:off x="685800" y="286560"/>
            <a:ext cx="10743120" cy="50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Outline for the rest: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Variables and assignment and basic data types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“Built in” functions: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Reading 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Writing 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Working with data (data.frame, Tibble)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Basic statistics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User defined functions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Packages and how to find and use packages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CRAN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Bioconductor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Github / etc repos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Seurat / Bioconductor packages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Git/Github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Why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/>
          <p:nvPr/>
        </p:nvSpPr>
        <p:spPr>
          <a:xfrm>
            <a:off x="1143000" y="1143000"/>
            <a:ext cx="10057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 slides: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 compared to Python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09480" y="272520"/>
            <a:ext cx="10971360" cy="1145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Reference slides: R compared to Python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/>
          <p:cNvSpPr/>
          <p:nvPr/>
        </p:nvSpPr>
        <p:spPr>
          <a:xfrm>
            <a:off x="457200" y="274320"/>
            <a:ext cx="103298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1 · Single Values &amp; Vectors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"/>
          <p:cNvSpPr/>
          <p:nvPr/>
        </p:nvSpPr>
        <p:spPr>
          <a:xfrm>
            <a:off x="457200" y="822960"/>
            <a:ext cx="10421280" cy="30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The building blocks: one value, or many values that are all the same type.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"/>
          <p:cNvSpPr/>
          <p:nvPr/>
        </p:nvSpPr>
        <p:spPr>
          <a:xfrm>
            <a:off x="11036880" y="311040"/>
            <a:ext cx="381240" cy="38124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3000" cy="2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Shape 3"/>
          <p:cNvSpPr/>
          <p:nvPr/>
        </p:nvSpPr>
        <p:spPr>
          <a:xfrm>
            <a:off x="11494080" y="311040"/>
            <a:ext cx="381240" cy="38124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3000" cy="2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Shape 4"/>
          <p:cNvSpPr/>
          <p:nvPr/>
        </p:nvSpPr>
        <p:spPr>
          <a:xfrm>
            <a:off x="457200" y="1207080"/>
            <a:ext cx="5456160" cy="2237400"/>
          </a:xfrm>
          <a:prstGeom prst="roundRect">
            <a:avLst>
              <a:gd name="adj" fmla="val 2449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5"/>
          <p:cNvSpPr/>
          <p:nvPr/>
        </p:nvSpPr>
        <p:spPr>
          <a:xfrm>
            <a:off x="676800" y="1334880"/>
            <a:ext cx="5017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Single value (a “scalar”)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6"/>
          <p:cNvSpPr/>
          <p:nvPr/>
        </p:nvSpPr>
        <p:spPr>
          <a:xfrm>
            <a:off x="694800" y="1774080"/>
            <a:ext cx="399600" cy="3996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" name="Image 2" descr="preencoded.png"/>
          <p:cNvPicPr/>
          <p:nvPr/>
        </p:nvPicPr>
        <p:blipFill>
          <a:blip r:embed="rId3"/>
          <a:stretch/>
        </p:blipFill>
        <p:spPr>
          <a:xfrm>
            <a:off x="767520" y="184644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Text 7"/>
          <p:cNvSpPr/>
          <p:nvPr/>
        </p:nvSpPr>
        <p:spPr>
          <a:xfrm>
            <a:off x="1207080" y="1774080"/>
            <a:ext cx="44866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x &lt;- 3.14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8"/>
          <p:cNvSpPr/>
          <p:nvPr/>
        </p:nvSpPr>
        <p:spPr>
          <a:xfrm>
            <a:off x="694800" y="2249280"/>
            <a:ext cx="399600" cy="39960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3" descr="preencoded.png"/>
          <p:cNvPicPr/>
          <p:nvPr/>
        </p:nvPicPr>
        <p:blipFill>
          <a:blip r:embed="rId4"/>
          <a:stretch/>
        </p:blipFill>
        <p:spPr>
          <a:xfrm>
            <a:off x="767520" y="232200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9"/>
          <p:cNvSpPr/>
          <p:nvPr/>
        </p:nvSpPr>
        <p:spPr>
          <a:xfrm>
            <a:off x="1207080" y="2249280"/>
            <a:ext cx="44866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x = 3.14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0"/>
          <p:cNvSpPr/>
          <p:nvPr/>
        </p:nvSpPr>
        <p:spPr>
          <a:xfrm>
            <a:off x="713160" y="2779920"/>
            <a:ext cx="4943880" cy="55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No separate scalar type in R — it’s a vector of length 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11"/>
          <p:cNvSpPr/>
          <p:nvPr/>
        </p:nvSpPr>
        <p:spPr>
          <a:xfrm>
            <a:off x="6245280" y="1207080"/>
            <a:ext cx="5456160" cy="2237400"/>
          </a:xfrm>
          <a:prstGeom prst="roundRect">
            <a:avLst>
              <a:gd name="adj" fmla="val 2449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2"/>
          <p:cNvSpPr/>
          <p:nvPr/>
        </p:nvSpPr>
        <p:spPr>
          <a:xfrm>
            <a:off x="6464880" y="1334880"/>
            <a:ext cx="5017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Vector — many values, one type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13"/>
          <p:cNvSpPr/>
          <p:nvPr/>
        </p:nvSpPr>
        <p:spPr>
          <a:xfrm>
            <a:off x="6483240" y="1774080"/>
            <a:ext cx="399600" cy="3996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4" name="Image 4" descr="preencoded.png"/>
          <p:cNvPicPr/>
          <p:nvPr/>
        </p:nvPicPr>
        <p:blipFill>
          <a:blip r:embed="rId5"/>
          <a:stretch/>
        </p:blipFill>
        <p:spPr>
          <a:xfrm>
            <a:off x="6555600" y="184644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Text 14"/>
          <p:cNvSpPr/>
          <p:nvPr/>
        </p:nvSpPr>
        <p:spPr>
          <a:xfrm>
            <a:off x="6995160" y="1774080"/>
            <a:ext cx="44866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c(10, 20, 30)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15"/>
          <p:cNvSpPr/>
          <p:nvPr/>
        </p:nvSpPr>
        <p:spPr>
          <a:xfrm>
            <a:off x="6483240" y="2249280"/>
            <a:ext cx="399600" cy="39960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7" name="Image 5" descr="preencoded.png"/>
          <p:cNvPicPr/>
          <p:nvPr/>
        </p:nvPicPr>
        <p:blipFill>
          <a:blip r:embed="rId6"/>
          <a:stretch/>
        </p:blipFill>
        <p:spPr>
          <a:xfrm>
            <a:off x="6555600" y="232200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 16"/>
          <p:cNvSpPr/>
          <p:nvPr/>
        </p:nvSpPr>
        <p:spPr>
          <a:xfrm>
            <a:off x="6995160" y="2249280"/>
            <a:ext cx="44866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np.array([10, 20, 30])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7"/>
          <p:cNvSpPr/>
          <p:nvPr/>
        </p:nvSpPr>
        <p:spPr>
          <a:xfrm>
            <a:off x="6501240" y="2779920"/>
            <a:ext cx="4943880" cy="55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R’s core structure. Every element must be the same type.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8"/>
          <p:cNvSpPr/>
          <p:nvPr/>
        </p:nvSpPr>
        <p:spPr>
          <a:xfrm>
            <a:off x="457200" y="3566160"/>
            <a:ext cx="5456160" cy="2237400"/>
          </a:xfrm>
          <a:prstGeom prst="roundRect">
            <a:avLst>
              <a:gd name="adj" fmla="val 2449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9"/>
          <p:cNvSpPr/>
          <p:nvPr/>
        </p:nvSpPr>
        <p:spPr>
          <a:xfrm>
            <a:off x="676800" y="3694320"/>
            <a:ext cx="5017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Named vector (an R favorite)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20"/>
          <p:cNvSpPr/>
          <p:nvPr/>
        </p:nvSpPr>
        <p:spPr>
          <a:xfrm>
            <a:off x="694800" y="4133160"/>
            <a:ext cx="399600" cy="3996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3" name="Image 6" descr="preencoded.png"/>
          <p:cNvPicPr/>
          <p:nvPr/>
        </p:nvPicPr>
        <p:blipFill>
          <a:blip r:embed="rId7"/>
          <a:stretch/>
        </p:blipFill>
        <p:spPr>
          <a:xfrm>
            <a:off x="767520" y="420552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Text 21"/>
          <p:cNvSpPr/>
          <p:nvPr/>
        </p:nvSpPr>
        <p:spPr>
          <a:xfrm>
            <a:off x="1207080" y="4133160"/>
            <a:ext cx="44866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c(a = 10, b = 20)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22"/>
          <p:cNvSpPr/>
          <p:nvPr/>
        </p:nvSpPr>
        <p:spPr>
          <a:xfrm>
            <a:off x="694800" y="4608720"/>
            <a:ext cx="399600" cy="39960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6" name="Image 7" descr="preencoded.png"/>
          <p:cNvPicPr/>
          <p:nvPr/>
        </p:nvPicPr>
        <p:blipFill>
          <a:blip r:embed="rId8"/>
          <a:stretch/>
        </p:blipFill>
        <p:spPr>
          <a:xfrm>
            <a:off x="767520" y="468108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Text 23"/>
          <p:cNvSpPr/>
          <p:nvPr/>
        </p:nvSpPr>
        <p:spPr>
          <a:xfrm>
            <a:off x="1207080" y="4608720"/>
            <a:ext cx="44866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{"a": 10, "b": 20}</a:t>
            </a:r>
            <a:r>
              <a:rPr lang="en-US" sz="1400" b="0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  a dict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24"/>
          <p:cNvSpPr/>
          <p:nvPr/>
        </p:nvSpPr>
        <p:spPr>
          <a:xfrm>
            <a:off x="713160" y="5139000"/>
            <a:ext cx="4943880" cy="55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Each value has a label; grab it by name. Python uses a dict.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25"/>
          <p:cNvSpPr/>
          <p:nvPr/>
        </p:nvSpPr>
        <p:spPr>
          <a:xfrm>
            <a:off x="6245280" y="3566160"/>
            <a:ext cx="5456160" cy="2237400"/>
          </a:xfrm>
          <a:prstGeom prst="roundRect">
            <a:avLst>
              <a:gd name="adj" fmla="val 2449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6"/>
          <p:cNvSpPr/>
          <p:nvPr/>
        </p:nvSpPr>
        <p:spPr>
          <a:xfrm>
            <a:off x="6464880" y="3694320"/>
            <a:ext cx="50173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Factor — a vector for categories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7"/>
          <p:cNvSpPr/>
          <p:nvPr/>
        </p:nvSpPr>
        <p:spPr>
          <a:xfrm>
            <a:off x="6483240" y="4133160"/>
            <a:ext cx="399600" cy="3996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2" name="Image 8" descr="preencoded.png"/>
          <p:cNvPicPr/>
          <p:nvPr/>
        </p:nvPicPr>
        <p:blipFill>
          <a:blip r:embed="rId9"/>
          <a:stretch/>
        </p:blipFill>
        <p:spPr>
          <a:xfrm>
            <a:off x="6555600" y="420552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Text 28"/>
          <p:cNvSpPr/>
          <p:nvPr/>
        </p:nvSpPr>
        <p:spPr>
          <a:xfrm>
            <a:off x="6995160" y="4133160"/>
            <a:ext cx="44866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factor(c("low","high"))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9"/>
          <p:cNvSpPr/>
          <p:nvPr/>
        </p:nvSpPr>
        <p:spPr>
          <a:xfrm>
            <a:off x="6483240" y="4608720"/>
            <a:ext cx="399600" cy="39960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5" name="Image 9" descr="preencoded.png"/>
          <p:cNvPicPr/>
          <p:nvPr/>
        </p:nvPicPr>
        <p:blipFill>
          <a:blip r:embed="rId10"/>
          <a:stretch/>
        </p:blipFill>
        <p:spPr>
          <a:xfrm>
            <a:off x="6555600" y="468108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ext 30"/>
          <p:cNvSpPr/>
          <p:nvPr/>
        </p:nvSpPr>
        <p:spPr>
          <a:xfrm>
            <a:off x="6995160" y="4608720"/>
            <a:ext cx="44866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pd.Categorical(["low"])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31"/>
          <p:cNvSpPr/>
          <p:nvPr/>
        </p:nvSpPr>
        <p:spPr>
          <a:xfrm>
            <a:off x="6501240" y="5139000"/>
            <a:ext cx="4943880" cy="55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 vector for fixed categories — e.g. treatment vs control.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32"/>
          <p:cNvSpPr/>
          <p:nvPr/>
        </p:nvSpPr>
        <p:spPr>
          <a:xfrm>
            <a:off x="457200" y="5943600"/>
            <a:ext cx="11244240" cy="472680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9525">
            <a:solidFill>
              <a:srgbClr val="E1E7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33"/>
          <p:cNvSpPr/>
          <p:nvPr/>
        </p:nvSpPr>
        <p:spPr>
          <a:xfrm>
            <a:off x="658440" y="5943600"/>
            <a:ext cx="1087848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Basic types    </a:t>
            </a:r>
            <a:r>
              <a:rPr lang="en-US" sz="13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R: </a:t>
            </a:r>
            <a:r>
              <a:rPr lang="en-US" sz="125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numeric · integer · character · logical</a:t>
            </a:r>
            <a:r>
              <a:rPr lang="en-US" sz="13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      Python: </a:t>
            </a:r>
            <a:r>
              <a:rPr lang="en-US" sz="125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float · int · str · bool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34"/>
          <p:cNvSpPr/>
          <p:nvPr/>
        </p:nvSpPr>
        <p:spPr>
          <a:xfrm>
            <a:off x="10881360" y="6537960"/>
            <a:ext cx="82008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1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 0"/>
          <p:cNvSpPr/>
          <p:nvPr/>
        </p:nvSpPr>
        <p:spPr>
          <a:xfrm>
            <a:off x="457200" y="274320"/>
            <a:ext cx="103298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2 · Lists, Dictionaries &amp; Arrays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"/>
          <p:cNvSpPr/>
          <p:nvPr/>
        </p:nvSpPr>
        <p:spPr>
          <a:xfrm>
            <a:off x="457200" y="822960"/>
            <a:ext cx="10421280" cy="30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Mixing types, labelling items, and working with grids of numbers.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2"/>
          <p:cNvSpPr/>
          <p:nvPr/>
        </p:nvSpPr>
        <p:spPr>
          <a:xfrm>
            <a:off x="11036880" y="311040"/>
            <a:ext cx="381240" cy="38124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3000" cy="2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Shape 3"/>
          <p:cNvSpPr/>
          <p:nvPr/>
        </p:nvSpPr>
        <p:spPr>
          <a:xfrm>
            <a:off x="11494080" y="311040"/>
            <a:ext cx="381240" cy="38124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6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3000" cy="2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Shape 4"/>
          <p:cNvSpPr/>
          <p:nvPr/>
        </p:nvSpPr>
        <p:spPr>
          <a:xfrm>
            <a:off x="457200" y="1207080"/>
            <a:ext cx="5300640" cy="2328840"/>
          </a:xfrm>
          <a:prstGeom prst="roundRect">
            <a:avLst>
              <a:gd name="adj" fmla="val 2353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5"/>
          <p:cNvSpPr/>
          <p:nvPr/>
        </p:nvSpPr>
        <p:spPr>
          <a:xfrm>
            <a:off x="676800" y="1334880"/>
            <a:ext cx="48618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List — a mixed bag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6"/>
          <p:cNvSpPr/>
          <p:nvPr/>
        </p:nvSpPr>
        <p:spPr>
          <a:xfrm>
            <a:off x="694800" y="1774080"/>
            <a:ext cx="399600" cy="3996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" name="Image 2" descr="preencoded.png"/>
          <p:cNvPicPr/>
          <p:nvPr/>
        </p:nvPicPr>
        <p:blipFill>
          <a:blip r:embed="rId3"/>
          <a:stretch/>
        </p:blipFill>
        <p:spPr>
          <a:xfrm>
            <a:off x="767520" y="184644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 7"/>
          <p:cNvSpPr/>
          <p:nvPr/>
        </p:nvSpPr>
        <p:spPr>
          <a:xfrm>
            <a:off x="1207080" y="1774080"/>
            <a:ext cx="43315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list(1, "two", TRUE)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8"/>
          <p:cNvSpPr/>
          <p:nvPr/>
        </p:nvSpPr>
        <p:spPr>
          <a:xfrm>
            <a:off x="694800" y="2249280"/>
            <a:ext cx="399600" cy="39960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" name="Image 3" descr="preencoded.png"/>
          <p:cNvPicPr/>
          <p:nvPr/>
        </p:nvPicPr>
        <p:blipFill>
          <a:blip r:embed="rId4"/>
          <a:stretch/>
        </p:blipFill>
        <p:spPr>
          <a:xfrm>
            <a:off x="767520" y="232200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 9"/>
          <p:cNvSpPr/>
          <p:nvPr/>
        </p:nvSpPr>
        <p:spPr>
          <a:xfrm>
            <a:off x="1207080" y="2249280"/>
            <a:ext cx="43315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[1, "two", True]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0"/>
          <p:cNvSpPr/>
          <p:nvPr/>
        </p:nvSpPr>
        <p:spPr>
          <a:xfrm>
            <a:off x="713160" y="2779920"/>
            <a:ext cx="478872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 list can mix types — and even hold other lists inside.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1"/>
          <p:cNvSpPr/>
          <p:nvPr/>
        </p:nvSpPr>
        <p:spPr>
          <a:xfrm>
            <a:off x="457200" y="3657600"/>
            <a:ext cx="5300640" cy="2328840"/>
          </a:xfrm>
          <a:prstGeom prst="roundRect">
            <a:avLst>
              <a:gd name="adj" fmla="val 2353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2"/>
          <p:cNvSpPr/>
          <p:nvPr/>
        </p:nvSpPr>
        <p:spPr>
          <a:xfrm>
            <a:off x="676800" y="3785760"/>
            <a:ext cx="48618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Named list  /  Dictionary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13"/>
          <p:cNvSpPr/>
          <p:nvPr/>
        </p:nvSpPr>
        <p:spPr>
          <a:xfrm>
            <a:off x="694800" y="4224600"/>
            <a:ext cx="399600" cy="3996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" name="Image 4" descr="preencoded.png"/>
          <p:cNvPicPr/>
          <p:nvPr/>
        </p:nvPicPr>
        <p:blipFill>
          <a:blip r:embed="rId5"/>
          <a:stretch/>
        </p:blipFill>
        <p:spPr>
          <a:xfrm>
            <a:off x="767520" y="429696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Text 14"/>
          <p:cNvSpPr/>
          <p:nvPr/>
        </p:nvSpPr>
        <p:spPr>
          <a:xfrm>
            <a:off x="1207080" y="4224600"/>
            <a:ext cx="43315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list(name="Ada")</a:t>
            </a:r>
            <a:r>
              <a:rPr lang="en-US" sz="1400" b="0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  → x$name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5"/>
          <p:cNvSpPr/>
          <p:nvPr/>
        </p:nvSpPr>
        <p:spPr>
          <a:xfrm>
            <a:off x="694800" y="4700160"/>
            <a:ext cx="399600" cy="39960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2" name="Image 5" descr="preencoded.png"/>
          <p:cNvPicPr/>
          <p:nvPr/>
        </p:nvPicPr>
        <p:blipFill>
          <a:blip r:embed="rId6"/>
          <a:stretch/>
        </p:blipFill>
        <p:spPr>
          <a:xfrm>
            <a:off x="767520" y="477252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 16"/>
          <p:cNvSpPr/>
          <p:nvPr/>
        </p:nvSpPr>
        <p:spPr>
          <a:xfrm>
            <a:off x="1207080" y="4700160"/>
            <a:ext cx="43315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{"name":"Ada"}</a:t>
            </a:r>
            <a:r>
              <a:rPr lang="en-US" sz="1400" b="0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  → x["name"]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7"/>
          <p:cNvSpPr/>
          <p:nvPr/>
        </p:nvSpPr>
        <p:spPr>
          <a:xfrm>
            <a:off x="713160" y="5230440"/>
            <a:ext cx="478872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Label each item. An R named list ≈ a Python dict.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8"/>
          <p:cNvSpPr/>
          <p:nvPr/>
        </p:nvSpPr>
        <p:spPr>
          <a:xfrm>
            <a:off x="5897880" y="1207080"/>
            <a:ext cx="5803560" cy="1990440"/>
          </a:xfrm>
          <a:prstGeom prst="roundRect">
            <a:avLst>
              <a:gd name="adj" fmla="val 2752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9"/>
          <p:cNvSpPr/>
          <p:nvPr/>
        </p:nvSpPr>
        <p:spPr>
          <a:xfrm>
            <a:off x="6117480" y="1334880"/>
            <a:ext cx="53647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Matrix / Array — a grid of numbers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20"/>
          <p:cNvSpPr/>
          <p:nvPr/>
        </p:nvSpPr>
        <p:spPr>
          <a:xfrm>
            <a:off x="6135480" y="1774080"/>
            <a:ext cx="399600" cy="3996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8" name="Image 6" descr="preencoded.png"/>
          <p:cNvPicPr/>
          <p:nvPr/>
        </p:nvPicPr>
        <p:blipFill>
          <a:blip r:embed="rId7"/>
          <a:stretch/>
        </p:blipFill>
        <p:spPr>
          <a:xfrm>
            <a:off x="6208200" y="184644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" name="Text 21"/>
          <p:cNvSpPr/>
          <p:nvPr/>
        </p:nvSpPr>
        <p:spPr>
          <a:xfrm>
            <a:off x="6647760" y="1774080"/>
            <a:ext cx="48344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matrix(1:6, nrow=2)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22"/>
          <p:cNvSpPr/>
          <p:nvPr/>
        </p:nvSpPr>
        <p:spPr>
          <a:xfrm>
            <a:off x="6135480" y="2249280"/>
            <a:ext cx="399600" cy="39960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1" name="Image 7" descr="preencoded.png"/>
          <p:cNvPicPr/>
          <p:nvPr/>
        </p:nvPicPr>
        <p:blipFill>
          <a:blip r:embed="rId8"/>
          <a:stretch/>
        </p:blipFill>
        <p:spPr>
          <a:xfrm>
            <a:off x="6208200" y="232200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Text 23"/>
          <p:cNvSpPr/>
          <p:nvPr/>
        </p:nvSpPr>
        <p:spPr>
          <a:xfrm>
            <a:off x="6647760" y="2249280"/>
            <a:ext cx="48344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np.array([[1,2,3],[4,5,6]])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24"/>
          <p:cNvSpPr/>
          <p:nvPr/>
        </p:nvSpPr>
        <p:spPr>
          <a:xfrm>
            <a:off x="6153840" y="2779920"/>
            <a:ext cx="5291640" cy="30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Same type, in rows × columns.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25"/>
          <p:cNvSpPr/>
          <p:nvPr/>
        </p:nvSpPr>
        <p:spPr>
          <a:xfrm>
            <a:off x="5897880" y="3319200"/>
            <a:ext cx="5803560" cy="2667240"/>
          </a:xfrm>
          <a:prstGeom prst="roundRect">
            <a:avLst>
              <a:gd name="adj" fmla="val 2055"/>
            </a:avLst>
          </a:prstGeom>
          <a:solidFill>
            <a:srgbClr val="EFF6FB"/>
          </a:solidFill>
          <a:ln w="9525">
            <a:solidFill>
              <a:srgbClr val="CFE0EE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6117480" y="3429000"/>
            <a:ext cx="536472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NumPy broadcasting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6117480" y="3822120"/>
            <a:ext cx="5364720" cy="56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When arrays have different shapes, NumPy stretches the smaller one to fit — without copying any data.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28"/>
          <p:cNvSpPr/>
          <p:nvPr/>
        </p:nvSpPr>
        <p:spPr>
          <a:xfrm>
            <a:off x="6117480" y="4617720"/>
            <a:ext cx="454320" cy="454320"/>
          </a:xfrm>
          <a:prstGeom prst="roundRect">
            <a:avLst>
              <a:gd name="adj" fmla="val 10000"/>
            </a:avLst>
          </a:prstGeom>
          <a:solidFill>
            <a:srgbClr val="DCEAF6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9"/>
          <p:cNvSpPr/>
          <p:nvPr/>
        </p:nvSpPr>
        <p:spPr>
          <a:xfrm>
            <a:off x="6117480" y="4617720"/>
            <a:ext cx="45432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30"/>
          <p:cNvSpPr/>
          <p:nvPr/>
        </p:nvSpPr>
        <p:spPr>
          <a:xfrm>
            <a:off x="6629400" y="4617720"/>
            <a:ext cx="454320" cy="454320"/>
          </a:xfrm>
          <a:prstGeom prst="roundRect">
            <a:avLst>
              <a:gd name="adj" fmla="val 10000"/>
            </a:avLst>
          </a:prstGeom>
          <a:solidFill>
            <a:srgbClr val="DCEAF6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31"/>
          <p:cNvSpPr/>
          <p:nvPr/>
        </p:nvSpPr>
        <p:spPr>
          <a:xfrm>
            <a:off x="6629400" y="4617720"/>
            <a:ext cx="45432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32"/>
          <p:cNvSpPr/>
          <p:nvPr/>
        </p:nvSpPr>
        <p:spPr>
          <a:xfrm>
            <a:off x="7141320" y="4617720"/>
            <a:ext cx="454320" cy="454320"/>
          </a:xfrm>
          <a:prstGeom prst="roundRect">
            <a:avLst>
              <a:gd name="adj" fmla="val 10000"/>
            </a:avLst>
          </a:prstGeom>
          <a:solidFill>
            <a:srgbClr val="DCEAF6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33"/>
          <p:cNvSpPr/>
          <p:nvPr/>
        </p:nvSpPr>
        <p:spPr>
          <a:xfrm>
            <a:off x="7141320" y="4617720"/>
            <a:ext cx="45432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34"/>
          <p:cNvSpPr/>
          <p:nvPr/>
        </p:nvSpPr>
        <p:spPr>
          <a:xfrm>
            <a:off x="7653600" y="4599360"/>
            <a:ext cx="32616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+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35"/>
          <p:cNvSpPr/>
          <p:nvPr/>
        </p:nvSpPr>
        <p:spPr>
          <a:xfrm>
            <a:off x="8019360" y="4617720"/>
            <a:ext cx="454320" cy="454320"/>
          </a:xfrm>
          <a:prstGeom prst="roundRect">
            <a:avLst>
              <a:gd name="adj" fmla="val 10000"/>
            </a:avLst>
          </a:prstGeom>
          <a:solidFill>
            <a:srgbClr val="FBE9CF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36"/>
          <p:cNvSpPr/>
          <p:nvPr/>
        </p:nvSpPr>
        <p:spPr>
          <a:xfrm>
            <a:off x="8019360" y="4617720"/>
            <a:ext cx="45432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37"/>
          <p:cNvSpPr/>
          <p:nvPr/>
        </p:nvSpPr>
        <p:spPr>
          <a:xfrm>
            <a:off x="8531280" y="4617720"/>
            <a:ext cx="454320" cy="454320"/>
          </a:xfrm>
          <a:prstGeom prst="roundRect">
            <a:avLst>
              <a:gd name="adj" fmla="val 10000"/>
            </a:avLst>
          </a:prstGeom>
          <a:solidFill>
            <a:srgbClr val="FBE9CF">
              <a:alpha val="55000"/>
            </a:srgbClr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38"/>
          <p:cNvSpPr/>
          <p:nvPr/>
        </p:nvSpPr>
        <p:spPr>
          <a:xfrm>
            <a:off x="8531280" y="4617720"/>
            <a:ext cx="45432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AA0B5"/>
                </a:solidFill>
                <a:effectLst/>
                <a:uFillTx/>
                <a:latin typeface="Courier New"/>
                <a:ea typeface="Courier New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39"/>
          <p:cNvSpPr/>
          <p:nvPr/>
        </p:nvSpPr>
        <p:spPr>
          <a:xfrm>
            <a:off x="9043560" y="4617720"/>
            <a:ext cx="454320" cy="454320"/>
          </a:xfrm>
          <a:prstGeom prst="roundRect">
            <a:avLst>
              <a:gd name="adj" fmla="val 10000"/>
            </a:avLst>
          </a:prstGeom>
          <a:solidFill>
            <a:srgbClr val="FBE9CF">
              <a:alpha val="55000"/>
            </a:srgbClr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40"/>
          <p:cNvSpPr/>
          <p:nvPr/>
        </p:nvSpPr>
        <p:spPr>
          <a:xfrm>
            <a:off x="9043560" y="4617720"/>
            <a:ext cx="45432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AA0B5"/>
                </a:solidFill>
                <a:effectLst/>
                <a:uFillTx/>
                <a:latin typeface="Courier New"/>
                <a:ea typeface="Courier New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41"/>
          <p:cNvSpPr/>
          <p:nvPr/>
        </p:nvSpPr>
        <p:spPr>
          <a:xfrm>
            <a:off x="9555480" y="4599360"/>
            <a:ext cx="32616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=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42"/>
          <p:cNvSpPr/>
          <p:nvPr/>
        </p:nvSpPr>
        <p:spPr>
          <a:xfrm>
            <a:off x="9921240" y="4617720"/>
            <a:ext cx="454320" cy="454320"/>
          </a:xfrm>
          <a:prstGeom prst="roundRect">
            <a:avLst>
              <a:gd name="adj" fmla="val 10000"/>
            </a:avLst>
          </a:prstGeom>
          <a:solidFill>
            <a:srgbClr val="D7EAD9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43"/>
          <p:cNvSpPr/>
          <p:nvPr/>
        </p:nvSpPr>
        <p:spPr>
          <a:xfrm>
            <a:off x="9921240" y="4617720"/>
            <a:ext cx="45432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F5C2E"/>
                </a:solidFill>
                <a:effectLst/>
                <a:uFillTx/>
                <a:latin typeface="Courier New"/>
                <a:ea typeface="Courier New"/>
              </a:rPr>
              <a:t>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44"/>
          <p:cNvSpPr/>
          <p:nvPr/>
        </p:nvSpPr>
        <p:spPr>
          <a:xfrm>
            <a:off x="10433160" y="4617720"/>
            <a:ext cx="454320" cy="454320"/>
          </a:xfrm>
          <a:prstGeom prst="roundRect">
            <a:avLst>
              <a:gd name="adj" fmla="val 10000"/>
            </a:avLst>
          </a:prstGeom>
          <a:solidFill>
            <a:srgbClr val="D7EAD9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45"/>
          <p:cNvSpPr/>
          <p:nvPr/>
        </p:nvSpPr>
        <p:spPr>
          <a:xfrm>
            <a:off x="10433160" y="4617720"/>
            <a:ext cx="45432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F5C2E"/>
                </a:solidFill>
                <a:effectLst/>
                <a:uFillTx/>
                <a:latin typeface="Courier New"/>
                <a:ea typeface="Courier New"/>
              </a:rPr>
              <a:t>12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46"/>
          <p:cNvSpPr/>
          <p:nvPr/>
        </p:nvSpPr>
        <p:spPr>
          <a:xfrm>
            <a:off x="10945440" y="4617720"/>
            <a:ext cx="454320" cy="454320"/>
          </a:xfrm>
          <a:prstGeom prst="roundRect">
            <a:avLst>
              <a:gd name="adj" fmla="val 10000"/>
            </a:avLst>
          </a:prstGeom>
          <a:solidFill>
            <a:srgbClr val="D7EAD9"/>
          </a:solidFill>
          <a:ln w="9525">
            <a:solidFill>
              <a:srgbClr val="B9CB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47"/>
          <p:cNvSpPr/>
          <p:nvPr/>
        </p:nvSpPr>
        <p:spPr>
          <a:xfrm>
            <a:off x="10945440" y="4617720"/>
            <a:ext cx="45432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F5C2E"/>
                </a:solidFill>
                <a:effectLst/>
                <a:uFillTx/>
                <a:latin typeface="Courier New"/>
                <a:ea typeface="Courier New"/>
              </a:rPr>
              <a:t>13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48"/>
          <p:cNvSpPr/>
          <p:nvPr/>
        </p:nvSpPr>
        <p:spPr>
          <a:xfrm>
            <a:off x="6117480" y="5257800"/>
            <a:ext cx="53647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np.array([1,2,3]) + 10</a:t>
            </a:r>
            <a:r>
              <a:rPr lang="en-US" sz="1350" b="0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   → the 10 is added to every element.  </a:t>
            </a:r>
            <a:r>
              <a:rPr lang="en-US" sz="135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R calls this “recycling.”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49"/>
          <p:cNvSpPr/>
          <p:nvPr/>
        </p:nvSpPr>
        <p:spPr>
          <a:xfrm>
            <a:off x="10881360" y="6537960"/>
            <a:ext cx="82008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2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 0"/>
          <p:cNvSpPr/>
          <p:nvPr/>
        </p:nvSpPr>
        <p:spPr>
          <a:xfrm>
            <a:off x="457200" y="274320"/>
            <a:ext cx="103298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3 · Tables: data.frame, tibble &amp; DataFrame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"/>
          <p:cNvSpPr/>
          <p:nvPr/>
        </p:nvSpPr>
        <p:spPr>
          <a:xfrm>
            <a:off x="457200" y="822960"/>
            <a:ext cx="10421280" cy="30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Rows and columns — the format you’ll use most for real data.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"/>
          <p:cNvSpPr/>
          <p:nvPr/>
        </p:nvSpPr>
        <p:spPr>
          <a:xfrm>
            <a:off x="11036880" y="311040"/>
            <a:ext cx="381240" cy="38124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2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3000" cy="2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Shape 3"/>
          <p:cNvSpPr/>
          <p:nvPr/>
        </p:nvSpPr>
        <p:spPr>
          <a:xfrm>
            <a:off x="11494080" y="311040"/>
            <a:ext cx="381240" cy="38124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4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3000" cy="2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Text 4"/>
          <p:cNvSpPr/>
          <p:nvPr/>
        </p:nvSpPr>
        <p:spPr>
          <a:xfrm>
            <a:off x="457200" y="1097280"/>
            <a:ext cx="1124424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Every object below stores data as rows × columns, like this: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6" name="Table 0"/>
          <p:cNvGraphicFramePr/>
          <p:nvPr/>
        </p:nvGraphicFramePr>
        <p:xfrm>
          <a:off x="3840480" y="1371600"/>
          <a:ext cx="4480200" cy="131616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1463040"/>
              </a:tblGrid>
              <a:tr h="3290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sample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gene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expr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1E2A44"/>
                    </a:solidFill>
                  </a:tcPr>
                </a:tc>
              </a:tr>
              <a:tr h="3290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TP53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5.2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EGFR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8.1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MYC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37415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6.7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7" name="Shape 5"/>
          <p:cNvSpPr/>
          <p:nvPr/>
        </p:nvSpPr>
        <p:spPr>
          <a:xfrm>
            <a:off x="457200" y="2853000"/>
            <a:ext cx="5483520" cy="435960"/>
          </a:xfrm>
          <a:prstGeom prst="roundRect">
            <a:avLst>
              <a:gd name="adj" fmla="val 12500"/>
            </a:avLst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6"/>
          <p:cNvSpPr/>
          <p:nvPr/>
        </p:nvSpPr>
        <p:spPr>
          <a:xfrm>
            <a:off x="585360" y="2917080"/>
            <a:ext cx="308160" cy="30816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9" name="Image 2" descr="preencoded.png"/>
          <p:cNvPicPr/>
          <p:nvPr/>
        </p:nvPicPr>
        <p:blipFill>
          <a:blip r:embed="rId3"/>
          <a:stretch/>
        </p:blipFill>
        <p:spPr>
          <a:xfrm>
            <a:off x="641160" y="2972880"/>
            <a:ext cx="196200" cy="19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Text 7"/>
          <p:cNvSpPr/>
          <p:nvPr/>
        </p:nvSpPr>
        <p:spPr>
          <a:xfrm>
            <a:off x="987480" y="2853000"/>
            <a:ext cx="484344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 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8"/>
          <p:cNvSpPr/>
          <p:nvPr/>
        </p:nvSpPr>
        <p:spPr>
          <a:xfrm>
            <a:off x="457200" y="3401640"/>
            <a:ext cx="5483520" cy="957240"/>
          </a:xfrm>
          <a:prstGeom prst="roundRect">
            <a:avLst>
              <a:gd name="adj" fmla="val 571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9"/>
          <p:cNvSpPr/>
          <p:nvPr/>
        </p:nvSpPr>
        <p:spPr>
          <a:xfrm>
            <a:off x="640080" y="3493080"/>
            <a:ext cx="51177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data.frame   </a:t>
            </a:r>
            <a:r>
              <a:rPr lang="en-US" sz="13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data.frame(gene=…)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0"/>
          <p:cNvSpPr/>
          <p:nvPr/>
        </p:nvSpPr>
        <p:spPr>
          <a:xfrm>
            <a:off x="640080" y="3904560"/>
            <a:ext cx="5117760" cy="3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Base R’s classic table; columns may differ in type.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11"/>
          <p:cNvSpPr/>
          <p:nvPr/>
        </p:nvSpPr>
        <p:spPr>
          <a:xfrm>
            <a:off x="457200" y="4471560"/>
            <a:ext cx="5483520" cy="957240"/>
          </a:xfrm>
          <a:prstGeom prst="roundRect">
            <a:avLst>
              <a:gd name="adj" fmla="val 571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2"/>
          <p:cNvSpPr/>
          <p:nvPr/>
        </p:nvSpPr>
        <p:spPr>
          <a:xfrm>
            <a:off x="640080" y="4563000"/>
            <a:ext cx="51177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tibble   </a:t>
            </a:r>
            <a:r>
              <a:rPr lang="en-US" sz="13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tibble(gene=…)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3"/>
          <p:cNvSpPr/>
          <p:nvPr/>
        </p:nvSpPr>
        <p:spPr>
          <a:xfrm>
            <a:off x="640080" y="4974480"/>
            <a:ext cx="5117760" cy="3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Tidyverse table — cleaner, stricter, keeps text as text.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14"/>
          <p:cNvSpPr/>
          <p:nvPr/>
        </p:nvSpPr>
        <p:spPr>
          <a:xfrm>
            <a:off x="457200" y="5541120"/>
            <a:ext cx="5483520" cy="957240"/>
          </a:xfrm>
          <a:prstGeom prst="roundRect">
            <a:avLst>
              <a:gd name="adj" fmla="val 571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5"/>
          <p:cNvSpPr/>
          <p:nvPr/>
        </p:nvSpPr>
        <p:spPr>
          <a:xfrm>
            <a:off x="640080" y="5632560"/>
            <a:ext cx="51177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data.table   </a:t>
            </a:r>
            <a:r>
              <a:rPr lang="en-US" sz="13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data.table(gene=…)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6"/>
          <p:cNvSpPr/>
          <p:nvPr/>
        </p:nvSpPr>
        <p:spPr>
          <a:xfrm>
            <a:off x="640080" y="6044040"/>
            <a:ext cx="5117760" cy="3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Built for speed on big data: DT[i, j, by].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17"/>
          <p:cNvSpPr/>
          <p:nvPr/>
        </p:nvSpPr>
        <p:spPr>
          <a:xfrm>
            <a:off x="6217920" y="2853000"/>
            <a:ext cx="5483520" cy="435960"/>
          </a:xfrm>
          <a:prstGeom prst="roundRect">
            <a:avLst>
              <a:gd name="adj" fmla="val 12500"/>
            </a:avLst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18"/>
          <p:cNvSpPr/>
          <p:nvPr/>
        </p:nvSpPr>
        <p:spPr>
          <a:xfrm>
            <a:off x="6346080" y="2917080"/>
            <a:ext cx="308160" cy="30816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2" name="Image 3" descr="preencoded.png"/>
          <p:cNvPicPr/>
          <p:nvPr/>
        </p:nvPicPr>
        <p:blipFill>
          <a:blip r:embed="rId4"/>
          <a:stretch/>
        </p:blipFill>
        <p:spPr>
          <a:xfrm>
            <a:off x="6401880" y="2972880"/>
            <a:ext cx="196200" cy="19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" name="Text 19"/>
          <p:cNvSpPr/>
          <p:nvPr/>
        </p:nvSpPr>
        <p:spPr>
          <a:xfrm>
            <a:off x="6748200" y="2853000"/>
            <a:ext cx="484344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 Python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20"/>
          <p:cNvSpPr/>
          <p:nvPr/>
        </p:nvSpPr>
        <p:spPr>
          <a:xfrm>
            <a:off x="6217920" y="3401640"/>
            <a:ext cx="5483520" cy="957240"/>
          </a:xfrm>
          <a:prstGeom prst="roundRect">
            <a:avLst>
              <a:gd name="adj" fmla="val 5714"/>
            </a:avLst>
          </a:prstGeom>
          <a:solidFill>
            <a:srgbClr val="FBF1E1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1"/>
          <p:cNvSpPr/>
          <p:nvPr/>
        </p:nvSpPr>
        <p:spPr>
          <a:xfrm>
            <a:off x="6400800" y="3493080"/>
            <a:ext cx="51177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pandas.DataFrame   </a:t>
            </a:r>
            <a:r>
              <a:rPr lang="en-US" sz="130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pd.DataFrame(…)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2"/>
          <p:cNvSpPr/>
          <p:nvPr/>
        </p:nvSpPr>
        <p:spPr>
          <a:xfrm>
            <a:off x="6400800" y="3904560"/>
            <a:ext cx="5117760" cy="3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The everyday Python table — matches all three at left.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23"/>
          <p:cNvSpPr/>
          <p:nvPr/>
        </p:nvSpPr>
        <p:spPr>
          <a:xfrm>
            <a:off x="6217920" y="4471560"/>
            <a:ext cx="5483520" cy="957240"/>
          </a:xfrm>
          <a:prstGeom prst="roundRect">
            <a:avLst>
              <a:gd name="adj" fmla="val 5714"/>
            </a:avLst>
          </a:prstGeom>
          <a:solidFill>
            <a:srgbClr val="FBF1E1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24"/>
          <p:cNvSpPr/>
          <p:nvPr/>
        </p:nvSpPr>
        <p:spPr>
          <a:xfrm>
            <a:off x="6400800" y="4563000"/>
            <a:ext cx="511776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44"/>
                </a:solidFill>
                <a:effectLst/>
                <a:uFillTx/>
                <a:latin typeface="Courier New"/>
                <a:ea typeface="Courier New"/>
              </a:rPr>
              <a:t>polars.DataFrame   </a:t>
            </a:r>
            <a:r>
              <a:rPr lang="en-US" sz="130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pl.DataFrame(…)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25"/>
          <p:cNvSpPr/>
          <p:nvPr/>
        </p:nvSpPr>
        <p:spPr>
          <a:xfrm>
            <a:off x="6400800" y="4974480"/>
            <a:ext cx="5117760" cy="3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Fast, modern — Python’s answer to R’s data.table.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26"/>
          <p:cNvSpPr/>
          <p:nvPr/>
        </p:nvSpPr>
        <p:spPr>
          <a:xfrm>
            <a:off x="6217920" y="5541120"/>
            <a:ext cx="5483520" cy="957240"/>
          </a:xfrm>
          <a:prstGeom prst="roundRect">
            <a:avLst>
              <a:gd name="adj" fmla="val 5714"/>
            </a:avLst>
          </a:prstGeom>
          <a:solidFill>
            <a:srgbClr val="FEF6E7"/>
          </a:solidFill>
          <a:ln w="9525">
            <a:solidFill>
              <a:srgbClr val="F0DDB6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27"/>
          <p:cNvSpPr/>
          <p:nvPr/>
        </p:nvSpPr>
        <p:spPr>
          <a:xfrm>
            <a:off x="6400800" y="5541120"/>
            <a:ext cx="5117760" cy="9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C97E1A"/>
                </a:solidFill>
                <a:effectLst/>
                <a:uFillTx/>
                <a:latin typeface="Calibri"/>
                <a:ea typeface="Calibri"/>
              </a:rPr>
              <a:t>Rule of thumb:  </a:t>
            </a:r>
            <a:r>
              <a:rPr lang="en-US" sz="14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data.frame</a:t>
            </a:r>
            <a:r>
              <a:rPr lang="en-US" sz="14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 / </a:t>
            </a:r>
            <a:r>
              <a:rPr lang="en-US" sz="14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tibble</a:t>
            </a:r>
            <a:r>
              <a:rPr lang="en-US" sz="1400" b="1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 ≈ </a:t>
            </a:r>
            <a:r>
              <a:rPr lang="en-US" sz="140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pandas</a:t>
            </a:r>
            <a:r>
              <a:rPr lang="en-US" sz="1400" b="0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,  </a:t>
            </a:r>
            <a:r>
              <a:rPr lang="en-US" sz="1400" b="0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data.table</a:t>
            </a:r>
            <a:r>
              <a:rPr lang="en-US" sz="1400" b="1" u="none" strike="noStrike">
                <a:solidFill>
                  <a:srgbClr val="374151"/>
                </a:solidFill>
                <a:effectLst/>
                <a:uFillTx/>
                <a:latin typeface="Calibri"/>
                <a:ea typeface="Calibri"/>
              </a:rPr>
              <a:t> ≈ </a:t>
            </a:r>
            <a:r>
              <a:rPr lang="en-US" sz="1400" b="0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polars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8"/>
          <p:cNvSpPr/>
          <p:nvPr/>
        </p:nvSpPr>
        <p:spPr>
          <a:xfrm>
            <a:off x="10881360" y="6537960"/>
            <a:ext cx="82008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3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 0"/>
          <p:cNvSpPr/>
          <p:nvPr/>
        </p:nvSpPr>
        <p:spPr>
          <a:xfrm>
            <a:off x="457200" y="274320"/>
            <a:ext cx="103298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4 · Selecting Columns &amp; Rows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"/>
          <p:cNvSpPr/>
          <p:nvPr/>
        </p:nvSpPr>
        <p:spPr>
          <a:xfrm>
            <a:off x="457200" y="822960"/>
            <a:ext cx="10421280" cy="30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The two most common moves — pick the columns you want, keep the rows you want.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2"/>
          <p:cNvSpPr/>
          <p:nvPr/>
        </p:nvSpPr>
        <p:spPr>
          <a:xfrm>
            <a:off x="11036880" y="311040"/>
            <a:ext cx="381240" cy="38124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6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3000" cy="2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Shape 3"/>
          <p:cNvSpPr/>
          <p:nvPr/>
        </p:nvSpPr>
        <p:spPr>
          <a:xfrm>
            <a:off x="11494080" y="311040"/>
            <a:ext cx="381240" cy="38124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8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3000" cy="2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9" name="Shape 4"/>
          <p:cNvSpPr/>
          <p:nvPr/>
        </p:nvSpPr>
        <p:spPr>
          <a:xfrm>
            <a:off x="457200" y="1280160"/>
            <a:ext cx="11244240" cy="2392920"/>
          </a:xfrm>
          <a:prstGeom prst="roundRect">
            <a:avLst>
              <a:gd name="adj" fmla="val 2290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5"/>
          <p:cNvSpPr/>
          <p:nvPr/>
        </p:nvSpPr>
        <p:spPr>
          <a:xfrm>
            <a:off x="731520" y="1463040"/>
            <a:ext cx="454320" cy="4543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1" name="Image 2" descr="preencoded.png"/>
          <p:cNvPicPr/>
          <p:nvPr/>
        </p:nvPicPr>
        <p:blipFill>
          <a:blip r:embed="rId3"/>
          <a:stretch/>
        </p:blipFill>
        <p:spPr>
          <a:xfrm>
            <a:off x="834480" y="1566000"/>
            <a:ext cx="248760" cy="24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" name="Text 6"/>
          <p:cNvSpPr/>
          <p:nvPr/>
        </p:nvSpPr>
        <p:spPr>
          <a:xfrm>
            <a:off x="1353240" y="1463040"/>
            <a:ext cx="101469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Select columns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7"/>
          <p:cNvSpPr/>
          <p:nvPr/>
        </p:nvSpPr>
        <p:spPr>
          <a:xfrm>
            <a:off x="768240" y="2048400"/>
            <a:ext cx="399600" cy="3996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4" name="Image 3" descr="preencoded.png"/>
          <p:cNvPicPr/>
          <p:nvPr/>
        </p:nvPicPr>
        <p:blipFill>
          <a:blip r:embed="rId4"/>
          <a:stretch/>
        </p:blipFill>
        <p:spPr>
          <a:xfrm>
            <a:off x="840600" y="212076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Text 8"/>
          <p:cNvSpPr/>
          <p:nvPr/>
        </p:nvSpPr>
        <p:spPr>
          <a:xfrm>
            <a:off x="1280160" y="2048400"/>
            <a:ext cx="9115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dplyr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9"/>
          <p:cNvSpPr/>
          <p:nvPr/>
        </p:nvSpPr>
        <p:spPr>
          <a:xfrm>
            <a:off x="2240280" y="2048400"/>
            <a:ext cx="92325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 %&gt;% select(gene, expr)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0"/>
          <p:cNvSpPr/>
          <p:nvPr/>
        </p:nvSpPr>
        <p:spPr>
          <a:xfrm>
            <a:off x="768240" y="2578680"/>
            <a:ext cx="399600" cy="39960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" name="Image 4" descr="preencoded.png"/>
          <p:cNvPicPr/>
          <p:nvPr/>
        </p:nvPicPr>
        <p:blipFill>
          <a:blip r:embed="rId5"/>
          <a:stretch/>
        </p:blipFill>
        <p:spPr>
          <a:xfrm>
            <a:off x="840600" y="265104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Text 11"/>
          <p:cNvSpPr/>
          <p:nvPr/>
        </p:nvSpPr>
        <p:spPr>
          <a:xfrm>
            <a:off x="1280160" y="2578680"/>
            <a:ext cx="9115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pandas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2"/>
          <p:cNvSpPr/>
          <p:nvPr/>
        </p:nvSpPr>
        <p:spPr>
          <a:xfrm>
            <a:off x="2240280" y="2578680"/>
            <a:ext cx="92325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df[["gene", "expr"]]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3"/>
          <p:cNvSpPr/>
          <p:nvPr/>
        </p:nvSpPr>
        <p:spPr>
          <a:xfrm>
            <a:off x="786240" y="3090600"/>
            <a:ext cx="1060416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Keep only the columns you name.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4"/>
          <p:cNvSpPr/>
          <p:nvPr/>
        </p:nvSpPr>
        <p:spPr>
          <a:xfrm>
            <a:off x="786240" y="3383280"/>
            <a:ext cx="106041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8A94A0"/>
                </a:solidFill>
                <a:effectLst/>
                <a:uFillTx/>
                <a:latin typeface="Calibri"/>
                <a:ea typeface="Calibri"/>
              </a:rPr>
              <a:t>polars   </a:t>
            </a:r>
            <a:r>
              <a:rPr lang="en-US" sz="1400" b="0" u="none" strike="noStrike">
                <a:solidFill>
                  <a:srgbClr val="8A94A0"/>
                </a:solidFill>
                <a:effectLst/>
                <a:uFillTx/>
                <a:latin typeface="Courier New"/>
                <a:ea typeface="Courier New"/>
              </a:rPr>
              <a:t>df.select("gene", "expr")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15"/>
          <p:cNvSpPr/>
          <p:nvPr/>
        </p:nvSpPr>
        <p:spPr>
          <a:xfrm>
            <a:off x="457200" y="3822120"/>
            <a:ext cx="11244240" cy="2392920"/>
          </a:xfrm>
          <a:prstGeom prst="roundRect">
            <a:avLst>
              <a:gd name="adj" fmla="val 2290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16"/>
          <p:cNvSpPr/>
          <p:nvPr/>
        </p:nvSpPr>
        <p:spPr>
          <a:xfrm>
            <a:off x="731520" y="4005000"/>
            <a:ext cx="454320" cy="454320"/>
          </a:xfrm>
          <a:prstGeom prst="ellipse">
            <a:avLst/>
          </a:prstGeom>
          <a:solidFill>
            <a:srgbClr val="1F7A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5" name="Image 5" descr="preencoded.png"/>
          <p:cNvPicPr/>
          <p:nvPr/>
        </p:nvPicPr>
        <p:blipFill>
          <a:blip r:embed="rId6"/>
          <a:stretch/>
        </p:blipFill>
        <p:spPr>
          <a:xfrm>
            <a:off x="834480" y="4107960"/>
            <a:ext cx="248760" cy="24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" name="Text 17"/>
          <p:cNvSpPr/>
          <p:nvPr/>
        </p:nvSpPr>
        <p:spPr>
          <a:xfrm>
            <a:off x="1353240" y="4005000"/>
            <a:ext cx="101469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Select rows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18"/>
          <p:cNvSpPr/>
          <p:nvPr/>
        </p:nvSpPr>
        <p:spPr>
          <a:xfrm>
            <a:off x="768240" y="4590360"/>
            <a:ext cx="399600" cy="3996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8" name="Image 6" descr="preencoded.png"/>
          <p:cNvPicPr/>
          <p:nvPr/>
        </p:nvPicPr>
        <p:blipFill>
          <a:blip r:embed="rId7"/>
          <a:stretch/>
        </p:blipFill>
        <p:spPr>
          <a:xfrm>
            <a:off x="840600" y="466272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Text 19"/>
          <p:cNvSpPr/>
          <p:nvPr/>
        </p:nvSpPr>
        <p:spPr>
          <a:xfrm>
            <a:off x="1280160" y="4590360"/>
            <a:ext cx="9115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dplyr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0"/>
          <p:cNvSpPr/>
          <p:nvPr/>
        </p:nvSpPr>
        <p:spPr>
          <a:xfrm>
            <a:off x="2240280" y="4590360"/>
            <a:ext cx="92325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 %&gt;% filter(expr &gt; 6)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21"/>
          <p:cNvSpPr/>
          <p:nvPr/>
        </p:nvSpPr>
        <p:spPr>
          <a:xfrm>
            <a:off x="768240" y="5120640"/>
            <a:ext cx="399600" cy="39960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2" name="Image 7" descr="preencoded.png"/>
          <p:cNvPicPr/>
          <p:nvPr/>
        </p:nvPicPr>
        <p:blipFill>
          <a:blip r:embed="rId8"/>
          <a:stretch/>
        </p:blipFill>
        <p:spPr>
          <a:xfrm>
            <a:off x="840600" y="519300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Text 22"/>
          <p:cNvSpPr/>
          <p:nvPr/>
        </p:nvSpPr>
        <p:spPr>
          <a:xfrm>
            <a:off x="1280160" y="5120640"/>
            <a:ext cx="9115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pandas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23"/>
          <p:cNvSpPr/>
          <p:nvPr/>
        </p:nvSpPr>
        <p:spPr>
          <a:xfrm>
            <a:off x="2240280" y="5120640"/>
            <a:ext cx="92325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df[df["expr"] &gt; 6]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24"/>
          <p:cNvSpPr/>
          <p:nvPr/>
        </p:nvSpPr>
        <p:spPr>
          <a:xfrm>
            <a:off x="786240" y="5632560"/>
            <a:ext cx="1060416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Keep only the rows that meet a condition.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25"/>
          <p:cNvSpPr/>
          <p:nvPr/>
        </p:nvSpPr>
        <p:spPr>
          <a:xfrm>
            <a:off x="786240" y="5925240"/>
            <a:ext cx="106041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8A94A0"/>
                </a:solidFill>
                <a:effectLst/>
                <a:uFillTx/>
                <a:latin typeface="Calibri"/>
                <a:ea typeface="Calibri"/>
              </a:rPr>
              <a:t>polars   </a:t>
            </a:r>
            <a:r>
              <a:rPr lang="en-US" sz="1400" b="0" u="none" strike="noStrike">
                <a:solidFill>
                  <a:srgbClr val="8A94A0"/>
                </a:solidFill>
                <a:effectLst/>
                <a:uFillTx/>
                <a:latin typeface="Courier New"/>
                <a:ea typeface="Courier New"/>
              </a:rPr>
              <a:t>df.filter(pl.col("expr") &gt; 6)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26"/>
          <p:cNvSpPr/>
          <p:nvPr/>
        </p:nvSpPr>
        <p:spPr>
          <a:xfrm>
            <a:off x="10881360" y="6537960"/>
            <a:ext cx="82008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4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ext 0"/>
          <p:cNvSpPr/>
          <p:nvPr/>
        </p:nvSpPr>
        <p:spPr>
          <a:xfrm>
            <a:off x="457200" y="274320"/>
            <a:ext cx="103298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5 · Adding &amp; Updating Rows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"/>
          <p:cNvSpPr/>
          <p:nvPr/>
        </p:nvSpPr>
        <p:spPr>
          <a:xfrm>
            <a:off x="457200" y="822960"/>
            <a:ext cx="10421280" cy="30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Append a new observation, or change a value in an existing row.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2"/>
          <p:cNvSpPr/>
          <p:nvPr/>
        </p:nvSpPr>
        <p:spPr>
          <a:xfrm>
            <a:off x="11036880" y="311040"/>
            <a:ext cx="381240" cy="38124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1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3000" cy="2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Shape 3"/>
          <p:cNvSpPr/>
          <p:nvPr/>
        </p:nvSpPr>
        <p:spPr>
          <a:xfrm>
            <a:off x="11494080" y="311040"/>
            <a:ext cx="381240" cy="38124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3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3000" cy="2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4" name="Shape 4"/>
          <p:cNvSpPr/>
          <p:nvPr/>
        </p:nvSpPr>
        <p:spPr>
          <a:xfrm>
            <a:off x="457200" y="1280160"/>
            <a:ext cx="11244240" cy="2392920"/>
          </a:xfrm>
          <a:prstGeom prst="roundRect">
            <a:avLst>
              <a:gd name="adj" fmla="val 2290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5"/>
          <p:cNvSpPr/>
          <p:nvPr/>
        </p:nvSpPr>
        <p:spPr>
          <a:xfrm>
            <a:off x="731520" y="1463040"/>
            <a:ext cx="454320" cy="45432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6" name="Image 2" descr="preencoded.png"/>
          <p:cNvPicPr/>
          <p:nvPr/>
        </p:nvPicPr>
        <p:blipFill>
          <a:blip r:embed="rId3"/>
          <a:stretch/>
        </p:blipFill>
        <p:spPr>
          <a:xfrm>
            <a:off x="834480" y="1566000"/>
            <a:ext cx="248760" cy="24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7" name="Text 6"/>
          <p:cNvSpPr/>
          <p:nvPr/>
        </p:nvSpPr>
        <p:spPr>
          <a:xfrm>
            <a:off x="1353240" y="1463040"/>
            <a:ext cx="101469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Add a row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7"/>
          <p:cNvSpPr/>
          <p:nvPr/>
        </p:nvSpPr>
        <p:spPr>
          <a:xfrm>
            <a:off x="768240" y="2048400"/>
            <a:ext cx="399600" cy="3996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9" name="Image 3" descr="preencoded.png"/>
          <p:cNvPicPr/>
          <p:nvPr/>
        </p:nvPicPr>
        <p:blipFill>
          <a:blip r:embed="rId4"/>
          <a:stretch/>
        </p:blipFill>
        <p:spPr>
          <a:xfrm>
            <a:off x="840600" y="212076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0" name="Text 8"/>
          <p:cNvSpPr/>
          <p:nvPr/>
        </p:nvSpPr>
        <p:spPr>
          <a:xfrm>
            <a:off x="1280160" y="2048400"/>
            <a:ext cx="9115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dplyr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9"/>
          <p:cNvSpPr/>
          <p:nvPr/>
        </p:nvSpPr>
        <p:spPr>
          <a:xfrm>
            <a:off x="2240280" y="2048400"/>
            <a:ext cx="92325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 %&gt;% add_row(sample="S4", gene="KRAS", expr=7.3)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10"/>
          <p:cNvSpPr/>
          <p:nvPr/>
        </p:nvSpPr>
        <p:spPr>
          <a:xfrm>
            <a:off x="768240" y="2578680"/>
            <a:ext cx="399600" cy="39960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3" name="Image 4" descr="preencoded.png"/>
          <p:cNvPicPr/>
          <p:nvPr/>
        </p:nvPicPr>
        <p:blipFill>
          <a:blip r:embed="rId5"/>
          <a:stretch/>
        </p:blipFill>
        <p:spPr>
          <a:xfrm>
            <a:off x="840600" y="265104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4" name="Text 11"/>
          <p:cNvSpPr/>
          <p:nvPr/>
        </p:nvSpPr>
        <p:spPr>
          <a:xfrm>
            <a:off x="1280160" y="2578680"/>
            <a:ext cx="9115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pandas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2"/>
          <p:cNvSpPr/>
          <p:nvPr/>
        </p:nvSpPr>
        <p:spPr>
          <a:xfrm>
            <a:off x="2240280" y="2578680"/>
            <a:ext cx="92325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df.loc[len(df)] = ["S4", "KRAS", 7.3]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3"/>
          <p:cNvSpPr/>
          <p:nvPr/>
        </p:nvSpPr>
        <p:spPr>
          <a:xfrm>
            <a:off x="786240" y="3090600"/>
            <a:ext cx="1060416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Append a new observation (sample S4) to the bottom.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4"/>
          <p:cNvSpPr/>
          <p:nvPr/>
        </p:nvSpPr>
        <p:spPr>
          <a:xfrm>
            <a:off x="786240" y="3383280"/>
            <a:ext cx="106041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8A94A0"/>
                </a:solidFill>
                <a:effectLst/>
                <a:uFillTx/>
                <a:latin typeface="Calibri"/>
                <a:ea typeface="Calibri"/>
              </a:rPr>
              <a:t>polars   </a:t>
            </a:r>
            <a:r>
              <a:rPr lang="en-US" sz="1400" b="0" u="none" strike="noStrike">
                <a:solidFill>
                  <a:srgbClr val="8A94A0"/>
                </a:solidFill>
                <a:effectLst/>
                <a:uFillTx/>
                <a:latin typeface="Courier New"/>
                <a:ea typeface="Courier New"/>
              </a:rPr>
              <a:t>pl.concat([df, df_new])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15"/>
          <p:cNvSpPr/>
          <p:nvPr/>
        </p:nvSpPr>
        <p:spPr>
          <a:xfrm>
            <a:off x="457200" y="3822120"/>
            <a:ext cx="11244240" cy="2392920"/>
          </a:xfrm>
          <a:prstGeom prst="roundRect">
            <a:avLst>
              <a:gd name="adj" fmla="val 2290"/>
            </a:avLst>
          </a:prstGeom>
          <a:solidFill>
            <a:srgbClr val="F8FA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16"/>
          <p:cNvSpPr/>
          <p:nvPr/>
        </p:nvSpPr>
        <p:spPr>
          <a:xfrm>
            <a:off x="731520" y="4005000"/>
            <a:ext cx="454320" cy="454320"/>
          </a:xfrm>
          <a:prstGeom prst="ellipse">
            <a:avLst/>
          </a:prstGeom>
          <a:solidFill>
            <a:srgbClr val="B5651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0" name="Image 5" descr="preencoded.png"/>
          <p:cNvPicPr/>
          <p:nvPr/>
        </p:nvPicPr>
        <p:blipFill>
          <a:blip r:embed="rId6"/>
          <a:stretch/>
        </p:blipFill>
        <p:spPr>
          <a:xfrm>
            <a:off x="834480" y="4107960"/>
            <a:ext cx="248760" cy="24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Text 17"/>
          <p:cNvSpPr/>
          <p:nvPr/>
        </p:nvSpPr>
        <p:spPr>
          <a:xfrm>
            <a:off x="1353240" y="4005000"/>
            <a:ext cx="101469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Update a value in a row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18"/>
          <p:cNvSpPr/>
          <p:nvPr/>
        </p:nvSpPr>
        <p:spPr>
          <a:xfrm>
            <a:off x="768240" y="4590360"/>
            <a:ext cx="399600" cy="3996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3" name="Image 6" descr="preencoded.png"/>
          <p:cNvPicPr/>
          <p:nvPr/>
        </p:nvPicPr>
        <p:blipFill>
          <a:blip r:embed="rId7"/>
          <a:stretch/>
        </p:blipFill>
        <p:spPr>
          <a:xfrm>
            <a:off x="840600" y="466272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4" name="Text 19"/>
          <p:cNvSpPr/>
          <p:nvPr/>
        </p:nvSpPr>
        <p:spPr>
          <a:xfrm>
            <a:off x="1280160" y="4590360"/>
            <a:ext cx="9115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76DC3"/>
                </a:solidFill>
                <a:effectLst/>
                <a:uFillTx/>
                <a:latin typeface="Calibri"/>
                <a:ea typeface="Calibri"/>
              </a:rPr>
              <a:t>dplyr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20"/>
          <p:cNvSpPr/>
          <p:nvPr/>
        </p:nvSpPr>
        <p:spPr>
          <a:xfrm>
            <a:off x="2240280" y="4590360"/>
            <a:ext cx="92325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 %&gt;% mutate(expr = if_else(sample=="S2", 9.0, expr))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21"/>
          <p:cNvSpPr/>
          <p:nvPr/>
        </p:nvSpPr>
        <p:spPr>
          <a:xfrm>
            <a:off x="768240" y="5120640"/>
            <a:ext cx="399600" cy="39960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7" name="Image 7" descr="preencoded.png"/>
          <p:cNvPicPr/>
          <p:nvPr/>
        </p:nvPicPr>
        <p:blipFill>
          <a:blip r:embed="rId8"/>
          <a:stretch/>
        </p:blipFill>
        <p:spPr>
          <a:xfrm>
            <a:off x="840600" y="519300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8" name="Text 22"/>
          <p:cNvSpPr/>
          <p:nvPr/>
        </p:nvSpPr>
        <p:spPr>
          <a:xfrm>
            <a:off x="1280160" y="5120640"/>
            <a:ext cx="9115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1618A"/>
                </a:solidFill>
                <a:effectLst/>
                <a:uFillTx/>
                <a:latin typeface="Calibri"/>
                <a:ea typeface="Calibri"/>
              </a:rPr>
              <a:t>pandas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23"/>
          <p:cNvSpPr/>
          <p:nvPr/>
        </p:nvSpPr>
        <p:spPr>
          <a:xfrm>
            <a:off x="2240280" y="5120640"/>
            <a:ext cx="92325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7A4E12"/>
                </a:solidFill>
                <a:effectLst/>
                <a:uFillTx/>
                <a:latin typeface="Courier New"/>
                <a:ea typeface="Courier New"/>
              </a:rPr>
              <a:t>df.loc[df["sample"] == "S2", "expr"] = 9.0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4"/>
          <p:cNvSpPr/>
          <p:nvPr/>
        </p:nvSpPr>
        <p:spPr>
          <a:xfrm>
            <a:off x="786240" y="5632560"/>
            <a:ext cx="1060416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Change a cell where a condition holds (set S2’s expr to 9.0).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25"/>
          <p:cNvSpPr/>
          <p:nvPr/>
        </p:nvSpPr>
        <p:spPr>
          <a:xfrm>
            <a:off x="786240" y="5925240"/>
            <a:ext cx="106041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8A94A0"/>
                </a:solidFill>
                <a:effectLst/>
                <a:uFillTx/>
                <a:latin typeface="Calibri"/>
                <a:ea typeface="Calibri"/>
              </a:rPr>
              <a:t>polars   </a:t>
            </a:r>
            <a:r>
              <a:rPr lang="en-US" sz="1250" b="0" u="none" strike="noStrike">
                <a:solidFill>
                  <a:srgbClr val="8A94A0"/>
                </a:solidFill>
                <a:effectLst/>
                <a:uFillTx/>
                <a:latin typeface="Courier New"/>
                <a:ea typeface="Courier New"/>
              </a:rPr>
              <a:t>df.with_columns(pl.when(pl.col("sample")=="S2").then(9.0).otherwise(pl.col("expr")).alias("expr"))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26"/>
          <p:cNvSpPr/>
          <p:nvPr/>
        </p:nvSpPr>
        <p:spPr>
          <a:xfrm>
            <a:off x="10881360" y="6537960"/>
            <a:ext cx="82008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5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Text 0"/>
          <p:cNvSpPr/>
          <p:nvPr/>
        </p:nvSpPr>
        <p:spPr>
          <a:xfrm>
            <a:off x="457200" y="274320"/>
            <a:ext cx="1032984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A44"/>
                </a:solidFill>
                <a:effectLst/>
                <a:uFillTx/>
                <a:latin typeface="Cambria"/>
                <a:ea typeface="Cambria"/>
              </a:rPr>
              <a:t>Backup Slides: The Older Base R Way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"/>
          <p:cNvSpPr/>
          <p:nvPr/>
        </p:nvSpPr>
        <p:spPr>
          <a:xfrm>
            <a:off x="457200" y="822960"/>
            <a:ext cx="10421280" cy="30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Same operations without the tidyverse — worth recognizing in older code.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2"/>
          <p:cNvSpPr/>
          <p:nvPr/>
        </p:nvSpPr>
        <p:spPr>
          <a:xfrm>
            <a:off x="11036880" y="311040"/>
            <a:ext cx="381240" cy="38124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" name="Image 0" descr="preencoded.png"/>
          <p:cNvPicPr/>
          <p:nvPr/>
        </p:nvPicPr>
        <p:blipFill>
          <a:blip r:embed="rId1"/>
          <a:stretch/>
        </p:blipFill>
        <p:spPr>
          <a:xfrm>
            <a:off x="11106000" y="380160"/>
            <a:ext cx="243000" cy="2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Shape 3"/>
          <p:cNvSpPr/>
          <p:nvPr/>
        </p:nvSpPr>
        <p:spPr>
          <a:xfrm>
            <a:off x="11494080" y="311040"/>
            <a:ext cx="381240" cy="381240"/>
          </a:xfrm>
          <a:prstGeom prst="ellipse">
            <a:avLst/>
          </a:prstGeom>
          <a:solidFill>
            <a:srgbClr val="3161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8" name="Image 1" descr="preencoded.png"/>
          <p:cNvPicPr/>
          <p:nvPr/>
        </p:nvPicPr>
        <p:blipFill>
          <a:blip r:embed="rId2"/>
          <a:stretch/>
        </p:blipFill>
        <p:spPr>
          <a:xfrm>
            <a:off x="11563200" y="380160"/>
            <a:ext cx="243000" cy="2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9" name="Shape 4"/>
          <p:cNvSpPr/>
          <p:nvPr/>
        </p:nvSpPr>
        <p:spPr>
          <a:xfrm>
            <a:off x="10104120" y="841320"/>
            <a:ext cx="911520" cy="308160"/>
          </a:xfrm>
          <a:prstGeom prst="roundRect">
            <a:avLst>
              <a:gd name="adj" fmla="val 14706"/>
            </a:avLst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5"/>
          <p:cNvSpPr/>
          <p:nvPr/>
        </p:nvSpPr>
        <p:spPr>
          <a:xfrm>
            <a:off x="10104120" y="841320"/>
            <a:ext cx="911520" cy="30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BACKUP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6"/>
          <p:cNvSpPr/>
          <p:nvPr/>
        </p:nvSpPr>
        <p:spPr>
          <a:xfrm>
            <a:off x="457200" y="1298520"/>
            <a:ext cx="11244240" cy="1217880"/>
          </a:xfrm>
          <a:prstGeom prst="roundRect">
            <a:avLst>
              <a:gd name="adj" fmla="val 449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7"/>
          <p:cNvSpPr/>
          <p:nvPr/>
        </p:nvSpPr>
        <p:spPr>
          <a:xfrm>
            <a:off x="731520" y="1698480"/>
            <a:ext cx="417600" cy="4176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3" name="Image 2" descr="preencoded.png"/>
          <p:cNvPicPr/>
          <p:nvPr/>
        </p:nvPicPr>
        <p:blipFill>
          <a:blip r:embed="rId3"/>
          <a:stretch/>
        </p:blipFill>
        <p:spPr>
          <a:xfrm>
            <a:off x="807120" y="1774080"/>
            <a:ext cx="266400" cy="26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" name="Text 8"/>
          <p:cNvSpPr/>
          <p:nvPr/>
        </p:nvSpPr>
        <p:spPr>
          <a:xfrm>
            <a:off x="1325880" y="1417320"/>
            <a:ext cx="10146960" cy="30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Select columns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9"/>
          <p:cNvSpPr/>
          <p:nvPr/>
        </p:nvSpPr>
        <p:spPr>
          <a:xfrm>
            <a:off x="1325880" y="1755720"/>
            <a:ext cx="1014696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df[, c("gene", "expr")]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0"/>
          <p:cNvSpPr/>
          <p:nvPr/>
        </p:nvSpPr>
        <p:spPr>
          <a:xfrm>
            <a:off x="1325880" y="2167200"/>
            <a:ext cx="10146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Add drop=FALSE to guarantee it stays a data.frame.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11"/>
          <p:cNvSpPr/>
          <p:nvPr/>
        </p:nvSpPr>
        <p:spPr>
          <a:xfrm>
            <a:off x="457200" y="2629080"/>
            <a:ext cx="11244240" cy="1217880"/>
          </a:xfrm>
          <a:prstGeom prst="roundRect">
            <a:avLst>
              <a:gd name="adj" fmla="val 449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12"/>
          <p:cNvSpPr/>
          <p:nvPr/>
        </p:nvSpPr>
        <p:spPr>
          <a:xfrm>
            <a:off x="731520" y="3029040"/>
            <a:ext cx="417600" cy="4176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9" name="Image 3" descr="preencoded.png"/>
          <p:cNvPicPr/>
          <p:nvPr/>
        </p:nvPicPr>
        <p:blipFill>
          <a:blip r:embed="rId4"/>
          <a:stretch/>
        </p:blipFill>
        <p:spPr>
          <a:xfrm>
            <a:off x="807120" y="3104640"/>
            <a:ext cx="266400" cy="26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0" name="Text 13"/>
          <p:cNvSpPr/>
          <p:nvPr/>
        </p:nvSpPr>
        <p:spPr>
          <a:xfrm>
            <a:off x="1325880" y="2747880"/>
            <a:ext cx="10146960" cy="30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Select rows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4"/>
          <p:cNvSpPr/>
          <p:nvPr/>
        </p:nvSpPr>
        <p:spPr>
          <a:xfrm>
            <a:off x="1325880" y="3086280"/>
            <a:ext cx="1014696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df[df$expr &gt; 6, 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5"/>
          <p:cNvSpPr/>
          <p:nvPr/>
        </p:nvSpPr>
        <p:spPr>
          <a:xfrm>
            <a:off x="1325880" y="3497760"/>
            <a:ext cx="10146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Mind the trailing comma — it means “all columns.”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16"/>
          <p:cNvSpPr/>
          <p:nvPr/>
        </p:nvSpPr>
        <p:spPr>
          <a:xfrm>
            <a:off x="457200" y="3959280"/>
            <a:ext cx="11244240" cy="1217880"/>
          </a:xfrm>
          <a:prstGeom prst="roundRect">
            <a:avLst>
              <a:gd name="adj" fmla="val 449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7"/>
          <p:cNvSpPr/>
          <p:nvPr/>
        </p:nvSpPr>
        <p:spPr>
          <a:xfrm>
            <a:off x="731520" y="4359240"/>
            <a:ext cx="417600" cy="4176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5" name="Image 4" descr="preencoded.png"/>
          <p:cNvPicPr/>
          <p:nvPr/>
        </p:nvPicPr>
        <p:blipFill>
          <a:blip r:embed="rId5"/>
          <a:stretch/>
        </p:blipFill>
        <p:spPr>
          <a:xfrm>
            <a:off x="807120" y="4435200"/>
            <a:ext cx="266400" cy="26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6" name="Text 18"/>
          <p:cNvSpPr/>
          <p:nvPr/>
        </p:nvSpPr>
        <p:spPr>
          <a:xfrm>
            <a:off x="1325880" y="4078080"/>
            <a:ext cx="10146960" cy="30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Add a row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9"/>
          <p:cNvSpPr/>
          <p:nvPr/>
        </p:nvSpPr>
        <p:spPr>
          <a:xfrm>
            <a:off x="1325880" y="4416480"/>
            <a:ext cx="1014696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rbind(df, data.frame(sample="S4", gene="KRAS", expr=7.3))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20"/>
          <p:cNvSpPr/>
          <p:nvPr/>
        </p:nvSpPr>
        <p:spPr>
          <a:xfrm>
            <a:off x="1325880" y="4827960"/>
            <a:ext cx="10146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Column names and types must line up.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21"/>
          <p:cNvSpPr/>
          <p:nvPr/>
        </p:nvSpPr>
        <p:spPr>
          <a:xfrm>
            <a:off x="457200" y="5289840"/>
            <a:ext cx="11244240" cy="1217880"/>
          </a:xfrm>
          <a:prstGeom prst="roundRect">
            <a:avLst>
              <a:gd name="adj" fmla="val 4494"/>
            </a:avLst>
          </a:prstGeom>
          <a:solidFill>
            <a:srgbClr val="EDF3FB"/>
          </a:solidFill>
          <a:ln w="9525">
            <a:solidFill>
              <a:srgbClr val="E1E7EC"/>
            </a:solidFill>
            <a:round/>
          </a:ln>
          <a:effectLst>
            <a:outerShdw algn="bl" blurRad="6336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22"/>
          <p:cNvSpPr/>
          <p:nvPr/>
        </p:nvSpPr>
        <p:spPr>
          <a:xfrm>
            <a:off x="731520" y="5689800"/>
            <a:ext cx="417600" cy="417600"/>
          </a:xfrm>
          <a:prstGeom prst="ellipse">
            <a:avLst/>
          </a:prstGeom>
          <a:solidFill>
            <a:srgbClr val="276DC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1" name="Image 5" descr="preencoded.png"/>
          <p:cNvPicPr/>
          <p:nvPr/>
        </p:nvPicPr>
        <p:blipFill>
          <a:blip r:embed="rId6"/>
          <a:stretch/>
        </p:blipFill>
        <p:spPr>
          <a:xfrm>
            <a:off x="807120" y="5765400"/>
            <a:ext cx="266400" cy="26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2" name="Text 23"/>
          <p:cNvSpPr/>
          <p:nvPr/>
        </p:nvSpPr>
        <p:spPr>
          <a:xfrm>
            <a:off x="1325880" y="5408640"/>
            <a:ext cx="10146960" cy="30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E2A44"/>
                </a:solidFill>
                <a:effectLst/>
                <a:uFillTx/>
                <a:latin typeface="Calibri"/>
                <a:ea typeface="Calibri"/>
              </a:rPr>
              <a:t>Update a value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24"/>
          <p:cNvSpPr/>
          <p:nvPr/>
        </p:nvSpPr>
        <p:spPr>
          <a:xfrm>
            <a:off x="1325880" y="5747040"/>
            <a:ext cx="1014696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3315C"/>
                </a:solidFill>
                <a:effectLst/>
                <a:uFillTx/>
                <a:latin typeface="Courier New"/>
                <a:ea typeface="Courier New"/>
              </a:rPr>
              <a:t>df$expr[df$sample == "S2"] &lt;- 9.0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25"/>
          <p:cNvSpPr/>
          <p:nvPr/>
        </p:nvSpPr>
        <p:spPr>
          <a:xfrm>
            <a:off x="1325880" y="6158520"/>
            <a:ext cx="1014696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5B6573"/>
                </a:solidFill>
                <a:effectLst/>
                <a:uFillTx/>
                <a:latin typeface="Calibri"/>
                <a:ea typeface="Calibri"/>
              </a:rPr>
              <a:t>Edits the data frame in place.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26"/>
          <p:cNvSpPr/>
          <p:nvPr/>
        </p:nvSpPr>
        <p:spPr>
          <a:xfrm>
            <a:off x="10881360" y="6537960"/>
            <a:ext cx="82008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AA3AD"/>
                </a:solidFill>
                <a:effectLst/>
                <a:uFillTx/>
                <a:latin typeface="Calibri"/>
                <a:ea typeface="Calibri"/>
              </a:rPr>
              <a:t>6 /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3255</TotalTime>
  <Application>LibreOffice/26.2.4.2$Linux_X86_64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2026-06-19T18:59:37Z</dcterms:created>
  <dc:creator>Steven Rozen</dc:creator>
  <dc:description/>
  <dc:language>en-US</dc:language>
  <cp:lastModifiedBy/>
  <dcterms:modified xsi:type="dcterms:W3CDTF">2026-07-31T13:59:28Z</dcterms:modified>
  <cp:revision>29</cp:revision>
  <dc:subject>PptxGenJS Presentation</dc:subject>
  <dc:title>R vs Python Data Types — for beginners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</vt:i4>
  </property>
  <property fmtid="{D5CDD505-2E9C-101B-9397-08002B2CF9AE}" pid="3" name="PresentationFormat">
    <vt:lpwstr>On-screen Show (16:9)</vt:lpwstr>
  </property>
  <property fmtid="{D5CDD505-2E9C-101B-9397-08002B2CF9AE}" pid="4" name="Slides">
    <vt:i4>6</vt:i4>
  </property>
</Properties>
</file>