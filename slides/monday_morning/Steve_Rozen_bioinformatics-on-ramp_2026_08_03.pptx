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B9E4769-E100-4FFD-B380-5F592AC1E00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4D10E5-46B0-4039-807D-FA698229DA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53E484-C663-418B-904F-E58DBCE4DE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CEEC71-BB53-4797-AEA9-3ED248D3A1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017DC0-153C-4D07-A5FB-52BFAE05B8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C5020E-FF5B-44AF-82EE-4A6ADAFC12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9E2EA4-EA14-4CC9-995B-880ED4396B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02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33;p27"/>
          <p:cNvSpPr/>
          <p:nvPr/>
        </p:nvSpPr>
        <p:spPr>
          <a:xfrm>
            <a:off x="914400" y="460080"/>
            <a:ext cx="8505000" cy="11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gentle bioinformatics on-ramp: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R, python, bash, IDEs, AI coding agents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4;p27"/>
          <p:cNvSpPr/>
          <p:nvPr/>
        </p:nvSpPr>
        <p:spPr>
          <a:xfrm>
            <a:off x="987120" y="1600200"/>
            <a:ext cx="3124080" cy="11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3, 2026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steverozen [at] pm.me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duke.edu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924840" y="3521160"/>
            <a:ext cx="5247360" cy="1279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7086600" y="2743200"/>
            <a:ext cx="3283920" cy="32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685800" y="914400"/>
            <a:ext cx="10971720" cy="60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Workshop objectives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 hands-on orientation on computational infrastructure needed for bioinformatics today: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RStudio and 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(the Linux command shell)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Directories and files and file location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an HPC (high performance computing) cluster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Moving large files around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agentic coding agents effectively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914400" y="685800"/>
            <a:ext cx="1051416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RStudio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Starting RStudio in “OnDemand”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914400" y="457200"/>
            <a:ext cx="7769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RStudio from OnDemand or from 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256320" y="276840"/>
            <a:ext cx="11754360" cy="632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243000" y="276840"/>
            <a:ext cx="11754360" cy="632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4360" cy="664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4360" cy="664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360" cy="620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"/>
          <p:cNvSpPr/>
          <p:nvPr/>
        </p:nvSpPr>
        <p:spPr>
          <a:xfrm>
            <a:off x="502920" y="255960"/>
            <a:ext cx="11154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OnDemand starts an RStudio session on the HPC cluster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Rounded Rectangle 2"/>
          <p:cNvSpPr/>
          <p:nvPr/>
        </p:nvSpPr>
        <p:spPr>
          <a:xfrm>
            <a:off x="365760" y="1005840"/>
            <a:ext cx="3519360" cy="5073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YOUR LAPTOP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ounded Rectangle 3"/>
          <p:cNvSpPr/>
          <p:nvPr/>
        </p:nvSpPr>
        <p:spPr>
          <a:xfrm>
            <a:off x="640080" y="1572840"/>
            <a:ext cx="2970720" cy="13248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Browser tab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cgbs.cgu.edu.tw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Interactive Apps → </a:t>
            </a:r>
            <a:r>
              <a:rPr lang="en-US" sz="13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RStudio</a:t>
            </a: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 Server: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choose hours, cores, memory, Launch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Rounded Rectangle 4"/>
          <p:cNvSpPr/>
          <p:nvPr/>
        </p:nvSpPr>
        <p:spPr>
          <a:xfrm>
            <a:off x="640080" y="4160520"/>
            <a:ext cx="2970720" cy="169056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Browser tab 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The RStudio Server interface: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console, editor, plots,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Looks like desktop RStudio, but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every keystroke runs on the node.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4526280" y="1005840"/>
            <a:ext cx="7268400" cy="5073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HPC CLUSTER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4800600" y="1572840"/>
            <a:ext cx="3062160" cy="13248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Login or designated node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Open OnDemand web server.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Turns your form into a SLURM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job and proxies traffic later.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ounded Rectangle 7"/>
          <p:cNvSpPr/>
          <p:nvPr/>
        </p:nvSpPr>
        <p:spPr>
          <a:xfrm>
            <a:off x="8412480" y="1572840"/>
            <a:ext cx="3107880" cy="1324800"/>
          </a:xfrm>
          <a:prstGeom prst="roundRect">
            <a:avLst>
              <a:gd name="adj" fmla="val 6000"/>
            </a:avLst>
          </a:prstGeom>
          <a:solidFill>
            <a:srgbClr val="FDECDD"/>
          </a:solidFill>
          <a:ln w="19050"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400" b="1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SLURM scheduler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Queues the job, waits for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node with free cores and RAM,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then dispatches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4800600" y="3703320"/>
            <a:ext cx="6719760" cy="214776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Compute node (e.g. node07)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ounded Rectangle 9"/>
          <p:cNvSpPr/>
          <p:nvPr/>
        </p:nvSpPr>
        <p:spPr>
          <a:xfrm>
            <a:off x="5074920" y="4224600"/>
            <a:ext cx="6171120" cy="146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Container (Apptainer / Singularity)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rserver process + R + your packages, running as you,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with your home directory and project files mounted.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Listens on a private port on this node only.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" name="Connector 7"/>
          <p:cNvCxnSpPr/>
          <p:nvPr/>
        </p:nvCxnSpPr>
        <p:spPr>
          <a:xfrm>
            <a:off x="3639240" y="1993320"/>
            <a:ext cx="1134720" cy="1080"/>
          </a:xfrm>
          <a:prstGeom prst="straightConnector1">
            <a:avLst/>
          </a:prstGeom>
          <a:ln w="31750">
            <a:solidFill>
              <a:srgbClr val="2E74B5"/>
            </a:solidFill>
            <a:round/>
            <a:tailEnd len="med" type="triangle" w="med"/>
          </a:ln>
        </p:spPr>
      </p:cxnSp>
      <p:sp>
        <p:nvSpPr>
          <p:cNvPr id="34" name="Oval 6"/>
          <p:cNvSpPr/>
          <p:nvPr/>
        </p:nvSpPr>
        <p:spPr>
          <a:xfrm>
            <a:off x="3913560" y="1645920"/>
            <a:ext cx="291600" cy="291600"/>
          </a:xfrm>
          <a:prstGeom prst="ellipse">
            <a:avLst/>
          </a:prstGeom>
          <a:solidFill>
            <a:srgbClr val="2E74B5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9"/>
          <p:cNvSpPr/>
          <p:nvPr/>
        </p:nvSpPr>
        <p:spPr>
          <a:xfrm>
            <a:off x="3291840" y="1280160"/>
            <a:ext cx="19191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2E74B5"/>
                </a:solidFill>
                <a:effectLst/>
                <a:uFillTx/>
                <a:latin typeface="Arial"/>
              </a:rPr>
              <a:t>request session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" name="Connector 8"/>
          <p:cNvCxnSpPr/>
          <p:nvPr/>
        </p:nvCxnSpPr>
        <p:spPr>
          <a:xfrm>
            <a:off x="7881840" y="2230920"/>
            <a:ext cx="504000" cy="1080"/>
          </a:xfrm>
          <a:prstGeom prst="straightConnector1">
            <a:avLst/>
          </a:prstGeom>
          <a:ln w="31750">
            <a:solidFill>
              <a:srgbClr val="2E74B5"/>
            </a:solidFill>
            <a:round/>
            <a:tailEnd len="med" type="triangle" w="med"/>
          </a:ln>
        </p:spPr>
      </p:cxnSp>
      <p:sp>
        <p:nvSpPr>
          <p:cNvPr id="37" name="Oval 7"/>
          <p:cNvSpPr/>
          <p:nvPr/>
        </p:nvSpPr>
        <p:spPr>
          <a:xfrm>
            <a:off x="7973640" y="2395800"/>
            <a:ext cx="291600" cy="291600"/>
          </a:xfrm>
          <a:prstGeom prst="ellipse">
            <a:avLst/>
          </a:prstGeom>
          <a:solidFill>
            <a:srgbClr val="C05500"/>
          </a:solidFill>
          <a:ln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8" name="Connector 9"/>
          <p:cNvCxnSpPr/>
          <p:nvPr/>
        </p:nvCxnSpPr>
        <p:spPr>
          <a:xfrm>
            <a:off x="9966960" y="2926080"/>
            <a:ext cx="1080" cy="750600"/>
          </a:xfrm>
          <a:prstGeom prst="straightConnector1">
            <a:avLst/>
          </a:prstGeom>
          <a:ln w="31750">
            <a:solidFill>
              <a:srgbClr val="C05500"/>
            </a:solidFill>
            <a:round/>
            <a:tailEnd len="med" type="triangle" w="med"/>
          </a:ln>
        </p:spPr>
      </p:cxnSp>
      <p:sp>
        <p:nvSpPr>
          <p:cNvPr id="39" name="Oval 8"/>
          <p:cNvSpPr/>
          <p:nvPr/>
        </p:nvSpPr>
        <p:spPr>
          <a:xfrm>
            <a:off x="10058400" y="3154680"/>
            <a:ext cx="291600" cy="291600"/>
          </a:xfrm>
          <a:prstGeom prst="ellipse">
            <a:avLst/>
          </a:prstGeom>
          <a:solidFill>
            <a:srgbClr val="C05500"/>
          </a:solidFill>
          <a:ln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10"/>
          <p:cNvSpPr/>
          <p:nvPr/>
        </p:nvSpPr>
        <p:spPr>
          <a:xfrm>
            <a:off x="6949440" y="3127320"/>
            <a:ext cx="3016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start container on a node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" name="Connector 10"/>
          <p:cNvCxnSpPr/>
          <p:nvPr/>
        </p:nvCxnSpPr>
        <p:spPr>
          <a:xfrm flipH="1">
            <a:off x="3639240" y="2651760"/>
            <a:ext cx="1134720" cy="1080"/>
          </a:xfrm>
          <a:prstGeom prst="straightConnector1">
            <a:avLst/>
          </a:prstGeom>
          <a:ln w="31750">
            <a:solidFill>
              <a:srgbClr val="2E74B5"/>
            </a:solidFill>
            <a:round/>
            <a:tailEnd len="med" type="triangle" w="med"/>
          </a:ln>
        </p:spPr>
      </p:cxnSp>
      <p:sp>
        <p:nvSpPr>
          <p:cNvPr id="42" name="Oval 9"/>
          <p:cNvSpPr/>
          <p:nvPr/>
        </p:nvSpPr>
        <p:spPr>
          <a:xfrm>
            <a:off x="3913560" y="2788920"/>
            <a:ext cx="291600" cy="291600"/>
          </a:xfrm>
          <a:prstGeom prst="ellipse">
            <a:avLst/>
          </a:prstGeom>
          <a:solidFill>
            <a:srgbClr val="2E74B5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Box 11"/>
          <p:cNvSpPr/>
          <p:nvPr/>
        </p:nvSpPr>
        <p:spPr>
          <a:xfrm>
            <a:off x="3063240" y="3090600"/>
            <a:ext cx="23763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2E74B5"/>
                </a:solidFill>
                <a:effectLst/>
                <a:uFillTx/>
                <a:latin typeface="Arial"/>
              </a:rPr>
              <a:t>session ready + URL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" name="Connector 11"/>
          <p:cNvCxnSpPr/>
          <p:nvPr/>
        </p:nvCxnSpPr>
        <p:spPr>
          <a:xfrm>
            <a:off x="2121120" y="2926080"/>
            <a:ext cx="1080" cy="1207800"/>
          </a:xfrm>
          <a:prstGeom prst="straightConnector1">
            <a:avLst/>
          </a:prstGeom>
          <a:ln w="31750">
            <a:solidFill>
              <a:srgbClr val="2E7D32"/>
            </a:solidFill>
            <a:round/>
            <a:tailEnd len="med" type="triangle" w="med"/>
          </a:ln>
        </p:spPr>
      </p:cxnSp>
      <p:sp>
        <p:nvSpPr>
          <p:cNvPr id="45" name="TextBox 12"/>
          <p:cNvSpPr/>
          <p:nvPr/>
        </p:nvSpPr>
        <p:spPr>
          <a:xfrm>
            <a:off x="2240280" y="2994120"/>
            <a:ext cx="1599120" cy="10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You click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“Connect 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RStudio Server”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" name="Connector 12"/>
          <p:cNvCxnSpPr/>
          <p:nvPr/>
        </p:nvCxnSpPr>
        <p:spPr>
          <a:xfrm>
            <a:off x="3639240" y="4983480"/>
            <a:ext cx="1391040" cy="1080"/>
          </a:xfrm>
          <a:prstGeom prst="straightConnector1">
            <a:avLst/>
          </a:prstGeom>
          <a:ln w="31750">
            <a:solidFill>
              <a:srgbClr val="2E7D32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47" name="Oval 10"/>
          <p:cNvSpPr/>
          <p:nvPr/>
        </p:nvSpPr>
        <p:spPr>
          <a:xfrm>
            <a:off x="4206240" y="5074920"/>
            <a:ext cx="291600" cy="29160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13"/>
          <p:cNvSpPr/>
          <p:nvPr/>
        </p:nvSpPr>
        <p:spPr>
          <a:xfrm>
            <a:off x="3611880" y="4382280"/>
            <a:ext cx="1461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5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proxied via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4"/>
          <p:cNvSpPr/>
          <p:nvPr/>
        </p:nvSpPr>
        <p:spPr>
          <a:xfrm>
            <a:off x="3611880" y="4664520"/>
            <a:ext cx="1461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the login node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15"/>
          <p:cNvSpPr/>
          <p:nvPr/>
        </p:nvSpPr>
        <p:spPr>
          <a:xfrm>
            <a:off x="365760" y="6217920"/>
            <a:ext cx="113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Nothing is installed on your laptop. The browser is just a window onto R running on a cluster node.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"/>
          <p:cNvSpPr/>
          <p:nvPr/>
        </p:nvSpPr>
        <p:spPr>
          <a:xfrm>
            <a:off x="502920" y="201240"/>
            <a:ext cx="11154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cluster: a login node, many compute nodes, and SLURM in between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"/>
          <p:cNvSpPr/>
          <p:nvPr/>
        </p:nvSpPr>
        <p:spPr>
          <a:xfrm>
            <a:off x="274320" y="2499840"/>
            <a:ext cx="1924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ssh, or the OnDemand web page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Connector 3"/>
          <p:cNvCxnSpPr/>
          <p:nvPr/>
        </p:nvCxnSpPr>
        <p:spPr>
          <a:xfrm>
            <a:off x="2199960" y="3299760"/>
            <a:ext cx="401040" cy="108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54" name="Rounded Rectangle 11"/>
          <p:cNvSpPr/>
          <p:nvPr/>
        </p:nvSpPr>
        <p:spPr>
          <a:xfrm>
            <a:off x="2350080" y="1100160"/>
            <a:ext cx="9566640" cy="4199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HPC CLUSTER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ounded Rectangle 17"/>
          <p:cNvSpPr/>
          <p:nvPr/>
        </p:nvSpPr>
        <p:spPr>
          <a:xfrm>
            <a:off x="2599920" y="1599840"/>
            <a:ext cx="3299040" cy="29988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Login node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Where you land when you log in.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Edit scripts, move files, submit jobs, run tiny tests.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Shared by everyone logged in, so do not run a real analysis here.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ounded Rectangle 18"/>
          <p:cNvSpPr/>
          <p:nvPr/>
        </p:nvSpPr>
        <p:spPr>
          <a:xfrm>
            <a:off x="6149880" y="1599840"/>
            <a:ext cx="2948760" cy="2998800"/>
          </a:xfrm>
          <a:prstGeom prst="roundRect">
            <a:avLst>
              <a:gd name="adj" fmla="val 6000"/>
            </a:avLst>
          </a:prstGeom>
          <a:solidFill>
            <a:srgbClr val="FDECDD"/>
          </a:solidFill>
          <a:ln w="19050"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SLURM scheduler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Holds the queue of waiting jobs.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Each job says how many cores, how much memory, and how long it needs.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SLURM finds a node with room, starts the job there, enforces those limits, and frees the node when it ends.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6"/>
          <p:cNvSpPr/>
          <p:nvPr/>
        </p:nvSpPr>
        <p:spPr>
          <a:xfrm>
            <a:off x="9249840" y="1239840"/>
            <a:ext cx="25488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Compute nodes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Rounded Rectangle 19"/>
          <p:cNvSpPr/>
          <p:nvPr/>
        </p:nvSpPr>
        <p:spPr>
          <a:xfrm>
            <a:off x="9249840" y="1599840"/>
            <a:ext cx="2548800" cy="69876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busy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Rounded Rectangle 20"/>
          <p:cNvSpPr/>
          <p:nvPr/>
        </p:nvSpPr>
        <p:spPr>
          <a:xfrm>
            <a:off x="9249840" y="2400120"/>
            <a:ext cx="2548800" cy="69876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busy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ounded Rectangle 21"/>
          <p:cNvSpPr/>
          <p:nvPr/>
        </p:nvSpPr>
        <p:spPr>
          <a:xfrm>
            <a:off x="9249840" y="3200040"/>
            <a:ext cx="2548800" cy="69876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free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ounded Rectangle 22"/>
          <p:cNvSpPr/>
          <p:nvPr/>
        </p:nvSpPr>
        <p:spPr>
          <a:xfrm>
            <a:off x="9249840" y="3999960"/>
            <a:ext cx="2548800" cy="69876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free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Connector 5"/>
          <p:cNvCxnSpPr/>
          <p:nvPr/>
        </p:nvCxnSpPr>
        <p:spPr>
          <a:xfrm>
            <a:off x="5899680" y="3299760"/>
            <a:ext cx="251280" cy="1080"/>
          </a:xfrm>
          <a:prstGeom prst="straightConnector1">
            <a:avLst/>
          </a:prstGeom>
          <a:ln w="25400">
            <a:solidFill>
              <a:srgbClr val="C05500"/>
            </a:solidFill>
            <a:round/>
            <a:tailEnd len="med" type="triangle" w="med"/>
          </a:ln>
        </p:spPr>
      </p:cxnSp>
      <p:sp>
        <p:nvSpPr>
          <p:cNvPr id="63" name="TextBox 7"/>
          <p:cNvSpPr/>
          <p:nvPr/>
        </p:nvSpPr>
        <p:spPr>
          <a:xfrm>
            <a:off x="3899880" y="5450040"/>
            <a:ext cx="339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you submit a job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nector 6"/>
          <p:cNvCxnSpPr/>
          <p:nvPr/>
        </p:nvCxnSpPr>
        <p:spPr>
          <a:xfrm>
            <a:off x="9099720" y="3299760"/>
            <a:ext cx="151200" cy="1080"/>
          </a:xfrm>
          <a:prstGeom prst="straightConnector1">
            <a:avLst/>
          </a:prstGeom>
          <a:ln w="25400">
            <a:solidFill>
              <a:srgbClr val="2E7D32"/>
            </a:solidFill>
            <a:round/>
            <a:tailEnd len="med" type="triangle" w="med"/>
          </a:ln>
        </p:spPr>
      </p:cxnSp>
      <p:sp>
        <p:nvSpPr>
          <p:cNvPr id="65" name="TextBox 8"/>
          <p:cNvSpPr/>
          <p:nvPr/>
        </p:nvSpPr>
        <p:spPr>
          <a:xfrm>
            <a:off x="7300080" y="5450040"/>
            <a:ext cx="3799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SLURM places it on a free node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22"/>
          <p:cNvSpPr/>
          <p:nvPr/>
        </p:nvSpPr>
        <p:spPr>
          <a:xfrm>
            <a:off x="502920" y="201240"/>
            <a:ext cx="11154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Everyday SLURM commands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3"/>
          <p:cNvSpPr/>
          <p:nvPr/>
        </p:nvSpPr>
        <p:spPr>
          <a:xfrm>
            <a:off x="502920" y="1249920"/>
            <a:ext cx="11246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sbatch job.sh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submit a batch script to the queue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4"/>
          <p:cNvSpPr/>
          <p:nvPr/>
        </p:nvSpPr>
        <p:spPr>
          <a:xfrm>
            <a:off x="502920" y="1869840"/>
            <a:ext cx="11246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squeue -u $USER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list your pending and running jobs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5"/>
          <p:cNvSpPr/>
          <p:nvPr/>
        </p:nvSpPr>
        <p:spPr>
          <a:xfrm>
            <a:off x="502920" y="2490120"/>
            <a:ext cx="11246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scancel 12345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kill a job, by its job 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6"/>
          <p:cNvSpPr/>
          <p:nvPr/>
        </p:nvSpPr>
        <p:spPr>
          <a:xfrm>
            <a:off x="502920" y="3110040"/>
            <a:ext cx="11246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srun --pty bash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grab an interactive shell on a compute node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7"/>
          <p:cNvSpPr/>
          <p:nvPr/>
        </p:nvSpPr>
        <p:spPr>
          <a:xfrm>
            <a:off x="502920" y="3729960"/>
            <a:ext cx="11246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sinfo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which partitions and nodes exist, and which are idle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8"/>
          <p:cNvSpPr/>
          <p:nvPr/>
        </p:nvSpPr>
        <p:spPr>
          <a:xfrm>
            <a:off x="502920" y="4349880"/>
            <a:ext cx="11246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sacct -j 12345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after the fact: did it finish, what did it use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9"/>
          <p:cNvSpPr/>
          <p:nvPr/>
        </p:nvSpPr>
        <p:spPr>
          <a:xfrm>
            <a:off x="502920" y="5150160"/>
            <a:ext cx="11246040" cy="9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A job is a request, not a command: cores, memory, and wall-clock 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Ask for more than you need and you wait longer in the queue. Ask for less and SLURM kills the job when it runs over. Your RStudio jobs here get 4 cores and 16 GB.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360" cy="620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241560" y="4862160"/>
            <a:ext cx="5701320" cy="1309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“console”, running an R programming language interpreter in a “read-eval-print loop”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Steve show examples, participants try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360" cy="620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/>
          <p:nvPr/>
        </p:nvSpPr>
        <p:spPr>
          <a:xfrm>
            <a:off x="230400" y="1600200"/>
            <a:ext cx="5255280" cy="6994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context of a 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Steve show examples, participants try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360" cy="620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"/>
          <p:cNvSpPr/>
          <p:nvPr/>
        </p:nvSpPr>
        <p:spPr>
          <a:xfrm>
            <a:off x="6631200" y="4114800"/>
            <a:ext cx="5255280" cy="100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a file browser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Steve show examples, including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opening files etc; participants try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>
            <a:off x="1371600" y="1143000"/>
            <a:ext cx="9143280" cy="50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some R statements in the read-eval-print loop: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Assignment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Character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Vectors are 1</a:t>
            </a:r>
            <a:r>
              <a:rPr lang="en-US" sz="1800" b="0" u="none" strike="noStrike" baseline="33000">
                <a:solidFill>
                  <a:srgbClr val="000000"/>
                </a:solidFill>
                <a:effectLst/>
                <a:uFillTx/>
                <a:latin typeface="Arial"/>
              </a:rPr>
              <a:t>st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class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Libraries/packages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to find packages (CRAN, BioCondutor, github etc)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the console (completion, arrow up)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 to cheat sheet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https://rstudio.github.io/cheatsheets/base-r.pdf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1371600" y="1371600"/>
            <a:ext cx="6400080" cy="31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 an R file and source 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a function that adds 2 numbers; show error adding two strings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Next: tutorial on navigating between consol, terminal, and file browser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105120" y="525240"/>
            <a:ext cx="10147320" cy="578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"/>
          <p:cNvSpPr/>
          <p:nvPr/>
        </p:nvSpPr>
        <p:spPr>
          <a:xfrm>
            <a:off x="105120" y="5029200"/>
            <a:ext cx="2054880" cy="9118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2286000" y="5373000"/>
            <a:ext cx="41122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R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5880" cy="557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"/>
          <p:cNvSpPr/>
          <p:nvPr/>
        </p:nvSpPr>
        <p:spPr>
          <a:xfrm>
            <a:off x="105480" y="5029200"/>
            <a:ext cx="2054880" cy="9118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2286000" y="4800600"/>
            <a:ext cx="41122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315200" y="4034160"/>
            <a:ext cx="4112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5880" cy="557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"/>
          <p:cNvSpPr/>
          <p:nvPr/>
        </p:nvSpPr>
        <p:spPr>
          <a:xfrm>
            <a:off x="105480" y="5029200"/>
            <a:ext cx="2054880" cy="9118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286000" y="4800600"/>
            <a:ext cx="41122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7315200" y="4034160"/>
            <a:ext cx="4112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914400" y="804960"/>
            <a:ext cx="911880" cy="3355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5880" cy="557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"/>
          <p:cNvSpPr/>
          <p:nvPr/>
        </p:nvSpPr>
        <p:spPr>
          <a:xfrm>
            <a:off x="5943600" y="2971800"/>
            <a:ext cx="911880" cy="3355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400800" y="4034160"/>
            <a:ext cx="411228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how to create new folder / navigate in the files tab, and then  make that the working directory in the R console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4360" cy="664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/>
          <p:nvPr/>
        </p:nvSpPr>
        <p:spPr>
          <a:xfrm>
            <a:off x="1828800" y="2743200"/>
            <a:ext cx="4112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continue with orientation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286000" y="1574280"/>
            <a:ext cx="41122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 (pwd – print working directory) bash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1143000"/>
            <a:ext cx="2054880" cy="91188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>
            <a:off x="1371600" y="1371600"/>
            <a:ext cx="640008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 a file (e.g. write.csv(mtcars)) and find 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setwd(“~workshop/workshop_data”), move file browser there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 back to “~”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data.table, data.frame, tibble, selecting rows,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Tidyr select rows, select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685800" y="286560"/>
            <a:ext cx="10742040" cy="45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Directories, ls, cd, pwd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Commands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Cheat sheet at https://github.com/RehanSaeed/Bash-Cheat-Sheet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variables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Scripts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Executable bits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coding agents use bash a lot and can help with oddities of common unix commands and bash syntax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→ Demo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1143000" y="931680"/>
            <a:ext cx="9600480" cy="29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 vocabulary and grammar, similar underlying concepts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/usr/bin/python3.12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 add(a, b):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print(a + b)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/>
          <p:nvPr/>
        </p:nvSpPr>
        <p:spPr>
          <a:xfrm>
            <a:off x="914400" y="914400"/>
            <a:ext cx="10286640" cy="49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coding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command “what python interpreters are available to me”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command “Summarize CPU load, RAM usage, and number of users on each node in the cluster”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pyton example: write the R mtcars table to disk as a tsv file, then write and test  1 python script read the data from disk and create a png showing mpg vs hp; test and run the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-fsSL https://opencode.ai/install | bash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“Nemotron 3 Ultra Free Opencode Zen” (pretty limited free tier)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4"/>
          <p:cNvSpPr/>
          <p:nvPr/>
        </p:nvSpPr>
        <p:spPr>
          <a:xfrm>
            <a:off x="502920" y="201240"/>
            <a:ext cx="111549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Slide: LLM-agnostic open source coding agents: terminal first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0"/>
          <p:cNvSpPr/>
          <p:nvPr/>
        </p:nvSpPr>
        <p:spPr>
          <a:xfrm>
            <a:off x="502920" y="105156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Aider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terminal AI pair programming, any model via LiteLLM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https://github.com/Aider-AI/aider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1"/>
          <p:cNvSpPr/>
          <p:nvPr/>
        </p:nvSpPr>
        <p:spPr>
          <a:xfrm>
            <a:off x="502920" y="185616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Goose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extensible agent that installs, runs, edits, and tests with any LLM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https://github.com/block/goose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2"/>
          <p:cNvSpPr/>
          <p:nvPr/>
        </p:nvSpPr>
        <p:spPr>
          <a:xfrm>
            <a:off x="502920" y="266076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Crush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Go terminal UI agent from Charm, multi-provider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https://github.com/charmbracelet/crush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3"/>
          <p:cNvSpPr/>
          <p:nvPr/>
        </p:nvSpPr>
        <p:spPr>
          <a:xfrm>
            <a:off x="502920" y="346572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opencode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terminal coding agent from SST, provider agnostic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https://github.com/sst/opencode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34"/>
          <p:cNvSpPr/>
          <p:nvPr/>
        </p:nvSpPr>
        <p:spPr>
          <a:xfrm>
            <a:off x="502920" y="427032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Plandex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aimed at large projects and long multi-file tasks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https://github.com/plandex-ai/plandex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35"/>
          <p:cNvSpPr/>
          <p:nvPr/>
        </p:nvSpPr>
        <p:spPr>
          <a:xfrm>
            <a:off x="502920" y="507492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Codex CLI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OpenAI's, but accepts any OpenAI-compatible provider in config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https://github.com/openai/codex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6"/>
          <p:cNvSpPr/>
          <p:nvPr/>
        </p:nvSpPr>
        <p:spPr>
          <a:xfrm>
            <a:off x="502920" y="5943600"/>
            <a:ext cx="112464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All six are open source and swap the model behind the same agent loop.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502920" y="201240"/>
            <a:ext cx="111549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LLM-agnostic open source coding agents: editors and autonomous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7"/>
          <p:cNvSpPr/>
          <p:nvPr/>
        </p:nvSpPr>
        <p:spPr>
          <a:xfrm>
            <a:off x="502920" y="1149840"/>
            <a:ext cx="112464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Editor extensions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38"/>
          <p:cNvSpPr/>
          <p:nvPr/>
        </p:nvSpPr>
        <p:spPr>
          <a:xfrm>
            <a:off x="502920" y="141732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Cline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autonomous coding agent as SDK, IDE extension, or CLI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https://github.com/cline/cline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39"/>
          <p:cNvSpPr/>
          <p:nvPr/>
        </p:nvSpPr>
        <p:spPr>
          <a:xfrm>
            <a:off x="502920" y="217620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Roo Code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 Cline fork, adds multiple agent modes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https://github.com/RooCodeInc/Roo-Code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40"/>
          <p:cNvSpPr/>
          <p:nvPr/>
        </p:nvSpPr>
        <p:spPr>
          <a:xfrm>
            <a:off x="502920" y="293508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Kilo Code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 further fork, merges Cline and Roo features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https://github.com/Kilo-Org/kilocode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41"/>
          <p:cNvSpPr/>
          <p:nvPr/>
        </p:nvSpPr>
        <p:spPr>
          <a:xfrm>
            <a:off x="502920" y="369432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Continue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open source coding agent with pluggable model backends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https://github.com/continuedev/continue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42"/>
          <p:cNvSpPr/>
          <p:nvPr/>
        </p:nvSpPr>
        <p:spPr>
          <a:xfrm>
            <a:off x="502920" y="4572000"/>
            <a:ext cx="112464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Autonomous and research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43"/>
          <p:cNvSpPr/>
          <p:nvPr/>
        </p:nvSpPr>
        <p:spPr>
          <a:xfrm>
            <a:off x="502920" y="498348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OpenHands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full sandboxed dev agent platform, formerly OpenDevin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https://github.com/All-Hands-AI/OpenHands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44"/>
          <p:cNvSpPr/>
          <p:nvPr/>
        </p:nvSpPr>
        <p:spPr>
          <a:xfrm>
            <a:off x="502920" y="5742360"/>
            <a:ext cx="11246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SWE-agent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takes a GitHub issue and tries to fix it, NeurIPS 2024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https://github.com/SWE-agent/SWE-agent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"/>
          <p:cNvSpPr/>
          <p:nvPr/>
        </p:nvSpPr>
        <p:spPr>
          <a:xfrm>
            <a:off x="1828800" y="914400"/>
            <a:ext cx="800064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Other common IDE (interactive development environments)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457200" y="1371600"/>
            <a:ext cx="10602720" cy="530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"/>
          <p:cNvSpPr/>
          <p:nvPr/>
        </p:nvSpPr>
        <p:spPr>
          <a:xfrm>
            <a:off x="685800" y="228600"/>
            <a:ext cx="1074384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VS Code super extensible, very popular, open source so often cloned and modified by other vendors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"/>
          <p:cNvPicPr/>
          <p:nvPr/>
        </p:nvPicPr>
        <p:blipFill>
          <a:blip r:embed="rId1"/>
          <a:stretch/>
        </p:blipFill>
        <p:spPr>
          <a:xfrm>
            <a:off x="457200" y="1090440"/>
            <a:ext cx="11118960" cy="553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686160" y="228960"/>
            <a:ext cx="10743840" cy="85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Postiron,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VS code derivative from the makers of RStudio; better native support for R than VS Code, better Python support than RStudio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502920" y="201240"/>
            <a:ext cx="111549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Git: your local clone and the remote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2"/>
          <p:cNvSpPr/>
          <p:nvPr/>
        </p:nvSpPr>
        <p:spPr>
          <a:xfrm>
            <a:off x="365760" y="914400"/>
            <a:ext cx="7863120" cy="2925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YOUR COMPUTER, the local clone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13"/>
          <p:cNvSpPr/>
          <p:nvPr/>
        </p:nvSpPr>
        <p:spPr>
          <a:xfrm>
            <a:off x="640080" y="1600200"/>
            <a:ext cx="1782360" cy="2102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Working directory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The files you actually edit.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git status shows what has changed.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14"/>
          <p:cNvSpPr/>
          <p:nvPr/>
        </p:nvSpPr>
        <p:spPr>
          <a:xfrm>
            <a:off x="3406320" y="1600200"/>
            <a:ext cx="1782360" cy="2102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Staging area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Also called the index.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What you have marked to go into the next commit.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15"/>
          <p:cNvSpPr/>
          <p:nvPr/>
        </p:nvSpPr>
        <p:spPr>
          <a:xfrm>
            <a:off x="6172200" y="1600200"/>
            <a:ext cx="1782360" cy="2102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Local repository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The .git directory.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Full commit history, on your machine, works offline.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16"/>
          <p:cNvSpPr/>
          <p:nvPr/>
        </p:nvSpPr>
        <p:spPr>
          <a:xfrm>
            <a:off x="9052560" y="1600200"/>
            <a:ext cx="2788200" cy="21024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Remote, e.g. 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The shared copy.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Where collaborators, and your other machines, get the code.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Connector 13"/>
          <p:cNvCxnSpPr/>
          <p:nvPr/>
        </p:nvCxnSpPr>
        <p:spPr>
          <a:xfrm>
            <a:off x="2423160" y="3063240"/>
            <a:ext cx="983520" cy="72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37" name="TextBox 16"/>
          <p:cNvSpPr/>
          <p:nvPr/>
        </p:nvSpPr>
        <p:spPr>
          <a:xfrm>
            <a:off x="2274480" y="2660760"/>
            <a:ext cx="127944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add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stage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" name="Connector 14"/>
          <p:cNvCxnSpPr/>
          <p:nvPr/>
        </p:nvCxnSpPr>
        <p:spPr>
          <a:xfrm>
            <a:off x="5189040" y="3063240"/>
            <a:ext cx="983880" cy="72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39" name="TextBox 17"/>
          <p:cNvSpPr/>
          <p:nvPr/>
        </p:nvSpPr>
        <p:spPr>
          <a:xfrm>
            <a:off x="5040720" y="2660760"/>
            <a:ext cx="127944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commit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0" name="Connector 15"/>
          <p:cNvCxnSpPr/>
          <p:nvPr/>
        </p:nvCxnSpPr>
        <p:spPr>
          <a:xfrm>
            <a:off x="7954920" y="3063240"/>
            <a:ext cx="1098360" cy="72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41" name="TextBox 18"/>
          <p:cNvSpPr/>
          <p:nvPr/>
        </p:nvSpPr>
        <p:spPr>
          <a:xfrm>
            <a:off x="7863840" y="2660760"/>
            <a:ext cx="127944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push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publish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Connector 16"/>
          <p:cNvCxnSpPr/>
          <p:nvPr/>
        </p:nvCxnSpPr>
        <p:spPr>
          <a:xfrm>
            <a:off x="10424160" y="3703320"/>
            <a:ext cx="720" cy="823680"/>
          </a:xfrm>
          <a:prstGeom prst="straightConnector1">
            <a:avLst/>
          </a:prstGeom>
          <a:ln w="25400">
            <a:solidFill>
              <a:srgbClr val="595959"/>
            </a:solidFill>
            <a:round/>
          </a:ln>
        </p:spPr>
      </p:cxnSp>
      <p:cxnSp>
        <p:nvCxnSpPr>
          <p:cNvPr id="143" name="Connector 17"/>
          <p:cNvCxnSpPr/>
          <p:nvPr/>
        </p:nvCxnSpPr>
        <p:spPr>
          <a:xfrm flipH="1">
            <a:off x="1536120" y="4526280"/>
            <a:ext cx="8888760" cy="720"/>
          </a:xfrm>
          <a:prstGeom prst="straightConnector1">
            <a:avLst/>
          </a:prstGeom>
          <a:ln w="25400">
            <a:solidFill>
              <a:srgbClr val="595959"/>
            </a:solidFill>
            <a:round/>
          </a:ln>
        </p:spPr>
      </p:cxnSp>
      <p:cxnSp>
        <p:nvCxnSpPr>
          <p:cNvPr id="144" name="Connector 18"/>
          <p:cNvCxnSpPr/>
          <p:nvPr/>
        </p:nvCxnSpPr>
        <p:spPr>
          <a:xfrm flipV="1">
            <a:off x="1536120" y="3840480"/>
            <a:ext cx="720" cy="68652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45" name="TextBox 19"/>
          <p:cNvSpPr/>
          <p:nvPr/>
        </p:nvSpPr>
        <p:spPr>
          <a:xfrm>
            <a:off x="3566160" y="4142160"/>
            <a:ext cx="5119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pull</a:t>
            </a:r>
            <a:r>
              <a:rPr lang="en-US" sz="13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bring new commits from the remote into your clone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6" name="Connector 19"/>
          <p:cNvCxnSpPr/>
          <p:nvPr/>
        </p:nvCxnSpPr>
        <p:spPr>
          <a:xfrm>
            <a:off x="11155680" y="3703320"/>
            <a:ext cx="720" cy="1738080"/>
          </a:xfrm>
          <a:prstGeom prst="straightConnector1">
            <a:avLst/>
          </a:prstGeom>
          <a:ln w="25400">
            <a:solidFill>
              <a:srgbClr val="595959"/>
            </a:solidFill>
            <a:prstDash val="dash"/>
            <a:round/>
          </a:ln>
        </p:spPr>
      </p:cxnSp>
      <p:cxnSp>
        <p:nvCxnSpPr>
          <p:cNvPr id="147" name="Connector 20"/>
          <p:cNvCxnSpPr/>
          <p:nvPr/>
        </p:nvCxnSpPr>
        <p:spPr>
          <a:xfrm flipH="1">
            <a:off x="2743200" y="5440680"/>
            <a:ext cx="8413200" cy="720"/>
          </a:xfrm>
          <a:prstGeom prst="straightConnector1">
            <a:avLst/>
          </a:prstGeom>
          <a:ln w="25400">
            <a:solidFill>
              <a:srgbClr val="595959"/>
            </a:solidFill>
            <a:prstDash val="dash"/>
            <a:round/>
          </a:ln>
        </p:spPr>
      </p:cxnSp>
      <p:cxnSp>
        <p:nvCxnSpPr>
          <p:cNvPr id="148" name="Connector 21"/>
          <p:cNvCxnSpPr/>
          <p:nvPr/>
        </p:nvCxnSpPr>
        <p:spPr>
          <a:xfrm flipV="1">
            <a:off x="2743200" y="3840480"/>
            <a:ext cx="720" cy="1600920"/>
          </a:xfrm>
          <a:prstGeom prst="straightConnector1">
            <a:avLst/>
          </a:prstGeom>
          <a:ln w="25400">
            <a:solidFill>
              <a:srgbClr val="595959"/>
            </a:solidFill>
            <a:prstDash val="dash"/>
            <a:round/>
            <a:tailEnd len="med" type="triangle" w="med"/>
          </a:ln>
        </p:spPr>
      </p:cxnSp>
      <p:sp>
        <p:nvSpPr>
          <p:cNvPr id="149" name="TextBox 20"/>
          <p:cNvSpPr/>
          <p:nvPr/>
        </p:nvSpPr>
        <p:spPr>
          <a:xfrm>
            <a:off x="4937760" y="5056560"/>
            <a:ext cx="5119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clone</a:t>
            </a:r>
            <a:r>
              <a:rPr lang="en-US" sz="13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once, at the start: copy the whole repository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1"/>
          <p:cNvSpPr/>
          <p:nvPr/>
        </p:nvSpPr>
        <p:spPr>
          <a:xfrm>
            <a:off x="411840" y="5790960"/>
            <a:ext cx="112464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Commits are local until you push. Pull before you start work, so your clone is current because other people are pushing commits to the Remote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2514600" y="1600200"/>
            <a:ext cx="7086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>
            <a:off x="1373400" y="2286000"/>
            <a:ext cx="100562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slides: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compared to Python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57200" y="274320"/>
            <a:ext cx="103287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1 · Single Values &amp; Vectors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457200" y="822960"/>
            <a:ext cx="104202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building blocks: one value, or many values that are all the same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11036880" y="311040"/>
            <a:ext cx="380160" cy="380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Shape 3"/>
          <p:cNvSpPr/>
          <p:nvPr/>
        </p:nvSpPr>
        <p:spPr>
          <a:xfrm>
            <a:off x="11494080" y="311040"/>
            <a:ext cx="380160" cy="380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Shape 4"/>
          <p:cNvSpPr/>
          <p:nvPr/>
        </p:nvSpPr>
        <p:spPr>
          <a:xfrm>
            <a:off x="457200" y="1207080"/>
            <a:ext cx="5455080" cy="22363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676800" y="1334880"/>
            <a:ext cx="5016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Single value (a “scalar”)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694800" y="177408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7"/>
          <p:cNvSpPr/>
          <p:nvPr/>
        </p:nvSpPr>
        <p:spPr>
          <a:xfrm>
            <a:off x="1207080" y="177408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x &lt;- 3.14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8"/>
          <p:cNvSpPr/>
          <p:nvPr/>
        </p:nvSpPr>
        <p:spPr>
          <a:xfrm>
            <a:off x="694800" y="224928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9"/>
          <p:cNvSpPr/>
          <p:nvPr/>
        </p:nvSpPr>
        <p:spPr>
          <a:xfrm>
            <a:off x="1207080" y="224928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x =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713160" y="2779920"/>
            <a:ext cx="49428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No separate scalar type in R — it’s a vector of length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1"/>
          <p:cNvSpPr/>
          <p:nvPr/>
        </p:nvSpPr>
        <p:spPr>
          <a:xfrm>
            <a:off x="6245280" y="1207080"/>
            <a:ext cx="5455080" cy="22363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2"/>
          <p:cNvSpPr/>
          <p:nvPr/>
        </p:nvSpPr>
        <p:spPr>
          <a:xfrm>
            <a:off x="6464880" y="1334880"/>
            <a:ext cx="5016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Vector — many values, one 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3"/>
          <p:cNvSpPr/>
          <p:nvPr/>
        </p:nvSpPr>
        <p:spPr>
          <a:xfrm>
            <a:off x="6483240" y="177408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4" descr="preencoded.png"/>
          <p:cNvPicPr/>
          <p:nvPr/>
        </p:nvPicPr>
        <p:blipFill>
          <a:blip r:embed="rId5"/>
          <a:stretch/>
        </p:blipFill>
        <p:spPr>
          <a:xfrm>
            <a:off x="6555600" y="184644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4"/>
          <p:cNvSpPr/>
          <p:nvPr/>
        </p:nvSpPr>
        <p:spPr>
          <a:xfrm>
            <a:off x="6995160" y="177408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c(10, 20, 30)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6483240" y="224928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4" name="Image 5" descr="preencoded.png"/>
          <p:cNvPicPr/>
          <p:nvPr/>
        </p:nvPicPr>
        <p:blipFill>
          <a:blip r:embed="rId6"/>
          <a:stretch/>
        </p:blipFill>
        <p:spPr>
          <a:xfrm>
            <a:off x="6555600" y="23220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16"/>
          <p:cNvSpPr/>
          <p:nvPr/>
        </p:nvSpPr>
        <p:spPr>
          <a:xfrm>
            <a:off x="6995160" y="224928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np.array([10, 20, 30])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7"/>
          <p:cNvSpPr/>
          <p:nvPr/>
        </p:nvSpPr>
        <p:spPr>
          <a:xfrm>
            <a:off x="6501240" y="2779920"/>
            <a:ext cx="49428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R’s core structure. Every element must be the same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8"/>
          <p:cNvSpPr/>
          <p:nvPr/>
        </p:nvSpPr>
        <p:spPr>
          <a:xfrm>
            <a:off x="457200" y="3566160"/>
            <a:ext cx="5455080" cy="22363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9"/>
          <p:cNvSpPr/>
          <p:nvPr/>
        </p:nvSpPr>
        <p:spPr>
          <a:xfrm>
            <a:off x="676800" y="3694320"/>
            <a:ext cx="5016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vector (an R favorite)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0"/>
          <p:cNvSpPr/>
          <p:nvPr/>
        </p:nvSpPr>
        <p:spPr>
          <a:xfrm>
            <a:off x="694800" y="413316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6" descr="preencoded.png"/>
          <p:cNvPicPr/>
          <p:nvPr/>
        </p:nvPicPr>
        <p:blipFill>
          <a:blip r:embed="rId7"/>
          <a:stretch/>
        </p:blipFill>
        <p:spPr>
          <a:xfrm>
            <a:off x="767520" y="420552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21"/>
          <p:cNvSpPr/>
          <p:nvPr/>
        </p:nvSpPr>
        <p:spPr>
          <a:xfrm>
            <a:off x="1207080" y="413316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c(a = 10, b = 20)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2"/>
          <p:cNvSpPr/>
          <p:nvPr/>
        </p:nvSpPr>
        <p:spPr>
          <a:xfrm>
            <a:off x="694800" y="460872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7" descr="preencoded.png"/>
          <p:cNvPicPr/>
          <p:nvPr/>
        </p:nvPicPr>
        <p:blipFill>
          <a:blip r:embed="rId8"/>
          <a:stretch/>
        </p:blipFill>
        <p:spPr>
          <a:xfrm>
            <a:off x="767520" y="468108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23"/>
          <p:cNvSpPr/>
          <p:nvPr/>
        </p:nvSpPr>
        <p:spPr>
          <a:xfrm>
            <a:off x="1207080" y="460872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{"a": 10, "b": 20}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a dict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713160" y="5139000"/>
            <a:ext cx="49428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Each value has a label; grab it by name. Python uses a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5"/>
          <p:cNvSpPr/>
          <p:nvPr/>
        </p:nvSpPr>
        <p:spPr>
          <a:xfrm>
            <a:off x="6245280" y="3566160"/>
            <a:ext cx="5455080" cy="223632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6"/>
          <p:cNvSpPr/>
          <p:nvPr/>
        </p:nvSpPr>
        <p:spPr>
          <a:xfrm>
            <a:off x="6464880" y="3694320"/>
            <a:ext cx="5016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Factor — a vector for categories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7"/>
          <p:cNvSpPr/>
          <p:nvPr/>
        </p:nvSpPr>
        <p:spPr>
          <a:xfrm>
            <a:off x="6483240" y="413316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8" descr="preencoded.png"/>
          <p:cNvPicPr/>
          <p:nvPr/>
        </p:nvPicPr>
        <p:blipFill>
          <a:blip r:embed="rId9"/>
          <a:stretch/>
        </p:blipFill>
        <p:spPr>
          <a:xfrm>
            <a:off x="6555600" y="420552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Text 28"/>
          <p:cNvSpPr/>
          <p:nvPr/>
        </p:nvSpPr>
        <p:spPr>
          <a:xfrm>
            <a:off x="6995160" y="413316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factor(c("low","high"))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9"/>
          <p:cNvSpPr/>
          <p:nvPr/>
        </p:nvSpPr>
        <p:spPr>
          <a:xfrm>
            <a:off x="6483240" y="460872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" name="Image 9" descr="preencoded.png"/>
          <p:cNvPicPr/>
          <p:nvPr/>
        </p:nvPicPr>
        <p:blipFill>
          <a:blip r:embed="rId10"/>
          <a:stretch/>
        </p:blipFill>
        <p:spPr>
          <a:xfrm>
            <a:off x="6555600" y="468108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Text 30"/>
          <p:cNvSpPr/>
          <p:nvPr/>
        </p:nvSpPr>
        <p:spPr>
          <a:xfrm>
            <a:off x="6995160" y="4608720"/>
            <a:ext cx="44856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pd.Categorical(["low"])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1"/>
          <p:cNvSpPr/>
          <p:nvPr/>
        </p:nvSpPr>
        <p:spPr>
          <a:xfrm>
            <a:off x="6501240" y="5139000"/>
            <a:ext cx="49428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vector for fixed categories — e.g. treatment vs control.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2"/>
          <p:cNvSpPr/>
          <p:nvPr/>
        </p:nvSpPr>
        <p:spPr>
          <a:xfrm>
            <a:off x="457200" y="5943600"/>
            <a:ext cx="11243160" cy="47160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9525">
            <a:solidFill>
              <a:srgbClr val="E1E7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3"/>
          <p:cNvSpPr/>
          <p:nvPr/>
        </p:nvSpPr>
        <p:spPr>
          <a:xfrm>
            <a:off x="658440" y="5943600"/>
            <a:ext cx="108774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Basic types    </a:t>
            </a:r>
            <a:r>
              <a:rPr lang="en-US" sz="13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R: </a:t>
            </a:r>
            <a:r>
              <a:rPr lang="en-US" sz="125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numeric · integer · character · logical</a:t>
            </a:r>
            <a:r>
              <a:rPr lang="en-US" sz="13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      Python: </a:t>
            </a:r>
            <a:r>
              <a:rPr lang="en-US" sz="125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float · int · str · bool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4"/>
          <p:cNvSpPr/>
          <p:nvPr/>
        </p:nvSpPr>
        <p:spPr>
          <a:xfrm>
            <a:off x="10881360" y="6537960"/>
            <a:ext cx="8190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1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457200" y="274320"/>
            <a:ext cx="103287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2 · Lists, Dictionaries &amp; Arrays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457200" y="822960"/>
            <a:ext cx="104202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Mixing types, labelling items, and working with grids of numbers.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11036880" y="311040"/>
            <a:ext cx="380160" cy="380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Shape 3"/>
          <p:cNvSpPr/>
          <p:nvPr/>
        </p:nvSpPr>
        <p:spPr>
          <a:xfrm>
            <a:off x="11494080" y="311040"/>
            <a:ext cx="380160" cy="380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Shape 4"/>
          <p:cNvSpPr/>
          <p:nvPr/>
        </p:nvSpPr>
        <p:spPr>
          <a:xfrm>
            <a:off x="457200" y="1207080"/>
            <a:ext cx="5299560" cy="232776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76800" y="1334880"/>
            <a:ext cx="48607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List — a mixed bag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6"/>
          <p:cNvSpPr/>
          <p:nvPr/>
        </p:nvSpPr>
        <p:spPr>
          <a:xfrm>
            <a:off x="694800" y="177408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7"/>
          <p:cNvSpPr/>
          <p:nvPr/>
        </p:nvSpPr>
        <p:spPr>
          <a:xfrm>
            <a:off x="1207080" y="1774080"/>
            <a:ext cx="433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list(1, "two", TRUE)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694800" y="224928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 9"/>
          <p:cNvSpPr/>
          <p:nvPr/>
        </p:nvSpPr>
        <p:spPr>
          <a:xfrm>
            <a:off x="1207080" y="2249280"/>
            <a:ext cx="433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[1, "two", True]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713160" y="2779920"/>
            <a:ext cx="478764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list can mix types — and even hold other lists inside.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457200" y="3657600"/>
            <a:ext cx="5299560" cy="232776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2"/>
          <p:cNvSpPr/>
          <p:nvPr/>
        </p:nvSpPr>
        <p:spPr>
          <a:xfrm>
            <a:off x="676800" y="3785760"/>
            <a:ext cx="48607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list  /  Dictionary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3"/>
          <p:cNvSpPr/>
          <p:nvPr/>
        </p:nvSpPr>
        <p:spPr>
          <a:xfrm>
            <a:off x="694800" y="422460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4" descr="preencoded.png"/>
          <p:cNvPicPr/>
          <p:nvPr/>
        </p:nvPicPr>
        <p:blipFill>
          <a:blip r:embed="rId5"/>
          <a:stretch/>
        </p:blipFill>
        <p:spPr>
          <a:xfrm>
            <a:off x="767520" y="429696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14"/>
          <p:cNvSpPr/>
          <p:nvPr/>
        </p:nvSpPr>
        <p:spPr>
          <a:xfrm>
            <a:off x="1207080" y="4224600"/>
            <a:ext cx="433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list(name="Ada")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x$name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694800" y="470016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9" name="Image 5" descr="preencoded.png"/>
          <p:cNvPicPr/>
          <p:nvPr/>
        </p:nvPicPr>
        <p:blipFill>
          <a:blip r:embed="rId6"/>
          <a:stretch/>
        </p:blipFill>
        <p:spPr>
          <a:xfrm>
            <a:off x="767520" y="477252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16"/>
          <p:cNvSpPr/>
          <p:nvPr/>
        </p:nvSpPr>
        <p:spPr>
          <a:xfrm>
            <a:off x="1207080" y="4700160"/>
            <a:ext cx="433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{"name":"Ada"}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x["name"]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7"/>
          <p:cNvSpPr/>
          <p:nvPr/>
        </p:nvSpPr>
        <p:spPr>
          <a:xfrm>
            <a:off x="713160" y="5230440"/>
            <a:ext cx="478764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Label each item. An R named list ≈ a Python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8"/>
          <p:cNvSpPr/>
          <p:nvPr/>
        </p:nvSpPr>
        <p:spPr>
          <a:xfrm>
            <a:off x="5897880" y="1207080"/>
            <a:ext cx="5802480" cy="1989360"/>
          </a:xfrm>
          <a:prstGeom prst="roundRect">
            <a:avLst>
              <a:gd name="adj" fmla="val 2752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9"/>
          <p:cNvSpPr/>
          <p:nvPr/>
        </p:nvSpPr>
        <p:spPr>
          <a:xfrm>
            <a:off x="6117480" y="1334880"/>
            <a:ext cx="536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Matrix / Array — a grid of numbers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0"/>
          <p:cNvSpPr/>
          <p:nvPr/>
        </p:nvSpPr>
        <p:spPr>
          <a:xfrm>
            <a:off x="6135480" y="177408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6" descr="preencoded.png"/>
          <p:cNvPicPr/>
          <p:nvPr/>
        </p:nvPicPr>
        <p:blipFill>
          <a:blip r:embed="rId7"/>
          <a:stretch/>
        </p:blipFill>
        <p:spPr>
          <a:xfrm>
            <a:off x="6208200" y="184644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21"/>
          <p:cNvSpPr/>
          <p:nvPr/>
        </p:nvSpPr>
        <p:spPr>
          <a:xfrm>
            <a:off x="6647760" y="1774080"/>
            <a:ext cx="48333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matrix(1:6, nrow=2)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2"/>
          <p:cNvSpPr/>
          <p:nvPr/>
        </p:nvSpPr>
        <p:spPr>
          <a:xfrm>
            <a:off x="6135480" y="224928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" name="Image 7" descr="preencoded.png"/>
          <p:cNvPicPr/>
          <p:nvPr/>
        </p:nvPicPr>
        <p:blipFill>
          <a:blip r:embed="rId8"/>
          <a:stretch/>
        </p:blipFill>
        <p:spPr>
          <a:xfrm>
            <a:off x="6208200" y="23220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 23"/>
          <p:cNvSpPr/>
          <p:nvPr/>
        </p:nvSpPr>
        <p:spPr>
          <a:xfrm>
            <a:off x="6647760" y="2249280"/>
            <a:ext cx="48333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np.array([[1,2,3],[4,5,6]])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4"/>
          <p:cNvSpPr/>
          <p:nvPr/>
        </p:nvSpPr>
        <p:spPr>
          <a:xfrm>
            <a:off x="6153840" y="2779920"/>
            <a:ext cx="52905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type, in rows × columns.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5"/>
          <p:cNvSpPr/>
          <p:nvPr/>
        </p:nvSpPr>
        <p:spPr>
          <a:xfrm>
            <a:off x="5897880" y="3319200"/>
            <a:ext cx="5802480" cy="2666160"/>
          </a:xfrm>
          <a:prstGeom prst="roundRect">
            <a:avLst>
              <a:gd name="adj" fmla="val 2055"/>
            </a:avLst>
          </a:prstGeom>
          <a:solidFill>
            <a:srgbClr val="EFF6FB"/>
          </a:solidFill>
          <a:ln w="9525">
            <a:solidFill>
              <a:srgbClr val="CFE0EE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6"/>
          <p:cNvSpPr/>
          <p:nvPr/>
        </p:nvSpPr>
        <p:spPr>
          <a:xfrm>
            <a:off x="6117480" y="3429000"/>
            <a:ext cx="53636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NumPy broadcasting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7"/>
          <p:cNvSpPr/>
          <p:nvPr/>
        </p:nvSpPr>
        <p:spPr>
          <a:xfrm>
            <a:off x="6117480" y="3822120"/>
            <a:ext cx="536364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When arrays have different shapes, NumPy stretches the smaller one to fit — without copying any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8"/>
          <p:cNvSpPr/>
          <p:nvPr/>
        </p:nvSpPr>
        <p:spPr>
          <a:xfrm>
            <a:off x="611748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9"/>
          <p:cNvSpPr/>
          <p:nvPr/>
        </p:nvSpPr>
        <p:spPr>
          <a:xfrm>
            <a:off x="611748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0"/>
          <p:cNvSpPr/>
          <p:nvPr/>
        </p:nvSpPr>
        <p:spPr>
          <a:xfrm>
            <a:off x="662940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1"/>
          <p:cNvSpPr/>
          <p:nvPr/>
        </p:nvSpPr>
        <p:spPr>
          <a:xfrm>
            <a:off x="662940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2"/>
          <p:cNvSpPr/>
          <p:nvPr/>
        </p:nvSpPr>
        <p:spPr>
          <a:xfrm>
            <a:off x="714132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3"/>
          <p:cNvSpPr/>
          <p:nvPr/>
        </p:nvSpPr>
        <p:spPr>
          <a:xfrm>
            <a:off x="714132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4"/>
          <p:cNvSpPr/>
          <p:nvPr/>
        </p:nvSpPr>
        <p:spPr>
          <a:xfrm>
            <a:off x="7653600" y="4599360"/>
            <a:ext cx="3250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5"/>
          <p:cNvSpPr/>
          <p:nvPr/>
        </p:nvSpPr>
        <p:spPr>
          <a:xfrm>
            <a:off x="801936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6"/>
          <p:cNvSpPr/>
          <p:nvPr/>
        </p:nvSpPr>
        <p:spPr>
          <a:xfrm>
            <a:off x="801936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37"/>
          <p:cNvSpPr/>
          <p:nvPr/>
        </p:nvSpPr>
        <p:spPr>
          <a:xfrm>
            <a:off x="853128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8"/>
          <p:cNvSpPr/>
          <p:nvPr/>
        </p:nvSpPr>
        <p:spPr>
          <a:xfrm>
            <a:off x="853128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9"/>
          <p:cNvSpPr/>
          <p:nvPr/>
        </p:nvSpPr>
        <p:spPr>
          <a:xfrm>
            <a:off x="904356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0"/>
          <p:cNvSpPr/>
          <p:nvPr/>
        </p:nvSpPr>
        <p:spPr>
          <a:xfrm>
            <a:off x="904356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41"/>
          <p:cNvSpPr/>
          <p:nvPr/>
        </p:nvSpPr>
        <p:spPr>
          <a:xfrm>
            <a:off x="9555480" y="4599360"/>
            <a:ext cx="3250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2"/>
          <p:cNvSpPr/>
          <p:nvPr/>
        </p:nvSpPr>
        <p:spPr>
          <a:xfrm>
            <a:off x="992124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3"/>
          <p:cNvSpPr/>
          <p:nvPr/>
        </p:nvSpPr>
        <p:spPr>
          <a:xfrm>
            <a:off x="992124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44"/>
          <p:cNvSpPr/>
          <p:nvPr/>
        </p:nvSpPr>
        <p:spPr>
          <a:xfrm>
            <a:off x="1043316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5"/>
          <p:cNvSpPr/>
          <p:nvPr/>
        </p:nvSpPr>
        <p:spPr>
          <a:xfrm>
            <a:off x="1043316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6"/>
          <p:cNvSpPr/>
          <p:nvPr/>
        </p:nvSpPr>
        <p:spPr>
          <a:xfrm>
            <a:off x="10945440" y="4617720"/>
            <a:ext cx="453240" cy="45324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47"/>
          <p:cNvSpPr/>
          <p:nvPr/>
        </p:nvSpPr>
        <p:spPr>
          <a:xfrm>
            <a:off x="10945440" y="461772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48"/>
          <p:cNvSpPr/>
          <p:nvPr/>
        </p:nvSpPr>
        <p:spPr>
          <a:xfrm>
            <a:off x="6117480" y="5257800"/>
            <a:ext cx="536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np.array([1,2,3]) + 10</a:t>
            </a:r>
            <a:r>
              <a:rPr lang="en-US" sz="135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 → the 10 is added to every element.  </a:t>
            </a:r>
            <a:r>
              <a:rPr lang="en-US" sz="135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 calls this “recycling.”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9"/>
          <p:cNvSpPr/>
          <p:nvPr/>
        </p:nvSpPr>
        <p:spPr>
          <a:xfrm>
            <a:off x="10881360" y="6537960"/>
            <a:ext cx="8190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2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457200" y="274320"/>
            <a:ext cx="103287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3 · Tables: data.frame, tibble &amp; DataFrame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457200" y="822960"/>
            <a:ext cx="104202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Rows and columns — the format you’ll use most for real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"/>
          <p:cNvSpPr/>
          <p:nvPr/>
        </p:nvSpPr>
        <p:spPr>
          <a:xfrm>
            <a:off x="11036880" y="311040"/>
            <a:ext cx="380160" cy="380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9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Shape 3"/>
          <p:cNvSpPr/>
          <p:nvPr/>
        </p:nvSpPr>
        <p:spPr>
          <a:xfrm>
            <a:off x="11494080" y="311040"/>
            <a:ext cx="380160" cy="380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4"/>
          <p:cNvSpPr/>
          <p:nvPr/>
        </p:nvSpPr>
        <p:spPr>
          <a:xfrm>
            <a:off x="457200" y="1097280"/>
            <a:ext cx="112431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Every object below stores data as rows × columns, like this: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3840480" y="1371600"/>
          <a:ext cx="4480200" cy="131616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463040"/>
              </a:tblGrid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TP53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5.2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EGFR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8.1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MYC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6.7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5"/>
          <p:cNvSpPr/>
          <p:nvPr/>
        </p:nvSpPr>
        <p:spPr>
          <a:xfrm>
            <a:off x="457200" y="2853000"/>
            <a:ext cx="5482440" cy="434880"/>
          </a:xfrm>
          <a:prstGeom prst="roundRect">
            <a:avLst>
              <a:gd name="adj" fmla="val 12500"/>
            </a:avLst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6"/>
          <p:cNvSpPr/>
          <p:nvPr/>
        </p:nvSpPr>
        <p:spPr>
          <a:xfrm>
            <a:off x="585360" y="2917080"/>
            <a:ext cx="307080" cy="30708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2" descr="preencoded.png"/>
          <p:cNvPicPr/>
          <p:nvPr/>
        </p:nvPicPr>
        <p:blipFill>
          <a:blip r:embed="rId3"/>
          <a:stretch/>
        </p:blipFill>
        <p:spPr>
          <a:xfrm>
            <a:off x="641160" y="2972880"/>
            <a:ext cx="195120" cy="19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7"/>
          <p:cNvSpPr/>
          <p:nvPr/>
        </p:nvSpPr>
        <p:spPr>
          <a:xfrm>
            <a:off x="987480" y="2853000"/>
            <a:ext cx="48423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8"/>
          <p:cNvSpPr/>
          <p:nvPr/>
        </p:nvSpPr>
        <p:spPr>
          <a:xfrm>
            <a:off x="457200" y="3401640"/>
            <a:ext cx="5482440" cy="95616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9"/>
          <p:cNvSpPr/>
          <p:nvPr/>
        </p:nvSpPr>
        <p:spPr>
          <a:xfrm>
            <a:off x="640080" y="3493080"/>
            <a:ext cx="51166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data.frame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0"/>
          <p:cNvSpPr/>
          <p:nvPr/>
        </p:nvSpPr>
        <p:spPr>
          <a:xfrm>
            <a:off x="640080" y="3904560"/>
            <a:ext cx="511668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Base R’s classic table; columns may differ in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1"/>
          <p:cNvSpPr/>
          <p:nvPr/>
        </p:nvSpPr>
        <p:spPr>
          <a:xfrm>
            <a:off x="457200" y="4471560"/>
            <a:ext cx="5482440" cy="95616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2"/>
          <p:cNvSpPr/>
          <p:nvPr/>
        </p:nvSpPr>
        <p:spPr>
          <a:xfrm>
            <a:off x="640080" y="4563000"/>
            <a:ext cx="51166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tibble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3"/>
          <p:cNvSpPr/>
          <p:nvPr/>
        </p:nvSpPr>
        <p:spPr>
          <a:xfrm>
            <a:off x="640080" y="4974480"/>
            <a:ext cx="511668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Tidyverse table — cleaner, stricter, keeps text as 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4"/>
          <p:cNvSpPr/>
          <p:nvPr/>
        </p:nvSpPr>
        <p:spPr>
          <a:xfrm>
            <a:off x="457200" y="5541120"/>
            <a:ext cx="5482440" cy="95616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5"/>
          <p:cNvSpPr/>
          <p:nvPr/>
        </p:nvSpPr>
        <p:spPr>
          <a:xfrm>
            <a:off x="640080" y="5632560"/>
            <a:ext cx="51166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data.table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6"/>
          <p:cNvSpPr/>
          <p:nvPr/>
        </p:nvSpPr>
        <p:spPr>
          <a:xfrm>
            <a:off x="640080" y="6044040"/>
            <a:ext cx="511668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Built for speed on big data: DT[i, j, by].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7"/>
          <p:cNvSpPr/>
          <p:nvPr/>
        </p:nvSpPr>
        <p:spPr>
          <a:xfrm>
            <a:off x="6217920" y="2853000"/>
            <a:ext cx="5482440" cy="434880"/>
          </a:xfrm>
          <a:prstGeom prst="roundRect">
            <a:avLst>
              <a:gd name="adj" fmla="val 12500"/>
            </a:avLst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8"/>
          <p:cNvSpPr/>
          <p:nvPr/>
        </p:nvSpPr>
        <p:spPr>
          <a:xfrm>
            <a:off x="6346080" y="2917080"/>
            <a:ext cx="307080" cy="30708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3" descr="preencoded.png"/>
          <p:cNvPicPr/>
          <p:nvPr/>
        </p:nvPicPr>
        <p:blipFill>
          <a:blip r:embed="rId4"/>
          <a:stretch/>
        </p:blipFill>
        <p:spPr>
          <a:xfrm>
            <a:off x="6401880" y="2972880"/>
            <a:ext cx="195120" cy="19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19"/>
          <p:cNvSpPr/>
          <p:nvPr/>
        </p:nvSpPr>
        <p:spPr>
          <a:xfrm>
            <a:off x="6748200" y="2853000"/>
            <a:ext cx="48423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0"/>
          <p:cNvSpPr/>
          <p:nvPr/>
        </p:nvSpPr>
        <p:spPr>
          <a:xfrm>
            <a:off x="6217920" y="3401640"/>
            <a:ext cx="5482440" cy="95616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1"/>
          <p:cNvSpPr/>
          <p:nvPr/>
        </p:nvSpPr>
        <p:spPr>
          <a:xfrm>
            <a:off x="6400800" y="3493080"/>
            <a:ext cx="51166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pandas.DataFrame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2"/>
          <p:cNvSpPr/>
          <p:nvPr/>
        </p:nvSpPr>
        <p:spPr>
          <a:xfrm>
            <a:off x="6400800" y="3904560"/>
            <a:ext cx="511668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everyday Python table — matches all three at left.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3"/>
          <p:cNvSpPr/>
          <p:nvPr/>
        </p:nvSpPr>
        <p:spPr>
          <a:xfrm>
            <a:off x="6217920" y="4471560"/>
            <a:ext cx="5482440" cy="95616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4"/>
          <p:cNvSpPr/>
          <p:nvPr/>
        </p:nvSpPr>
        <p:spPr>
          <a:xfrm>
            <a:off x="6400800" y="4563000"/>
            <a:ext cx="51166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polars.DataFrame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pl.DataFrame(…)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5"/>
          <p:cNvSpPr/>
          <p:nvPr/>
        </p:nvSpPr>
        <p:spPr>
          <a:xfrm>
            <a:off x="6400800" y="4974480"/>
            <a:ext cx="511668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Fast, modern — Python’s answer to R’s data.table.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6"/>
          <p:cNvSpPr/>
          <p:nvPr/>
        </p:nvSpPr>
        <p:spPr>
          <a:xfrm>
            <a:off x="6217920" y="5541120"/>
            <a:ext cx="5482440" cy="956160"/>
          </a:xfrm>
          <a:prstGeom prst="roundRect">
            <a:avLst>
              <a:gd name="adj" fmla="val 5714"/>
            </a:avLst>
          </a:prstGeom>
          <a:solidFill>
            <a:srgbClr val="FEF6E7"/>
          </a:solidFill>
          <a:ln w="9525">
            <a:solidFill>
              <a:srgbClr val="F0DDB6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7"/>
          <p:cNvSpPr/>
          <p:nvPr/>
        </p:nvSpPr>
        <p:spPr>
          <a:xfrm>
            <a:off x="6400800" y="5541120"/>
            <a:ext cx="5116680" cy="9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97E1A"/>
                </a:solidFill>
                <a:effectLst/>
                <a:uFillTx/>
                <a:latin typeface="Calibri"/>
                <a:ea typeface="Calibri"/>
              </a:rPr>
              <a:t>Rule of thumb: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/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pandas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,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polars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28"/>
          <p:cNvSpPr/>
          <p:nvPr/>
        </p:nvSpPr>
        <p:spPr>
          <a:xfrm>
            <a:off x="10881360" y="6537960"/>
            <a:ext cx="8190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3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457200" y="274320"/>
            <a:ext cx="103287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4 · Selecting Columns &amp;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457200" y="822960"/>
            <a:ext cx="104202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two most common moves — pick the columns you want, keep the rows you want.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"/>
          <p:cNvSpPr/>
          <p:nvPr/>
        </p:nvSpPr>
        <p:spPr>
          <a:xfrm>
            <a:off x="11036880" y="311040"/>
            <a:ext cx="380160" cy="380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Shape 3"/>
          <p:cNvSpPr/>
          <p:nvPr/>
        </p:nvSpPr>
        <p:spPr>
          <a:xfrm>
            <a:off x="11494080" y="311040"/>
            <a:ext cx="380160" cy="380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5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Shape 4"/>
          <p:cNvSpPr/>
          <p:nvPr/>
        </p:nvSpPr>
        <p:spPr>
          <a:xfrm>
            <a:off x="457200" y="1280160"/>
            <a:ext cx="11243160" cy="23918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5"/>
          <p:cNvSpPr/>
          <p:nvPr/>
        </p:nvSpPr>
        <p:spPr>
          <a:xfrm>
            <a:off x="731520" y="1463040"/>
            <a:ext cx="453240" cy="453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7680" cy="24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6"/>
          <p:cNvSpPr/>
          <p:nvPr/>
        </p:nvSpPr>
        <p:spPr>
          <a:xfrm>
            <a:off x="1353240" y="1463040"/>
            <a:ext cx="10145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7"/>
          <p:cNvSpPr/>
          <p:nvPr/>
        </p:nvSpPr>
        <p:spPr>
          <a:xfrm>
            <a:off x="768240" y="204840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1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Text 8"/>
          <p:cNvSpPr/>
          <p:nvPr/>
        </p:nvSpPr>
        <p:spPr>
          <a:xfrm>
            <a:off x="1280160" y="204840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2240280" y="204840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select(gene, expr)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768240" y="257868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5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Text 11"/>
          <p:cNvSpPr/>
          <p:nvPr/>
        </p:nvSpPr>
        <p:spPr>
          <a:xfrm>
            <a:off x="1280160" y="257868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2"/>
          <p:cNvSpPr/>
          <p:nvPr/>
        </p:nvSpPr>
        <p:spPr>
          <a:xfrm>
            <a:off x="2240280" y="257868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df[["gene", "expr"]]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786240" y="3090600"/>
            <a:ext cx="10603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columns you name.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786240" y="338328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df.select("gene", "expr")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457200" y="3822120"/>
            <a:ext cx="11243160" cy="23918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6"/>
          <p:cNvSpPr/>
          <p:nvPr/>
        </p:nvSpPr>
        <p:spPr>
          <a:xfrm>
            <a:off x="731520" y="4005000"/>
            <a:ext cx="453240" cy="453240"/>
          </a:xfrm>
          <a:prstGeom prst="ellipse">
            <a:avLst/>
          </a:prstGeom>
          <a:solidFill>
            <a:srgbClr val="1F7A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2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7680" cy="24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Text 17"/>
          <p:cNvSpPr/>
          <p:nvPr/>
        </p:nvSpPr>
        <p:spPr>
          <a:xfrm>
            <a:off x="1353240" y="4005000"/>
            <a:ext cx="10145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8"/>
          <p:cNvSpPr/>
          <p:nvPr/>
        </p:nvSpPr>
        <p:spPr>
          <a:xfrm>
            <a:off x="768240" y="459036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19"/>
          <p:cNvSpPr/>
          <p:nvPr/>
        </p:nvSpPr>
        <p:spPr>
          <a:xfrm>
            <a:off x="1280160" y="459036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0"/>
          <p:cNvSpPr/>
          <p:nvPr/>
        </p:nvSpPr>
        <p:spPr>
          <a:xfrm>
            <a:off x="2240280" y="459036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filter(expr &gt; 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21"/>
          <p:cNvSpPr/>
          <p:nvPr/>
        </p:nvSpPr>
        <p:spPr>
          <a:xfrm>
            <a:off x="768240" y="512064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9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" name="Text 22"/>
          <p:cNvSpPr/>
          <p:nvPr/>
        </p:nvSpPr>
        <p:spPr>
          <a:xfrm>
            <a:off x="1280160" y="512064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3"/>
          <p:cNvSpPr/>
          <p:nvPr/>
        </p:nvSpPr>
        <p:spPr>
          <a:xfrm>
            <a:off x="2240280" y="512064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df[df["expr"] &gt; 6]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4"/>
          <p:cNvSpPr/>
          <p:nvPr/>
        </p:nvSpPr>
        <p:spPr>
          <a:xfrm>
            <a:off x="786240" y="5632560"/>
            <a:ext cx="10603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rows that meet a condition.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5"/>
          <p:cNvSpPr/>
          <p:nvPr/>
        </p:nvSpPr>
        <p:spPr>
          <a:xfrm>
            <a:off x="786240" y="592524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df.filter(pl.col("expr") &gt; 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6"/>
          <p:cNvSpPr/>
          <p:nvPr/>
        </p:nvSpPr>
        <p:spPr>
          <a:xfrm>
            <a:off x="10881360" y="6537960"/>
            <a:ext cx="8190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4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457200" y="274320"/>
            <a:ext cx="103287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5 · Adding &amp; Updating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457200" y="822960"/>
            <a:ext cx="104202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observation, or change a value in an existing row.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11036880" y="311040"/>
            <a:ext cx="380160" cy="380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8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Shape 3"/>
          <p:cNvSpPr/>
          <p:nvPr/>
        </p:nvSpPr>
        <p:spPr>
          <a:xfrm>
            <a:off x="11494080" y="311040"/>
            <a:ext cx="380160" cy="380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0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Shape 4"/>
          <p:cNvSpPr/>
          <p:nvPr/>
        </p:nvSpPr>
        <p:spPr>
          <a:xfrm>
            <a:off x="457200" y="1280160"/>
            <a:ext cx="11243160" cy="23918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5"/>
          <p:cNvSpPr/>
          <p:nvPr/>
        </p:nvSpPr>
        <p:spPr>
          <a:xfrm>
            <a:off x="731520" y="1463040"/>
            <a:ext cx="453240" cy="453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3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7680" cy="24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Text 6"/>
          <p:cNvSpPr/>
          <p:nvPr/>
        </p:nvSpPr>
        <p:spPr>
          <a:xfrm>
            <a:off x="1353240" y="1463040"/>
            <a:ext cx="10145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7"/>
          <p:cNvSpPr/>
          <p:nvPr/>
        </p:nvSpPr>
        <p:spPr>
          <a:xfrm>
            <a:off x="768240" y="204840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6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8"/>
          <p:cNvSpPr/>
          <p:nvPr/>
        </p:nvSpPr>
        <p:spPr>
          <a:xfrm>
            <a:off x="1280160" y="204840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9"/>
          <p:cNvSpPr/>
          <p:nvPr/>
        </p:nvSpPr>
        <p:spPr>
          <a:xfrm>
            <a:off x="2240280" y="204840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add_row(sample="S4", gene="KRAS", expr=7.3)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0"/>
          <p:cNvSpPr/>
          <p:nvPr/>
        </p:nvSpPr>
        <p:spPr>
          <a:xfrm>
            <a:off x="768240" y="257868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1"/>
          <p:cNvSpPr/>
          <p:nvPr/>
        </p:nvSpPr>
        <p:spPr>
          <a:xfrm>
            <a:off x="1280160" y="257868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2"/>
          <p:cNvSpPr/>
          <p:nvPr/>
        </p:nvSpPr>
        <p:spPr>
          <a:xfrm>
            <a:off x="2240280" y="257868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df.loc[len(df)] = ["S4", "KRAS", 7.3]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3"/>
          <p:cNvSpPr/>
          <p:nvPr/>
        </p:nvSpPr>
        <p:spPr>
          <a:xfrm>
            <a:off x="786240" y="3090600"/>
            <a:ext cx="10603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 (sample S4) to the bottom.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"/>
          <p:cNvSpPr/>
          <p:nvPr/>
        </p:nvSpPr>
        <p:spPr>
          <a:xfrm>
            <a:off x="786240" y="338328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pl.concat([df, df_new])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5"/>
          <p:cNvSpPr/>
          <p:nvPr/>
        </p:nvSpPr>
        <p:spPr>
          <a:xfrm>
            <a:off x="457200" y="3822120"/>
            <a:ext cx="11243160" cy="239184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6"/>
          <p:cNvSpPr/>
          <p:nvPr/>
        </p:nvSpPr>
        <p:spPr>
          <a:xfrm>
            <a:off x="731520" y="4005000"/>
            <a:ext cx="453240" cy="453240"/>
          </a:xfrm>
          <a:prstGeom prst="ellipse">
            <a:avLst/>
          </a:prstGeom>
          <a:solidFill>
            <a:srgbClr val="B565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7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7680" cy="24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Text 17"/>
          <p:cNvSpPr/>
          <p:nvPr/>
        </p:nvSpPr>
        <p:spPr>
          <a:xfrm>
            <a:off x="1353240" y="4005000"/>
            <a:ext cx="10145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 in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8"/>
          <p:cNvSpPr/>
          <p:nvPr/>
        </p:nvSpPr>
        <p:spPr>
          <a:xfrm>
            <a:off x="768240" y="4590360"/>
            <a:ext cx="398520" cy="39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0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Text 19"/>
          <p:cNvSpPr/>
          <p:nvPr/>
        </p:nvSpPr>
        <p:spPr>
          <a:xfrm>
            <a:off x="1280160" y="459036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0"/>
          <p:cNvSpPr/>
          <p:nvPr/>
        </p:nvSpPr>
        <p:spPr>
          <a:xfrm>
            <a:off x="2240280" y="459036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mutate(expr = if_else(sample=="S2", 9.0, expr))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1"/>
          <p:cNvSpPr/>
          <p:nvPr/>
        </p:nvSpPr>
        <p:spPr>
          <a:xfrm>
            <a:off x="768240" y="5120640"/>
            <a:ext cx="398520" cy="39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4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Text 22"/>
          <p:cNvSpPr/>
          <p:nvPr/>
        </p:nvSpPr>
        <p:spPr>
          <a:xfrm>
            <a:off x="1280160" y="5120640"/>
            <a:ext cx="91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3"/>
          <p:cNvSpPr/>
          <p:nvPr/>
        </p:nvSpPr>
        <p:spPr>
          <a:xfrm>
            <a:off x="2240280" y="5120640"/>
            <a:ext cx="92314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df.loc[df["sample"] == "S2", "expr"] = 9.0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4"/>
          <p:cNvSpPr/>
          <p:nvPr/>
        </p:nvSpPr>
        <p:spPr>
          <a:xfrm>
            <a:off x="786240" y="5632560"/>
            <a:ext cx="106030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Change a cell where a condition holds (set S2’s expr to 9.0).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5"/>
          <p:cNvSpPr/>
          <p:nvPr/>
        </p:nvSpPr>
        <p:spPr>
          <a:xfrm>
            <a:off x="786240" y="592524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25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df.with_columns(pl.when(pl.col("sample")=="S2").then(9.0).otherwise(pl.col("expr")).alias("expr"))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6"/>
          <p:cNvSpPr/>
          <p:nvPr/>
        </p:nvSpPr>
        <p:spPr>
          <a:xfrm>
            <a:off x="10881360" y="6537960"/>
            <a:ext cx="8190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5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ext 0"/>
          <p:cNvSpPr/>
          <p:nvPr/>
        </p:nvSpPr>
        <p:spPr>
          <a:xfrm>
            <a:off x="457200" y="274320"/>
            <a:ext cx="103287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Backup Slides: The Older Base R Way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"/>
          <p:cNvSpPr/>
          <p:nvPr/>
        </p:nvSpPr>
        <p:spPr>
          <a:xfrm>
            <a:off x="457200" y="822960"/>
            <a:ext cx="104202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operations without the tidyverse — worth recognizing in older code.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2"/>
          <p:cNvSpPr/>
          <p:nvPr/>
        </p:nvSpPr>
        <p:spPr>
          <a:xfrm>
            <a:off x="11036880" y="311040"/>
            <a:ext cx="380160" cy="380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Shape 3"/>
          <p:cNvSpPr/>
          <p:nvPr/>
        </p:nvSpPr>
        <p:spPr>
          <a:xfrm>
            <a:off x="11494080" y="311040"/>
            <a:ext cx="380160" cy="380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5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920" cy="2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Shape 4"/>
          <p:cNvSpPr/>
          <p:nvPr/>
        </p:nvSpPr>
        <p:spPr>
          <a:xfrm>
            <a:off x="10104120" y="841320"/>
            <a:ext cx="910440" cy="307080"/>
          </a:xfrm>
          <a:prstGeom prst="roundRect">
            <a:avLst>
              <a:gd name="adj" fmla="val 14706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10104120" y="841320"/>
            <a:ext cx="9104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"/>
          <p:cNvSpPr/>
          <p:nvPr/>
        </p:nvSpPr>
        <p:spPr>
          <a:xfrm>
            <a:off x="457200" y="1298520"/>
            <a:ext cx="11243160" cy="12168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7"/>
          <p:cNvSpPr/>
          <p:nvPr/>
        </p:nvSpPr>
        <p:spPr>
          <a:xfrm>
            <a:off x="731520" y="1698480"/>
            <a:ext cx="416520" cy="416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0" name="Image 2" descr="preencoded.png"/>
          <p:cNvPicPr/>
          <p:nvPr/>
        </p:nvPicPr>
        <p:blipFill>
          <a:blip r:embed="rId3"/>
          <a:stretch/>
        </p:blipFill>
        <p:spPr>
          <a:xfrm>
            <a:off x="807120" y="177408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Text 8"/>
          <p:cNvSpPr/>
          <p:nvPr/>
        </p:nvSpPr>
        <p:spPr>
          <a:xfrm>
            <a:off x="1325880" y="1417320"/>
            <a:ext cx="101458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9"/>
          <p:cNvSpPr/>
          <p:nvPr/>
        </p:nvSpPr>
        <p:spPr>
          <a:xfrm>
            <a:off x="1325880" y="1755720"/>
            <a:ext cx="10145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df[, c("gene", "expr")]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0"/>
          <p:cNvSpPr/>
          <p:nvPr/>
        </p:nvSpPr>
        <p:spPr>
          <a:xfrm>
            <a:off x="1325880" y="2167200"/>
            <a:ext cx="10145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Add drop=FALSE to guarantee it stays a data.frame.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1"/>
          <p:cNvSpPr/>
          <p:nvPr/>
        </p:nvSpPr>
        <p:spPr>
          <a:xfrm>
            <a:off x="457200" y="2629080"/>
            <a:ext cx="11243160" cy="12168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2"/>
          <p:cNvSpPr/>
          <p:nvPr/>
        </p:nvSpPr>
        <p:spPr>
          <a:xfrm>
            <a:off x="731520" y="3029040"/>
            <a:ext cx="416520" cy="416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6" name="Image 3" descr="preencoded.png"/>
          <p:cNvPicPr/>
          <p:nvPr/>
        </p:nvPicPr>
        <p:blipFill>
          <a:blip r:embed="rId4"/>
          <a:stretch/>
        </p:blipFill>
        <p:spPr>
          <a:xfrm>
            <a:off x="807120" y="310464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Text 13"/>
          <p:cNvSpPr/>
          <p:nvPr/>
        </p:nvSpPr>
        <p:spPr>
          <a:xfrm>
            <a:off x="1325880" y="2747880"/>
            <a:ext cx="101458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4"/>
          <p:cNvSpPr/>
          <p:nvPr/>
        </p:nvSpPr>
        <p:spPr>
          <a:xfrm>
            <a:off x="1325880" y="3086280"/>
            <a:ext cx="10145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df[df$expr &gt; 6, 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5"/>
          <p:cNvSpPr/>
          <p:nvPr/>
        </p:nvSpPr>
        <p:spPr>
          <a:xfrm>
            <a:off x="1325880" y="3497760"/>
            <a:ext cx="10145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Mind the trailing comma — it means “all columns.”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6"/>
          <p:cNvSpPr/>
          <p:nvPr/>
        </p:nvSpPr>
        <p:spPr>
          <a:xfrm>
            <a:off x="457200" y="3959280"/>
            <a:ext cx="11243160" cy="12168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7"/>
          <p:cNvSpPr/>
          <p:nvPr/>
        </p:nvSpPr>
        <p:spPr>
          <a:xfrm>
            <a:off x="731520" y="4359240"/>
            <a:ext cx="416520" cy="416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2" name="Image 4" descr="preencoded.png"/>
          <p:cNvPicPr/>
          <p:nvPr/>
        </p:nvPicPr>
        <p:blipFill>
          <a:blip r:embed="rId5"/>
          <a:stretch/>
        </p:blipFill>
        <p:spPr>
          <a:xfrm>
            <a:off x="807120" y="443520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Text 18"/>
          <p:cNvSpPr/>
          <p:nvPr/>
        </p:nvSpPr>
        <p:spPr>
          <a:xfrm>
            <a:off x="1325880" y="4078080"/>
            <a:ext cx="101458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9"/>
          <p:cNvSpPr/>
          <p:nvPr/>
        </p:nvSpPr>
        <p:spPr>
          <a:xfrm>
            <a:off x="1325880" y="4416480"/>
            <a:ext cx="10145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rbind(df, data.frame(sample="S4", gene="KRAS", expr=7.3))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0"/>
          <p:cNvSpPr/>
          <p:nvPr/>
        </p:nvSpPr>
        <p:spPr>
          <a:xfrm>
            <a:off x="1325880" y="4827960"/>
            <a:ext cx="10145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Column names and types must line up.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1"/>
          <p:cNvSpPr/>
          <p:nvPr/>
        </p:nvSpPr>
        <p:spPr>
          <a:xfrm>
            <a:off x="457200" y="5289840"/>
            <a:ext cx="11243160" cy="121680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22"/>
          <p:cNvSpPr/>
          <p:nvPr/>
        </p:nvSpPr>
        <p:spPr>
          <a:xfrm>
            <a:off x="731520" y="5689800"/>
            <a:ext cx="416520" cy="416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8" name="Image 5" descr="preencoded.png"/>
          <p:cNvPicPr/>
          <p:nvPr/>
        </p:nvPicPr>
        <p:blipFill>
          <a:blip r:embed="rId6"/>
          <a:stretch/>
        </p:blipFill>
        <p:spPr>
          <a:xfrm>
            <a:off x="807120" y="576540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Text 23"/>
          <p:cNvSpPr/>
          <p:nvPr/>
        </p:nvSpPr>
        <p:spPr>
          <a:xfrm>
            <a:off x="1325880" y="5408640"/>
            <a:ext cx="101458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4"/>
          <p:cNvSpPr/>
          <p:nvPr/>
        </p:nvSpPr>
        <p:spPr>
          <a:xfrm>
            <a:off x="1325880" y="5747040"/>
            <a:ext cx="10145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df$expr[df$sample == "S2"] &lt;- 9.0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5"/>
          <p:cNvSpPr/>
          <p:nvPr/>
        </p:nvSpPr>
        <p:spPr>
          <a:xfrm>
            <a:off x="1325880" y="6158520"/>
            <a:ext cx="10145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Edits the data frame in place.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6"/>
          <p:cNvSpPr/>
          <p:nvPr/>
        </p:nvSpPr>
        <p:spPr>
          <a:xfrm>
            <a:off x="10881360" y="6537960"/>
            <a:ext cx="8190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6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4137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2026-06-19T18:59:37Z</dcterms:created>
  <dc:creator>Steven Rozen</dc:creator>
  <dc:description/>
  <dc:language>en-US</dc:language>
  <cp:lastModifiedBy/>
  <dcterms:modified xsi:type="dcterms:W3CDTF">2026-08-03T06:21:21Z</dcterms:modified>
  <cp:revision>77</cp:revision>
  <dc:subject>PptxGenJS Presentation</dc:subject>
  <dc:title>R vs Python Data Types — for beginners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