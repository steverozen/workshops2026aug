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EB2A513-0285-4EC6-8ABE-A1056E48657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D2C943-8347-43B5-AB88-AE2BB78A18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4E663E-5992-455F-BB97-5144B36F5D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3FA633-0A8F-42FB-BFE5-15F7E19C6F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8583C7-D368-4E4F-8F31-FAE7E93F91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0B0D3D-E268-450B-8D86-F1F44CA40E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A6240C-1F2F-47E5-8E5D-C496497C3E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3;p27"/>
          <p:cNvSpPr/>
          <p:nvPr/>
        </p:nvSpPr>
        <p:spPr>
          <a:xfrm>
            <a:off x="914400" y="460080"/>
            <a:ext cx="8506800" cy="11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tIns="33840" rIns="67680" bIns="33840" anchor="t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2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gentle bioinformatics on-ramp: 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2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R, python, bash, IDEs, AI coding agents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34;p27"/>
          <p:cNvSpPr/>
          <p:nvPr/>
        </p:nvSpPr>
        <p:spPr>
          <a:xfrm>
            <a:off x="987120" y="1600200"/>
            <a:ext cx="3125880" cy="11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tIns="33840" rIns="67680" bIns="33840" anchor="t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August 3, 2026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 Rozen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steverozen [at] pm.me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sr110 [at] duke.edu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914400" y="457200"/>
            <a:ext cx="7770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RStudio from OnDemand or from your laptop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256320" y="276840"/>
            <a:ext cx="11756160" cy="632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243000" y="276840"/>
            <a:ext cx="11756160" cy="632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6160" cy="664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6160" cy="664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6160" cy="664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"/>
          <p:cNvSpPr/>
          <p:nvPr/>
        </p:nvSpPr>
        <p:spPr>
          <a:xfrm>
            <a:off x="685800" y="4572000"/>
            <a:ext cx="640008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This is the “console”, running an R programming language interpreter in a “read-eval-print loop”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Show examples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105120" y="525240"/>
            <a:ext cx="10149120" cy="578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"/>
          <p:cNvSpPr/>
          <p:nvPr/>
        </p:nvSpPr>
        <p:spPr>
          <a:xfrm>
            <a:off x="105120" y="5029200"/>
            <a:ext cx="2056680" cy="91368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2286000" y="5373000"/>
            <a:ext cx="411408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What folder am I in?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getwd – get working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R function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25920" y="576360"/>
            <a:ext cx="10057680" cy="55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105480" y="5029200"/>
            <a:ext cx="2056680" cy="91368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2286000" y="4800600"/>
            <a:ext cx="411408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setwd(“src”) =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 working directory src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Then getwd – get working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315200" y="4034160"/>
            <a:ext cx="4114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But no change 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25920" y="576360"/>
            <a:ext cx="10057680" cy="55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/>
          <p:nvPr/>
        </p:nvSpPr>
        <p:spPr>
          <a:xfrm>
            <a:off x="105480" y="5029200"/>
            <a:ext cx="2056680" cy="91368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2286000" y="4800600"/>
            <a:ext cx="411408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setwd(“src”) =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 working directory src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Then getwd – get working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315200" y="4034160"/>
            <a:ext cx="4114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But no change 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914400" y="804960"/>
            <a:ext cx="913680" cy="33732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/>
          <p:cNvPicPr/>
          <p:nvPr/>
        </p:nvPicPr>
        <p:blipFill>
          <a:blip r:embed="rId1"/>
          <a:stretch/>
        </p:blipFill>
        <p:spPr>
          <a:xfrm>
            <a:off x="25920" y="576360"/>
            <a:ext cx="10057680" cy="55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"/>
          <p:cNvSpPr/>
          <p:nvPr/>
        </p:nvSpPr>
        <p:spPr>
          <a:xfrm>
            <a:off x="5943600" y="2971800"/>
            <a:ext cx="913680" cy="33732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400800" y="4034160"/>
            <a:ext cx="411408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Show how to create new folder / navigate in the files tab, and then  make that the working directory in the R console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6160" cy="664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/>
          <p:nvPr/>
        </p:nvSpPr>
        <p:spPr>
          <a:xfrm>
            <a:off x="1828800" y="2743200"/>
            <a:ext cx="41140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Terminal is running bash; continue with orientation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2286000" y="1574280"/>
            <a:ext cx="41140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What folder am I in (pwd – print working directory) bash function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228600" y="1143000"/>
            <a:ext cx="2056680" cy="91368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685800" y="286560"/>
            <a:ext cx="10743840" cy="33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Outline for the rest: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Setting up and running an AI coding assistant / examples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on bash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Environment variables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PATH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Scripts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Executable bits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AI coding agents use bash a lot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685800" y="286560"/>
            <a:ext cx="10743840" cy="50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Outline for the rest: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Variables and assignment and basic data types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“Built in” functions: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Reading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Writing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Working with data (data.frame, Tibble)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Basic statistics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User defined functions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Packages and how to find and use 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CRAN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Bioconductor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Github / etc repos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Seurat / Bioconductor 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Git/Github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Why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1143000" y="114300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 slides: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compared to Python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Reference slides: R compared to Python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274320"/>
            <a:ext cx="103305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1 · Single Values &amp; Vectors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822960"/>
            <a:ext cx="1042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The building blocks: one value, or many values that are all the same type.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11036880" y="311040"/>
            <a:ext cx="381960" cy="3819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Shape 3"/>
          <p:cNvSpPr/>
          <p:nvPr/>
        </p:nvSpPr>
        <p:spPr>
          <a:xfrm>
            <a:off x="11494080" y="311040"/>
            <a:ext cx="381960" cy="3819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Shape 4"/>
          <p:cNvSpPr/>
          <p:nvPr/>
        </p:nvSpPr>
        <p:spPr>
          <a:xfrm>
            <a:off x="457200" y="1207080"/>
            <a:ext cx="5456880" cy="223812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676800" y="1334880"/>
            <a:ext cx="5018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Single value (a “scalar”)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6"/>
          <p:cNvSpPr/>
          <p:nvPr/>
        </p:nvSpPr>
        <p:spPr>
          <a:xfrm>
            <a:off x="694800" y="177408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2" descr="preencoded.png"/>
          <p:cNvPicPr/>
          <p:nvPr/>
        </p:nvPicPr>
        <p:blipFill>
          <a:blip r:embed="rId3"/>
          <a:stretch/>
        </p:blipFill>
        <p:spPr>
          <a:xfrm>
            <a:off x="767520" y="18464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7"/>
          <p:cNvSpPr/>
          <p:nvPr/>
        </p:nvSpPr>
        <p:spPr>
          <a:xfrm>
            <a:off x="1207080" y="1774080"/>
            <a:ext cx="44874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x &lt;- 3.14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694800" y="224928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3" descr="preencoded.png"/>
          <p:cNvPicPr/>
          <p:nvPr/>
        </p:nvPicPr>
        <p:blipFill>
          <a:blip r:embed="rId4"/>
          <a:stretch/>
        </p:blipFill>
        <p:spPr>
          <a:xfrm>
            <a:off x="767520" y="2322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9"/>
          <p:cNvSpPr/>
          <p:nvPr/>
        </p:nvSpPr>
        <p:spPr>
          <a:xfrm>
            <a:off x="1207080" y="2249280"/>
            <a:ext cx="44874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x = 3.14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713160" y="2779920"/>
            <a:ext cx="494460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No separate scalar type in R — it’s a vector of length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6245280" y="1207080"/>
            <a:ext cx="5456880" cy="223812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6464880" y="1334880"/>
            <a:ext cx="5018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Vector — many values, one type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6483240" y="177408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4" descr="preencoded.png"/>
          <p:cNvPicPr/>
          <p:nvPr/>
        </p:nvPicPr>
        <p:blipFill>
          <a:blip r:embed="rId5"/>
          <a:stretch/>
        </p:blipFill>
        <p:spPr>
          <a:xfrm>
            <a:off x="6555600" y="18464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14"/>
          <p:cNvSpPr/>
          <p:nvPr/>
        </p:nvSpPr>
        <p:spPr>
          <a:xfrm>
            <a:off x="6995160" y="1774080"/>
            <a:ext cx="44874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c(10, 20, 30)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6483240" y="224928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5" descr="preencoded.png"/>
          <p:cNvPicPr/>
          <p:nvPr/>
        </p:nvPicPr>
        <p:blipFill>
          <a:blip r:embed="rId6"/>
          <a:stretch/>
        </p:blipFill>
        <p:spPr>
          <a:xfrm>
            <a:off x="6555600" y="2322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16"/>
          <p:cNvSpPr/>
          <p:nvPr/>
        </p:nvSpPr>
        <p:spPr>
          <a:xfrm>
            <a:off x="6995160" y="2249280"/>
            <a:ext cx="44874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np.array([10, 20, 30])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6501240" y="2779920"/>
            <a:ext cx="494460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R’s core structure. Every element must be the same type.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8"/>
          <p:cNvSpPr/>
          <p:nvPr/>
        </p:nvSpPr>
        <p:spPr>
          <a:xfrm>
            <a:off x="457200" y="3566160"/>
            <a:ext cx="5456880" cy="223812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676800" y="3694320"/>
            <a:ext cx="5018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Named vector (an R favourite)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0"/>
          <p:cNvSpPr/>
          <p:nvPr/>
        </p:nvSpPr>
        <p:spPr>
          <a:xfrm>
            <a:off x="694800" y="413316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6" descr="preencoded.png"/>
          <p:cNvPicPr/>
          <p:nvPr/>
        </p:nvPicPr>
        <p:blipFill>
          <a:blip r:embed="rId7"/>
          <a:stretch/>
        </p:blipFill>
        <p:spPr>
          <a:xfrm>
            <a:off x="767520" y="42055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1"/>
          <p:cNvSpPr/>
          <p:nvPr/>
        </p:nvSpPr>
        <p:spPr>
          <a:xfrm>
            <a:off x="1207080" y="4133160"/>
            <a:ext cx="44874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c(a = 10, b = 20)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694800" y="460872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7" descr="preencoded.png"/>
          <p:cNvPicPr/>
          <p:nvPr/>
        </p:nvPicPr>
        <p:blipFill>
          <a:blip r:embed="rId8"/>
          <a:stretch/>
        </p:blipFill>
        <p:spPr>
          <a:xfrm>
            <a:off x="767520" y="46810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23"/>
          <p:cNvSpPr/>
          <p:nvPr/>
        </p:nvSpPr>
        <p:spPr>
          <a:xfrm>
            <a:off x="1207080" y="4608720"/>
            <a:ext cx="44874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{"a": 10, "b": 20}</a:t>
            </a:r>
            <a:r>
              <a:rPr lang="en-US" sz="140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a dict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4"/>
          <p:cNvSpPr/>
          <p:nvPr/>
        </p:nvSpPr>
        <p:spPr>
          <a:xfrm>
            <a:off x="713160" y="5139000"/>
            <a:ext cx="494460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Each value has a label; grab it by name. Python uses a dict.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5"/>
          <p:cNvSpPr/>
          <p:nvPr/>
        </p:nvSpPr>
        <p:spPr>
          <a:xfrm>
            <a:off x="6245280" y="3566160"/>
            <a:ext cx="5456880" cy="223812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6"/>
          <p:cNvSpPr/>
          <p:nvPr/>
        </p:nvSpPr>
        <p:spPr>
          <a:xfrm>
            <a:off x="6464880" y="3694320"/>
            <a:ext cx="5018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Factor — a vector for categories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7"/>
          <p:cNvSpPr/>
          <p:nvPr/>
        </p:nvSpPr>
        <p:spPr>
          <a:xfrm>
            <a:off x="6483240" y="413316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8" descr="preencoded.png"/>
          <p:cNvPicPr/>
          <p:nvPr/>
        </p:nvPicPr>
        <p:blipFill>
          <a:blip r:embed="rId9"/>
          <a:stretch/>
        </p:blipFill>
        <p:spPr>
          <a:xfrm>
            <a:off x="6555600" y="42055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28"/>
          <p:cNvSpPr/>
          <p:nvPr/>
        </p:nvSpPr>
        <p:spPr>
          <a:xfrm>
            <a:off x="6995160" y="4133160"/>
            <a:ext cx="44874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factor(c("low","high"))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9"/>
          <p:cNvSpPr/>
          <p:nvPr/>
        </p:nvSpPr>
        <p:spPr>
          <a:xfrm>
            <a:off x="6483240" y="460872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9" descr="preencoded.png"/>
          <p:cNvPicPr/>
          <p:nvPr/>
        </p:nvPicPr>
        <p:blipFill>
          <a:blip r:embed="rId10"/>
          <a:stretch/>
        </p:blipFill>
        <p:spPr>
          <a:xfrm>
            <a:off x="6555600" y="46810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30"/>
          <p:cNvSpPr/>
          <p:nvPr/>
        </p:nvSpPr>
        <p:spPr>
          <a:xfrm>
            <a:off x="6995160" y="4608720"/>
            <a:ext cx="44874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pd.Categorical(["low"])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1"/>
          <p:cNvSpPr/>
          <p:nvPr/>
        </p:nvSpPr>
        <p:spPr>
          <a:xfrm>
            <a:off x="6501240" y="5139000"/>
            <a:ext cx="494460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 vector for fixed categories — e.g. treatment vs control.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457200" y="5943600"/>
            <a:ext cx="11244960" cy="47340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9525">
            <a:solidFill>
              <a:srgbClr val="E1E7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3"/>
          <p:cNvSpPr/>
          <p:nvPr/>
        </p:nvSpPr>
        <p:spPr>
          <a:xfrm>
            <a:off x="658440" y="5943600"/>
            <a:ext cx="1087920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Basic types    </a:t>
            </a:r>
            <a:r>
              <a:rPr lang="en-US" sz="13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R: </a:t>
            </a:r>
            <a:r>
              <a:rPr lang="en-US" sz="125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numeric · integer · character · logical</a:t>
            </a:r>
            <a:r>
              <a:rPr lang="en-US" sz="13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      Python: </a:t>
            </a:r>
            <a:r>
              <a:rPr lang="en-US" sz="125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float · int · str · bool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4"/>
          <p:cNvSpPr/>
          <p:nvPr/>
        </p:nvSpPr>
        <p:spPr>
          <a:xfrm>
            <a:off x="10881360" y="6537960"/>
            <a:ext cx="820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1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57200" y="274320"/>
            <a:ext cx="103305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2 · Lists, Dictionaries &amp; Arrays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57200" y="822960"/>
            <a:ext cx="1042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Mixing types, labelling items, and working with grids of numbers.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11036880" y="311040"/>
            <a:ext cx="381960" cy="3819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Shape 3"/>
          <p:cNvSpPr/>
          <p:nvPr/>
        </p:nvSpPr>
        <p:spPr>
          <a:xfrm>
            <a:off x="11494080" y="311040"/>
            <a:ext cx="381960" cy="3819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Shape 4"/>
          <p:cNvSpPr/>
          <p:nvPr/>
        </p:nvSpPr>
        <p:spPr>
          <a:xfrm>
            <a:off x="457200" y="1207080"/>
            <a:ext cx="5301360" cy="2329560"/>
          </a:xfrm>
          <a:prstGeom prst="roundRect">
            <a:avLst>
              <a:gd name="adj" fmla="val 2353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676800" y="1334880"/>
            <a:ext cx="48625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List — a mixed bag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694800" y="177408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2" descr="preencoded.png"/>
          <p:cNvPicPr/>
          <p:nvPr/>
        </p:nvPicPr>
        <p:blipFill>
          <a:blip r:embed="rId3"/>
          <a:stretch/>
        </p:blipFill>
        <p:spPr>
          <a:xfrm>
            <a:off x="767520" y="18464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7"/>
          <p:cNvSpPr/>
          <p:nvPr/>
        </p:nvSpPr>
        <p:spPr>
          <a:xfrm>
            <a:off x="1207080" y="1774080"/>
            <a:ext cx="433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list(1, "two", TRUE)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694800" y="224928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3" descr="preencoded.png"/>
          <p:cNvPicPr/>
          <p:nvPr/>
        </p:nvPicPr>
        <p:blipFill>
          <a:blip r:embed="rId4"/>
          <a:stretch/>
        </p:blipFill>
        <p:spPr>
          <a:xfrm>
            <a:off x="767520" y="2322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9"/>
          <p:cNvSpPr/>
          <p:nvPr/>
        </p:nvSpPr>
        <p:spPr>
          <a:xfrm>
            <a:off x="1207080" y="2249280"/>
            <a:ext cx="433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[1, "two", True]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713160" y="2779920"/>
            <a:ext cx="478944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 list can mix types — and even hold other lists inside.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457200" y="3657600"/>
            <a:ext cx="5301360" cy="2329560"/>
          </a:xfrm>
          <a:prstGeom prst="roundRect">
            <a:avLst>
              <a:gd name="adj" fmla="val 2353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676800" y="3785760"/>
            <a:ext cx="48625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Named list  /  Dictionary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694800" y="422460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4" descr="preencoded.png"/>
          <p:cNvPicPr/>
          <p:nvPr/>
        </p:nvPicPr>
        <p:blipFill>
          <a:blip r:embed="rId5"/>
          <a:stretch/>
        </p:blipFill>
        <p:spPr>
          <a:xfrm>
            <a:off x="767520" y="429696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4"/>
          <p:cNvSpPr/>
          <p:nvPr/>
        </p:nvSpPr>
        <p:spPr>
          <a:xfrm>
            <a:off x="1207080" y="4224600"/>
            <a:ext cx="433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list(name="Ada")</a:t>
            </a:r>
            <a:r>
              <a:rPr lang="en-US" sz="140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→ x$name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694800" y="470016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5" descr="preencoded.png"/>
          <p:cNvPicPr/>
          <p:nvPr/>
        </p:nvPicPr>
        <p:blipFill>
          <a:blip r:embed="rId6"/>
          <a:stretch/>
        </p:blipFill>
        <p:spPr>
          <a:xfrm>
            <a:off x="767520" y="47725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16"/>
          <p:cNvSpPr/>
          <p:nvPr/>
        </p:nvSpPr>
        <p:spPr>
          <a:xfrm>
            <a:off x="1207080" y="4700160"/>
            <a:ext cx="433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{"name":"Ada"}</a:t>
            </a:r>
            <a:r>
              <a:rPr lang="en-US" sz="140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→ x["name"]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713160" y="5230440"/>
            <a:ext cx="478944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Label each item. An R named list ≈ a Python dict.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5897880" y="1207080"/>
            <a:ext cx="5804280" cy="1991160"/>
          </a:xfrm>
          <a:prstGeom prst="roundRect">
            <a:avLst>
              <a:gd name="adj" fmla="val 2752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6117480" y="1334880"/>
            <a:ext cx="53654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Matrix / Array — a grid of numbers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0"/>
          <p:cNvSpPr/>
          <p:nvPr/>
        </p:nvSpPr>
        <p:spPr>
          <a:xfrm>
            <a:off x="6135480" y="177408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6" descr="preencoded.png"/>
          <p:cNvPicPr/>
          <p:nvPr/>
        </p:nvPicPr>
        <p:blipFill>
          <a:blip r:embed="rId7"/>
          <a:stretch/>
        </p:blipFill>
        <p:spPr>
          <a:xfrm>
            <a:off x="6208200" y="18464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21"/>
          <p:cNvSpPr/>
          <p:nvPr/>
        </p:nvSpPr>
        <p:spPr>
          <a:xfrm>
            <a:off x="6647760" y="1774080"/>
            <a:ext cx="483516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matrix(1:6, nrow=2)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6135480" y="224928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7" descr="preencoded.png"/>
          <p:cNvPicPr/>
          <p:nvPr/>
        </p:nvPicPr>
        <p:blipFill>
          <a:blip r:embed="rId8"/>
          <a:stretch/>
        </p:blipFill>
        <p:spPr>
          <a:xfrm>
            <a:off x="6208200" y="2322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23"/>
          <p:cNvSpPr/>
          <p:nvPr/>
        </p:nvSpPr>
        <p:spPr>
          <a:xfrm>
            <a:off x="6647760" y="2249280"/>
            <a:ext cx="483516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np.array([[1,2,3],[4,5,6]])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4"/>
          <p:cNvSpPr/>
          <p:nvPr/>
        </p:nvSpPr>
        <p:spPr>
          <a:xfrm>
            <a:off x="6153840" y="2779920"/>
            <a:ext cx="52923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Same type, in rows × columns.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5"/>
          <p:cNvSpPr/>
          <p:nvPr/>
        </p:nvSpPr>
        <p:spPr>
          <a:xfrm>
            <a:off x="5897880" y="3319200"/>
            <a:ext cx="5804280" cy="2667960"/>
          </a:xfrm>
          <a:prstGeom prst="roundRect">
            <a:avLst>
              <a:gd name="adj" fmla="val 2055"/>
            </a:avLst>
          </a:prstGeom>
          <a:solidFill>
            <a:srgbClr val="EFF6FB"/>
          </a:solidFill>
          <a:ln w="9525">
            <a:solidFill>
              <a:srgbClr val="CFE0EE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6"/>
          <p:cNvSpPr/>
          <p:nvPr/>
        </p:nvSpPr>
        <p:spPr>
          <a:xfrm>
            <a:off x="6117480" y="3429000"/>
            <a:ext cx="5365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NumPy broadcasting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7"/>
          <p:cNvSpPr/>
          <p:nvPr/>
        </p:nvSpPr>
        <p:spPr>
          <a:xfrm>
            <a:off x="6117480" y="3822120"/>
            <a:ext cx="536544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When arrays have different shapes, NumPy stretches the smaller one to fit — without copying any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8"/>
          <p:cNvSpPr/>
          <p:nvPr/>
        </p:nvSpPr>
        <p:spPr>
          <a:xfrm>
            <a:off x="6117480" y="4617720"/>
            <a:ext cx="455040" cy="45504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9"/>
          <p:cNvSpPr/>
          <p:nvPr/>
        </p:nvSpPr>
        <p:spPr>
          <a:xfrm>
            <a:off x="6117480" y="46177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0"/>
          <p:cNvSpPr/>
          <p:nvPr/>
        </p:nvSpPr>
        <p:spPr>
          <a:xfrm>
            <a:off x="6629400" y="4617720"/>
            <a:ext cx="455040" cy="45504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1"/>
          <p:cNvSpPr/>
          <p:nvPr/>
        </p:nvSpPr>
        <p:spPr>
          <a:xfrm>
            <a:off x="6629400" y="46177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2"/>
          <p:cNvSpPr/>
          <p:nvPr/>
        </p:nvSpPr>
        <p:spPr>
          <a:xfrm>
            <a:off x="7141320" y="4617720"/>
            <a:ext cx="455040" cy="45504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3"/>
          <p:cNvSpPr/>
          <p:nvPr/>
        </p:nvSpPr>
        <p:spPr>
          <a:xfrm>
            <a:off x="7141320" y="46177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4"/>
          <p:cNvSpPr/>
          <p:nvPr/>
        </p:nvSpPr>
        <p:spPr>
          <a:xfrm>
            <a:off x="7653600" y="4599360"/>
            <a:ext cx="3268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5"/>
          <p:cNvSpPr/>
          <p:nvPr/>
        </p:nvSpPr>
        <p:spPr>
          <a:xfrm>
            <a:off x="8019360" y="4617720"/>
            <a:ext cx="455040" cy="455040"/>
          </a:xfrm>
          <a:prstGeom prst="roundRect">
            <a:avLst>
              <a:gd name="adj" fmla="val 10000"/>
            </a:avLst>
          </a:prstGeom>
          <a:solidFill>
            <a:srgbClr val="FBE9CF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6"/>
          <p:cNvSpPr/>
          <p:nvPr/>
        </p:nvSpPr>
        <p:spPr>
          <a:xfrm>
            <a:off x="8019360" y="46177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7"/>
          <p:cNvSpPr/>
          <p:nvPr/>
        </p:nvSpPr>
        <p:spPr>
          <a:xfrm>
            <a:off x="8531280" y="4617720"/>
            <a:ext cx="455040" cy="455040"/>
          </a:xfrm>
          <a:prstGeom prst="roundRect">
            <a:avLst>
              <a:gd name="adj" fmla="val 10000"/>
            </a:avLst>
          </a:prstGeom>
          <a:solidFill>
            <a:srgbClr val="FBE9CF">
              <a:alpha val="55000"/>
            </a:srgbClr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8"/>
          <p:cNvSpPr/>
          <p:nvPr/>
        </p:nvSpPr>
        <p:spPr>
          <a:xfrm>
            <a:off x="8531280" y="46177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AA0B5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9"/>
          <p:cNvSpPr/>
          <p:nvPr/>
        </p:nvSpPr>
        <p:spPr>
          <a:xfrm>
            <a:off x="9043560" y="4617720"/>
            <a:ext cx="455040" cy="455040"/>
          </a:xfrm>
          <a:prstGeom prst="roundRect">
            <a:avLst>
              <a:gd name="adj" fmla="val 10000"/>
            </a:avLst>
          </a:prstGeom>
          <a:solidFill>
            <a:srgbClr val="FBE9CF">
              <a:alpha val="55000"/>
            </a:srgbClr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0"/>
          <p:cNvSpPr/>
          <p:nvPr/>
        </p:nvSpPr>
        <p:spPr>
          <a:xfrm>
            <a:off x="9043560" y="46177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AA0B5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1"/>
          <p:cNvSpPr/>
          <p:nvPr/>
        </p:nvSpPr>
        <p:spPr>
          <a:xfrm>
            <a:off x="9555480" y="4599360"/>
            <a:ext cx="3268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2"/>
          <p:cNvSpPr/>
          <p:nvPr/>
        </p:nvSpPr>
        <p:spPr>
          <a:xfrm>
            <a:off x="9921240" y="4617720"/>
            <a:ext cx="455040" cy="455040"/>
          </a:xfrm>
          <a:prstGeom prst="roundRect">
            <a:avLst>
              <a:gd name="adj" fmla="val 10000"/>
            </a:avLst>
          </a:prstGeom>
          <a:solidFill>
            <a:srgbClr val="D7EAD9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3"/>
          <p:cNvSpPr/>
          <p:nvPr/>
        </p:nvSpPr>
        <p:spPr>
          <a:xfrm>
            <a:off x="9921240" y="46177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5C2E"/>
                </a:solidFill>
                <a:effectLst/>
                <a:uFillTx/>
                <a:latin typeface="Courier New"/>
                <a:ea typeface="Courier New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4"/>
          <p:cNvSpPr/>
          <p:nvPr/>
        </p:nvSpPr>
        <p:spPr>
          <a:xfrm>
            <a:off x="10433160" y="4617720"/>
            <a:ext cx="455040" cy="455040"/>
          </a:xfrm>
          <a:prstGeom prst="roundRect">
            <a:avLst>
              <a:gd name="adj" fmla="val 10000"/>
            </a:avLst>
          </a:prstGeom>
          <a:solidFill>
            <a:srgbClr val="D7EAD9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5"/>
          <p:cNvSpPr/>
          <p:nvPr/>
        </p:nvSpPr>
        <p:spPr>
          <a:xfrm>
            <a:off x="10433160" y="46177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5C2E"/>
                </a:solidFill>
                <a:effectLst/>
                <a:uFillTx/>
                <a:latin typeface="Courier New"/>
                <a:ea typeface="Courier New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6"/>
          <p:cNvSpPr/>
          <p:nvPr/>
        </p:nvSpPr>
        <p:spPr>
          <a:xfrm>
            <a:off x="10945440" y="4617720"/>
            <a:ext cx="455040" cy="455040"/>
          </a:xfrm>
          <a:prstGeom prst="roundRect">
            <a:avLst>
              <a:gd name="adj" fmla="val 10000"/>
            </a:avLst>
          </a:prstGeom>
          <a:solidFill>
            <a:srgbClr val="D7EAD9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7"/>
          <p:cNvSpPr/>
          <p:nvPr/>
        </p:nvSpPr>
        <p:spPr>
          <a:xfrm>
            <a:off x="10945440" y="4617720"/>
            <a:ext cx="4550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5C2E"/>
                </a:solidFill>
                <a:effectLst/>
                <a:uFillTx/>
                <a:latin typeface="Courier New"/>
                <a:ea typeface="Courier New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8"/>
          <p:cNvSpPr/>
          <p:nvPr/>
        </p:nvSpPr>
        <p:spPr>
          <a:xfrm>
            <a:off x="6117480" y="5257800"/>
            <a:ext cx="5365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np.array([1,2,3]) + 10</a:t>
            </a:r>
            <a:r>
              <a:rPr lang="en-US" sz="135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 → the 10 is added to every element.  </a:t>
            </a:r>
            <a:r>
              <a:rPr lang="en-US" sz="135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R calls this “recycling.”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9"/>
          <p:cNvSpPr/>
          <p:nvPr/>
        </p:nvSpPr>
        <p:spPr>
          <a:xfrm>
            <a:off x="10881360" y="6537960"/>
            <a:ext cx="820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2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457200" y="274320"/>
            <a:ext cx="103305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3 · Tables: data.frame, tibble &amp; DataFrame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457200" y="822960"/>
            <a:ext cx="1042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Rows and columns — the format you’ll use most for real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11036880" y="311040"/>
            <a:ext cx="381960" cy="3819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Shape 3"/>
          <p:cNvSpPr/>
          <p:nvPr/>
        </p:nvSpPr>
        <p:spPr>
          <a:xfrm>
            <a:off x="11494080" y="311040"/>
            <a:ext cx="381960" cy="3819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4"/>
          <p:cNvSpPr/>
          <p:nvPr/>
        </p:nvSpPr>
        <p:spPr>
          <a:xfrm>
            <a:off x="457200" y="1097280"/>
            <a:ext cx="1124496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Every object below stores data as rows × columns, like this: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Table 0"/>
          <p:cNvGraphicFramePr/>
          <p:nvPr/>
        </p:nvGraphicFramePr>
        <p:xfrm>
          <a:off x="3840480" y="1371600"/>
          <a:ext cx="4480200" cy="131616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463040"/>
              </a:tblGrid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sample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expr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1E2A44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TP53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5.2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EGFR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8.1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MYC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6.7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5" name="Shape 5"/>
          <p:cNvSpPr/>
          <p:nvPr/>
        </p:nvSpPr>
        <p:spPr>
          <a:xfrm>
            <a:off x="457200" y="2853000"/>
            <a:ext cx="5484240" cy="436680"/>
          </a:xfrm>
          <a:prstGeom prst="roundRect">
            <a:avLst>
              <a:gd name="adj" fmla="val 12500"/>
            </a:avLst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585360" y="2917080"/>
            <a:ext cx="308880" cy="308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2" descr="preencoded.png"/>
          <p:cNvPicPr/>
          <p:nvPr/>
        </p:nvPicPr>
        <p:blipFill>
          <a:blip r:embed="rId3"/>
          <a:stretch/>
        </p:blipFill>
        <p:spPr>
          <a:xfrm>
            <a:off x="641160" y="2972880"/>
            <a:ext cx="196920" cy="1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7"/>
          <p:cNvSpPr/>
          <p:nvPr/>
        </p:nvSpPr>
        <p:spPr>
          <a:xfrm>
            <a:off x="987480" y="2853000"/>
            <a:ext cx="484416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 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457200" y="3401640"/>
            <a:ext cx="5484240" cy="957960"/>
          </a:xfrm>
          <a:prstGeom prst="roundRect">
            <a:avLst>
              <a:gd name="adj" fmla="val 571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640080" y="349308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data.frame   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data.frame(gene=…)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640080" y="3904560"/>
            <a:ext cx="511848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Base R’s classic table; columns may differ in type.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457200" y="4471560"/>
            <a:ext cx="5484240" cy="957960"/>
          </a:xfrm>
          <a:prstGeom prst="roundRect">
            <a:avLst>
              <a:gd name="adj" fmla="val 571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640080" y="456300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tibble   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tibble(gene=…)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640080" y="4974480"/>
            <a:ext cx="511848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Tidyverse table — cleaner, stricter, keeps text as text.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457200" y="5541120"/>
            <a:ext cx="5484240" cy="957960"/>
          </a:xfrm>
          <a:prstGeom prst="roundRect">
            <a:avLst>
              <a:gd name="adj" fmla="val 571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640080" y="563256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data.table   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data.table(gene=…)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640080" y="6044040"/>
            <a:ext cx="511848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Built for speed on big data: DT[i, j, by].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6217920" y="2853000"/>
            <a:ext cx="5484240" cy="436680"/>
          </a:xfrm>
          <a:prstGeom prst="roundRect">
            <a:avLst>
              <a:gd name="adj" fmla="val 12500"/>
            </a:avLst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6346080" y="2917080"/>
            <a:ext cx="308880" cy="30888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3" descr="preencoded.png"/>
          <p:cNvPicPr/>
          <p:nvPr/>
        </p:nvPicPr>
        <p:blipFill>
          <a:blip r:embed="rId4"/>
          <a:stretch/>
        </p:blipFill>
        <p:spPr>
          <a:xfrm>
            <a:off x="6401880" y="2972880"/>
            <a:ext cx="196920" cy="1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 19"/>
          <p:cNvSpPr/>
          <p:nvPr/>
        </p:nvSpPr>
        <p:spPr>
          <a:xfrm>
            <a:off x="6748200" y="2853000"/>
            <a:ext cx="484416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 Python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0"/>
          <p:cNvSpPr/>
          <p:nvPr/>
        </p:nvSpPr>
        <p:spPr>
          <a:xfrm>
            <a:off x="6217920" y="3401640"/>
            <a:ext cx="5484240" cy="957960"/>
          </a:xfrm>
          <a:prstGeom prst="roundRect">
            <a:avLst>
              <a:gd name="adj" fmla="val 5714"/>
            </a:avLst>
          </a:prstGeom>
          <a:solidFill>
            <a:srgbClr val="FBF1E1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1"/>
          <p:cNvSpPr/>
          <p:nvPr/>
        </p:nvSpPr>
        <p:spPr>
          <a:xfrm>
            <a:off x="6400800" y="349308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pandas.DataFrame   </a:t>
            </a:r>
            <a:r>
              <a:rPr lang="en-US" sz="13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pd.DataFrame(…)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2"/>
          <p:cNvSpPr/>
          <p:nvPr/>
        </p:nvSpPr>
        <p:spPr>
          <a:xfrm>
            <a:off x="6400800" y="3904560"/>
            <a:ext cx="511848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The everyday Python table — matches all three at left.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3"/>
          <p:cNvSpPr/>
          <p:nvPr/>
        </p:nvSpPr>
        <p:spPr>
          <a:xfrm>
            <a:off x="6217920" y="4471560"/>
            <a:ext cx="5484240" cy="957960"/>
          </a:xfrm>
          <a:prstGeom prst="roundRect">
            <a:avLst>
              <a:gd name="adj" fmla="val 5714"/>
            </a:avLst>
          </a:prstGeom>
          <a:solidFill>
            <a:srgbClr val="FBF1E1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4"/>
          <p:cNvSpPr/>
          <p:nvPr/>
        </p:nvSpPr>
        <p:spPr>
          <a:xfrm>
            <a:off x="6400800" y="4563000"/>
            <a:ext cx="5118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polars.DataFrame   </a:t>
            </a:r>
            <a:r>
              <a:rPr lang="en-US" sz="13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pl.DataFrame(…)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5"/>
          <p:cNvSpPr/>
          <p:nvPr/>
        </p:nvSpPr>
        <p:spPr>
          <a:xfrm>
            <a:off x="6400800" y="4974480"/>
            <a:ext cx="511848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Fast, modern — Python’s answer to R’s data.table.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6"/>
          <p:cNvSpPr/>
          <p:nvPr/>
        </p:nvSpPr>
        <p:spPr>
          <a:xfrm>
            <a:off x="6217920" y="5541120"/>
            <a:ext cx="5484240" cy="957960"/>
          </a:xfrm>
          <a:prstGeom prst="roundRect">
            <a:avLst>
              <a:gd name="adj" fmla="val 5714"/>
            </a:avLst>
          </a:prstGeom>
          <a:solidFill>
            <a:srgbClr val="FEF6E7"/>
          </a:solidFill>
          <a:ln w="9525">
            <a:solidFill>
              <a:srgbClr val="F0DDB6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7"/>
          <p:cNvSpPr/>
          <p:nvPr/>
        </p:nvSpPr>
        <p:spPr>
          <a:xfrm>
            <a:off x="6400800" y="5541120"/>
            <a:ext cx="511848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97E1A"/>
                </a:solidFill>
                <a:effectLst/>
                <a:uFillTx/>
                <a:latin typeface="Calibri"/>
                <a:ea typeface="Calibri"/>
              </a:rPr>
              <a:t>Rule of thumb:  </a:t>
            </a:r>
            <a:r>
              <a:rPr lang="en-US" sz="14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data.frame</a:t>
            </a:r>
            <a:r>
              <a:rPr lang="en-US" sz="14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/ </a:t>
            </a:r>
            <a:r>
              <a:rPr lang="en-US" sz="14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tibble</a:t>
            </a:r>
            <a:r>
              <a:rPr lang="en-US" sz="1400" b="1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≈ </a:t>
            </a:r>
            <a:r>
              <a:rPr lang="en-US" sz="14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pandas</a:t>
            </a:r>
            <a:r>
              <a:rPr lang="en-US" sz="14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,  </a:t>
            </a:r>
            <a:r>
              <a:rPr lang="en-US" sz="14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data.table</a:t>
            </a:r>
            <a:r>
              <a:rPr lang="en-US" sz="1400" b="1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≈ </a:t>
            </a:r>
            <a:r>
              <a:rPr lang="en-US" sz="14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polars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8"/>
          <p:cNvSpPr/>
          <p:nvPr/>
        </p:nvSpPr>
        <p:spPr>
          <a:xfrm>
            <a:off x="10881360" y="6537960"/>
            <a:ext cx="820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3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457200" y="274320"/>
            <a:ext cx="103305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4 · Selecting Columns &amp; Rows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457200" y="822960"/>
            <a:ext cx="1042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The two most common moves — pick the columns you want, keep the rows you want.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11036880" y="311040"/>
            <a:ext cx="381960" cy="3819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Shape 3"/>
          <p:cNvSpPr/>
          <p:nvPr/>
        </p:nvSpPr>
        <p:spPr>
          <a:xfrm>
            <a:off x="11494080" y="311040"/>
            <a:ext cx="381960" cy="3819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Shape 4"/>
          <p:cNvSpPr/>
          <p:nvPr/>
        </p:nvSpPr>
        <p:spPr>
          <a:xfrm>
            <a:off x="457200" y="1280160"/>
            <a:ext cx="11244960" cy="239364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731520" y="1463040"/>
            <a:ext cx="455040" cy="45504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2" descr="preencoded.png"/>
          <p:cNvPicPr/>
          <p:nvPr/>
        </p:nvPicPr>
        <p:blipFill>
          <a:blip r:embed="rId3"/>
          <a:stretch/>
        </p:blipFill>
        <p:spPr>
          <a:xfrm>
            <a:off x="834480" y="1566000"/>
            <a:ext cx="249480" cy="24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6"/>
          <p:cNvSpPr/>
          <p:nvPr/>
        </p:nvSpPr>
        <p:spPr>
          <a:xfrm>
            <a:off x="1353240" y="1463040"/>
            <a:ext cx="101476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columns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768240" y="204840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3" descr="preencoded.png"/>
          <p:cNvPicPr/>
          <p:nvPr/>
        </p:nvPicPr>
        <p:blipFill>
          <a:blip r:embed="rId4"/>
          <a:stretch/>
        </p:blipFill>
        <p:spPr>
          <a:xfrm>
            <a:off x="840600" y="212076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8"/>
          <p:cNvSpPr/>
          <p:nvPr/>
        </p:nvSpPr>
        <p:spPr>
          <a:xfrm>
            <a:off x="1280160" y="2048400"/>
            <a:ext cx="91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2240280" y="2048400"/>
            <a:ext cx="92332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select(gene, expr)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768240" y="257868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4" descr="preencoded.png"/>
          <p:cNvPicPr/>
          <p:nvPr/>
        </p:nvPicPr>
        <p:blipFill>
          <a:blip r:embed="rId5"/>
          <a:stretch/>
        </p:blipFill>
        <p:spPr>
          <a:xfrm>
            <a:off x="840600" y="26510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11"/>
          <p:cNvSpPr/>
          <p:nvPr/>
        </p:nvSpPr>
        <p:spPr>
          <a:xfrm>
            <a:off x="1280160" y="2578680"/>
            <a:ext cx="91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2240280" y="2578680"/>
            <a:ext cx="92332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df[["gene", "expr"]]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786240" y="3090600"/>
            <a:ext cx="106048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Keep only the columns you name.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786240" y="3383280"/>
            <a:ext cx="106048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40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df.select("gene", "expr")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457200" y="3822120"/>
            <a:ext cx="11244960" cy="239364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6"/>
          <p:cNvSpPr/>
          <p:nvPr/>
        </p:nvSpPr>
        <p:spPr>
          <a:xfrm>
            <a:off x="731520" y="4005000"/>
            <a:ext cx="455040" cy="455040"/>
          </a:xfrm>
          <a:prstGeom prst="ellipse">
            <a:avLst/>
          </a:prstGeom>
          <a:solidFill>
            <a:srgbClr val="1F7A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5" descr="preencoded.png"/>
          <p:cNvPicPr/>
          <p:nvPr/>
        </p:nvPicPr>
        <p:blipFill>
          <a:blip r:embed="rId6"/>
          <a:stretch/>
        </p:blipFill>
        <p:spPr>
          <a:xfrm>
            <a:off x="834480" y="4107960"/>
            <a:ext cx="249480" cy="24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17"/>
          <p:cNvSpPr/>
          <p:nvPr/>
        </p:nvSpPr>
        <p:spPr>
          <a:xfrm>
            <a:off x="1353240" y="4005000"/>
            <a:ext cx="101476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rows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768240" y="459036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6" descr="preencoded.png"/>
          <p:cNvPicPr/>
          <p:nvPr/>
        </p:nvPicPr>
        <p:blipFill>
          <a:blip r:embed="rId7"/>
          <a:stretch/>
        </p:blipFill>
        <p:spPr>
          <a:xfrm>
            <a:off x="840600" y="46627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19"/>
          <p:cNvSpPr/>
          <p:nvPr/>
        </p:nvSpPr>
        <p:spPr>
          <a:xfrm>
            <a:off x="1280160" y="4590360"/>
            <a:ext cx="91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0"/>
          <p:cNvSpPr/>
          <p:nvPr/>
        </p:nvSpPr>
        <p:spPr>
          <a:xfrm>
            <a:off x="2240280" y="4590360"/>
            <a:ext cx="92332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filter(expr &gt; 6)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1"/>
          <p:cNvSpPr/>
          <p:nvPr/>
        </p:nvSpPr>
        <p:spPr>
          <a:xfrm>
            <a:off x="768240" y="512064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 7" descr="preencoded.png"/>
          <p:cNvPicPr/>
          <p:nvPr/>
        </p:nvPicPr>
        <p:blipFill>
          <a:blip r:embed="rId8"/>
          <a:stretch/>
        </p:blipFill>
        <p:spPr>
          <a:xfrm>
            <a:off x="840600" y="5193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 22"/>
          <p:cNvSpPr/>
          <p:nvPr/>
        </p:nvSpPr>
        <p:spPr>
          <a:xfrm>
            <a:off x="1280160" y="5120640"/>
            <a:ext cx="91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3"/>
          <p:cNvSpPr/>
          <p:nvPr/>
        </p:nvSpPr>
        <p:spPr>
          <a:xfrm>
            <a:off x="2240280" y="5120640"/>
            <a:ext cx="92332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df[df["expr"] &gt; 6]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786240" y="5632560"/>
            <a:ext cx="106048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Keep only the rows that meet a condition.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786240" y="5925240"/>
            <a:ext cx="106048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40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df.filter(pl.col("expr") &gt; 6)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6"/>
          <p:cNvSpPr/>
          <p:nvPr/>
        </p:nvSpPr>
        <p:spPr>
          <a:xfrm>
            <a:off x="10881360" y="6537960"/>
            <a:ext cx="820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4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457200" y="274320"/>
            <a:ext cx="103305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5 · Adding &amp; Updating Rows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457200" y="822960"/>
            <a:ext cx="1042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Append a new observation, or change a value in an existing row.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11036880" y="311040"/>
            <a:ext cx="381960" cy="3819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Shape 3"/>
          <p:cNvSpPr/>
          <p:nvPr/>
        </p:nvSpPr>
        <p:spPr>
          <a:xfrm>
            <a:off x="11494080" y="311040"/>
            <a:ext cx="381960" cy="3819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Shape 4"/>
          <p:cNvSpPr/>
          <p:nvPr/>
        </p:nvSpPr>
        <p:spPr>
          <a:xfrm>
            <a:off x="457200" y="1280160"/>
            <a:ext cx="11244960" cy="239364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"/>
          <p:cNvSpPr/>
          <p:nvPr/>
        </p:nvSpPr>
        <p:spPr>
          <a:xfrm>
            <a:off x="731520" y="1463040"/>
            <a:ext cx="455040" cy="45504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2" descr="preencoded.png"/>
          <p:cNvPicPr/>
          <p:nvPr/>
        </p:nvPicPr>
        <p:blipFill>
          <a:blip r:embed="rId3"/>
          <a:stretch/>
        </p:blipFill>
        <p:spPr>
          <a:xfrm>
            <a:off x="834480" y="1566000"/>
            <a:ext cx="249480" cy="24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6"/>
          <p:cNvSpPr/>
          <p:nvPr/>
        </p:nvSpPr>
        <p:spPr>
          <a:xfrm>
            <a:off x="1353240" y="1463040"/>
            <a:ext cx="101476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Add a row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7"/>
          <p:cNvSpPr/>
          <p:nvPr/>
        </p:nvSpPr>
        <p:spPr>
          <a:xfrm>
            <a:off x="768240" y="204840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3" descr="preencoded.png"/>
          <p:cNvPicPr/>
          <p:nvPr/>
        </p:nvPicPr>
        <p:blipFill>
          <a:blip r:embed="rId4"/>
          <a:stretch/>
        </p:blipFill>
        <p:spPr>
          <a:xfrm>
            <a:off x="840600" y="212076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8"/>
          <p:cNvSpPr/>
          <p:nvPr/>
        </p:nvSpPr>
        <p:spPr>
          <a:xfrm>
            <a:off x="1280160" y="2048400"/>
            <a:ext cx="91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2240280" y="2048400"/>
            <a:ext cx="92332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add_row(sample="S4", gene="KRAS", expr=7.3)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0"/>
          <p:cNvSpPr/>
          <p:nvPr/>
        </p:nvSpPr>
        <p:spPr>
          <a:xfrm>
            <a:off x="768240" y="257868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4" descr="preencoded.png"/>
          <p:cNvPicPr/>
          <p:nvPr/>
        </p:nvPicPr>
        <p:blipFill>
          <a:blip r:embed="rId5"/>
          <a:stretch/>
        </p:blipFill>
        <p:spPr>
          <a:xfrm>
            <a:off x="840600" y="26510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11"/>
          <p:cNvSpPr/>
          <p:nvPr/>
        </p:nvSpPr>
        <p:spPr>
          <a:xfrm>
            <a:off x="1280160" y="2578680"/>
            <a:ext cx="91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2240280" y="2578680"/>
            <a:ext cx="92332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df.loc[len(df)] = ["S4", "KRAS", 7.3]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786240" y="3090600"/>
            <a:ext cx="106048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Append a new observation (sample S4) to the bottom.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786240" y="3383280"/>
            <a:ext cx="106048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40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pl.concat([df, df_new])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5"/>
          <p:cNvSpPr/>
          <p:nvPr/>
        </p:nvSpPr>
        <p:spPr>
          <a:xfrm>
            <a:off x="457200" y="3822120"/>
            <a:ext cx="11244960" cy="239364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731520" y="4005000"/>
            <a:ext cx="455040" cy="455040"/>
          </a:xfrm>
          <a:prstGeom prst="ellipse">
            <a:avLst/>
          </a:prstGeom>
          <a:solidFill>
            <a:srgbClr val="B565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 5" descr="preencoded.png"/>
          <p:cNvPicPr/>
          <p:nvPr/>
        </p:nvPicPr>
        <p:blipFill>
          <a:blip r:embed="rId6"/>
          <a:stretch/>
        </p:blipFill>
        <p:spPr>
          <a:xfrm>
            <a:off x="834480" y="4107960"/>
            <a:ext cx="249480" cy="24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17"/>
          <p:cNvSpPr/>
          <p:nvPr/>
        </p:nvSpPr>
        <p:spPr>
          <a:xfrm>
            <a:off x="1353240" y="4005000"/>
            <a:ext cx="101476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Update a value in a row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768240" y="4590360"/>
            <a:ext cx="400320" cy="400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6" descr="preencoded.png"/>
          <p:cNvPicPr/>
          <p:nvPr/>
        </p:nvPicPr>
        <p:blipFill>
          <a:blip r:embed="rId7"/>
          <a:stretch/>
        </p:blipFill>
        <p:spPr>
          <a:xfrm>
            <a:off x="840600" y="46627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19"/>
          <p:cNvSpPr/>
          <p:nvPr/>
        </p:nvSpPr>
        <p:spPr>
          <a:xfrm>
            <a:off x="1280160" y="4590360"/>
            <a:ext cx="91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0"/>
          <p:cNvSpPr/>
          <p:nvPr/>
        </p:nvSpPr>
        <p:spPr>
          <a:xfrm>
            <a:off x="2240280" y="4590360"/>
            <a:ext cx="92332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mutate(expr = if_else(sample=="S2", 9.0, expr))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1"/>
          <p:cNvSpPr/>
          <p:nvPr/>
        </p:nvSpPr>
        <p:spPr>
          <a:xfrm>
            <a:off x="768240" y="5120640"/>
            <a:ext cx="400320" cy="4003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7" descr="preencoded.png"/>
          <p:cNvPicPr/>
          <p:nvPr/>
        </p:nvPicPr>
        <p:blipFill>
          <a:blip r:embed="rId8"/>
          <a:stretch/>
        </p:blipFill>
        <p:spPr>
          <a:xfrm>
            <a:off x="840600" y="5193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22"/>
          <p:cNvSpPr/>
          <p:nvPr/>
        </p:nvSpPr>
        <p:spPr>
          <a:xfrm>
            <a:off x="1280160" y="5120640"/>
            <a:ext cx="9122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3"/>
          <p:cNvSpPr/>
          <p:nvPr/>
        </p:nvSpPr>
        <p:spPr>
          <a:xfrm>
            <a:off x="2240280" y="5120640"/>
            <a:ext cx="923328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df.loc[df["sample"] == "S2", "expr"] = 9.0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4"/>
          <p:cNvSpPr/>
          <p:nvPr/>
        </p:nvSpPr>
        <p:spPr>
          <a:xfrm>
            <a:off x="786240" y="5632560"/>
            <a:ext cx="106048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Change a cell where a condition holds (set S2’s expr to 9.0).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5"/>
          <p:cNvSpPr/>
          <p:nvPr/>
        </p:nvSpPr>
        <p:spPr>
          <a:xfrm>
            <a:off x="786240" y="5925240"/>
            <a:ext cx="106048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25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df.with_columns(pl.when(pl.col("sample")=="S2").then(9.0).otherwise(pl.col("expr")).alias("expr"))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6"/>
          <p:cNvSpPr/>
          <p:nvPr/>
        </p:nvSpPr>
        <p:spPr>
          <a:xfrm>
            <a:off x="10881360" y="6537960"/>
            <a:ext cx="820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5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457200" y="274320"/>
            <a:ext cx="103305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Backup · The Older Base R Way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457200" y="822960"/>
            <a:ext cx="1042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Same operations without the tidyverse — worth recognizing in older code.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11036880" y="311040"/>
            <a:ext cx="381960" cy="3819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Shape 3"/>
          <p:cNvSpPr/>
          <p:nvPr/>
        </p:nvSpPr>
        <p:spPr>
          <a:xfrm>
            <a:off x="11494080" y="311040"/>
            <a:ext cx="381960" cy="3819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3720" cy="2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Shape 4"/>
          <p:cNvSpPr/>
          <p:nvPr/>
        </p:nvSpPr>
        <p:spPr>
          <a:xfrm>
            <a:off x="10104120" y="841320"/>
            <a:ext cx="912240" cy="308880"/>
          </a:xfrm>
          <a:prstGeom prst="roundRect">
            <a:avLst>
              <a:gd name="adj" fmla="val 14706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10104120" y="841320"/>
            <a:ext cx="912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6"/>
          <p:cNvSpPr/>
          <p:nvPr/>
        </p:nvSpPr>
        <p:spPr>
          <a:xfrm>
            <a:off x="457200" y="1298520"/>
            <a:ext cx="11244960" cy="121860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7"/>
          <p:cNvSpPr/>
          <p:nvPr/>
        </p:nvSpPr>
        <p:spPr>
          <a:xfrm>
            <a:off x="731520" y="1698480"/>
            <a:ext cx="418320" cy="418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2" descr="preencoded.png"/>
          <p:cNvPicPr/>
          <p:nvPr/>
        </p:nvPicPr>
        <p:blipFill>
          <a:blip r:embed="rId3"/>
          <a:stretch/>
        </p:blipFill>
        <p:spPr>
          <a:xfrm>
            <a:off x="807120" y="177408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8"/>
          <p:cNvSpPr/>
          <p:nvPr/>
        </p:nvSpPr>
        <p:spPr>
          <a:xfrm>
            <a:off x="1325880" y="1417320"/>
            <a:ext cx="101476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columns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1325880" y="1755720"/>
            <a:ext cx="101476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df[, c("gene", "expr")]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1325880" y="2167200"/>
            <a:ext cx="1014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Add drop=FALSE to guarantee it stays a data.frame.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1"/>
          <p:cNvSpPr/>
          <p:nvPr/>
        </p:nvSpPr>
        <p:spPr>
          <a:xfrm>
            <a:off x="457200" y="2629080"/>
            <a:ext cx="11244960" cy="121860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731520" y="3029040"/>
            <a:ext cx="418320" cy="418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Image 3" descr="preencoded.png"/>
          <p:cNvPicPr/>
          <p:nvPr/>
        </p:nvPicPr>
        <p:blipFill>
          <a:blip r:embed="rId4"/>
          <a:stretch/>
        </p:blipFill>
        <p:spPr>
          <a:xfrm>
            <a:off x="807120" y="310464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13"/>
          <p:cNvSpPr/>
          <p:nvPr/>
        </p:nvSpPr>
        <p:spPr>
          <a:xfrm>
            <a:off x="1325880" y="2747880"/>
            <a:ext cx="101476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rows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1325880" y="3086280"/>
            <a:ext cx="101476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df[df$expr &gt; 6, 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1325880" y="3497760"/>
            <a:ext cx="1014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Mind the trailing comma — it means “all columns.”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457200" y="3959280"/>
            <a:ext cx="11244960" cy="121860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7"/>
          <p:cNvSpPr/>
          <p:nvPr/>
        </p:nvSpPr>
        <p:spPr>
          <a:xfrm>
            <a:off x="731520" y="4359240"/>
            <a:ext cx="418320" cy="418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4" descr="preencoded.png"/>
          <p:cNvPicPr/>
          <p:nvPr/>
        </p:nvPicPr>
        <p:blipFill>
          <a:blip r:embed="rId5"/>
          <a:stretch/>
        </p:blipFill>
        <p:spPr>
          <a:xfrm>
            <a:off x="807120" y="443520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18"/>
          <p:cNvSpPr/>
          <p:nvPr/>
        </p:nvSpPr>
        <p:spPr>
          <a:xfrm>
            <a:off x="1325880" y="4078080"/>
            <a:ext cx="101476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Add a row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9"/>
          <p:cNvSpPr/>
          <p:nvPr/>
        </p:nvSpPr>
        <p:spPr>
          <a:xfrm>
            <a:off x="1325880" y="4416480"/>
            <a:ext cx="101476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rbind(df, data.frame(sample="S4", gene="KRAS", expr=7.3))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0"/>
          <p:cNvSpPr/>
          <p:nvPr/>
        </p:nvSpPr>
        <p:spPr>
          <a:xfrm>
            <a:off x="1325880" y="4827960"/>
            <a:ext cx="1014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Column names and types must line up.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1"/>
          <p:cNvSpPr/>
          <p:nvPr/>
        </p:nvSpPr>
        <p:spPr>
          <a:xfrm>
            <a:off x="457200" y="5289840"/>
            <a:ext cx="11244960" cy="121860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2"/>
          <p:cNvSpPr/>
          <p:nvPr/>
        </p:nvSpPr>
        <p:spPr>
          <a:xfrm>
            <a:off x="731520" y="5689800"/>
            <a:ext cx="418320" cy="4183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5" descr="preencoded.png"/>
          <p:cNvPicPr/>
          <p:nvPr/>
        </p:nvPicPr>
        <p:blipFill>
          <a:blip r:embed="rId6"/>
          <a:stretch/>
        </p:blipFill>
        <p:spPr>
          <a:xfrm>
            <a:off x="807120" y="5765400"/>
            <a:ext cx="267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23"/>
          <p:cNvSpPr/>
          <p:nvPr/>
        </p:nvSpPr>
        <p:spPr>
          <a:xfrm>
            <a:off x="1325880" y="5408640"/>
            <a:ext cx="101476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Update a value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4"/>
          <p:cNvSpPr/>
          <p:nvPr/>
        </p:nvSpPr>
        <p:spPr>
          <a:xfrm>
            <a:off x="1325880" y="5747040"/>
            <a:ext cx="101476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df$expr[df$sample == "S2"] &lt;- 9.0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5"/>
          <p:cNvSpPr/>
          <p:nvPr/>
        </p:nvSpPr>
        <p:spPr>
          <a:xfrm>
            <a:off x="1325880" y="6158520"/>
            <a:ext cx="1014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Edits the data frame in place.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6"/>
          <p:cNvSpPr/>
          <p:nvPr/>
        </p:nvSpPr>
        <p:spPr>
          <a:xfrm>
            <a:off x="10881360" y="6537960"/>
            <a:ext cx="820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6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2702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2026-06-19T18:59:37Z</dcterms:created>
  <dc:creator>Steven Rozen</dc:creator>
  <dc:description/>
  <dc:language>en-US</dc:language>
  <cp:lastModifiedBy/>
  <dcterms:modified xsi:type="dcterms:W3CDTF">2026-06-25T07:55:15Z</dcterms:modified>
  <cp:revision>20</cp:revision>
  <dc:subject>PptxGenJS Presentation</dc:subject>
  <dc:title>R vs Python Data Types — for beginners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